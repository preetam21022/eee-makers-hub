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17.jpg" ContentType="image/unknown"/>
  <Override PartName="/ppt/media/image18.jpg" ContentType="image/unknown"/>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media/image19.jpg" ContentType="image/unknown"/>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86" r:id="rId6"/>
    <p:sldId id="260" r:id="rId7"/>
    <p:sldId id="261" r:id="rId8"/>
    <p:sldId id="262" r:id="rId9"/>
    <p:sldId id="263" r:id="rId10"/>
    <p:sldId id="264" r:id="rId11"/>
    <p:sldId id="265" r:id="rId12"/>
    <p:sldId id="266" r:id="rId13"/>
    <p:sldId id="267" r:id="rId14"/>
    <p:sldId id="268" r:id="rId15"/>
    <p:sldId id="269" r:id="rId16"/>
    <p:sldId id="287" r:id="rId17"/>
    <p:sldId id="288" r:id="rId18"/>
    <p:sldId id="271" r:id="rId19"/>
    <p:sldId id="272" r:id="rId20"/>
    <p:sldId id="273" r:id="rId21"/>
    <p:sldId id="274" r:id="rId22"/>
    <p:sldId id="275" r:id="rId23"/>
    <p:sldId id="276" r:id="rId24"/>
    <p:sldId id="277" r:id="rId25"/>
    <p:sldId id="289" r:id="rId26"/>
    <p:sldId id="284" r:id="rId27"/>
    <p:sldId id="285" r:id="rId28"/>
  </p:sldIdLst>
  <p:sldSz cx="9144000" cy="5143500" type="screen16x9"/>
  <p:notesSz cx="6629400" cy="8839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4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image" Target="../media/image5.jpg"/><Relationship Id="rId5" Type="http://schemas.openxmlformats.org/officeDocument/2006/relationships/image" Target="../media/image9.jpeg"/><Relationship Id="rId4" Type="http://schemas.openxmlformats.org/officeDocument/2006/relationships/image" Target="../media/image8.jpg"/></Relationships>
</file>

<file path=ppt/diagrams/_rels/data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g"/><Relationship Id="rId1" Type="http://schemas.openxmlformats.org/officeDocument/2006/relationships/image" Target="../media/image10.jpg"/><Relationship Id="rId5" Type="http://schemas.openxmlformats.org/officeDocument/2006/relationships/image" Target="../media/image14.jpeg"/><Relationship Id="rId4" Type="http://schemas.openxmlformats.org/officeDocument/2006/relationships/image" Target="../media/image13.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image" Target="../media/image5.jpg"/><Relationship Id="rId5" Type="http://schemas.openxmlformats.org/officeDocument/2006/relationships/image" Target="../media/image9.jpeg"/><Relationship Id="rId4" Type="http://schemas.openxmlformats.org/officeDocument/2006/relationships/image" Target="../media/image8.jpg"/></Relationships>
</file>

<file path=ppt/diagrams/_rels/drawing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g"/><Relationship Id="rId1" Type="http://schemas.openxmlformats.org/officeDocument/2006/relationships/image" Target="../media/image10.jpg"/><Relationship Id="rId5" Type="http://schemas.openxmlformats.org/officeDocument/2006/relationships/image" Target="../media/image14.jpeg"/><Relationship Id="rId4" Type="http://schemas.openxmlformats.org/officeDocument/2006/relationships/image" Target="../media/image13.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D73D40-FC64-4C65-873E-83B1ECB85E5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29AABE4-93E9-406D-8C4B-A32752464D96}">
      <dgm:prSet/>
      <dgm:spPr/>
      <dgm:t>
        <a:bodyPr/>
        <a:lstStyle/>
        <a:p>
          <a:r>
            <a:rPr lang="en-US"/>
            <a:t>GPS Systems — Navigation devices with real-time positioning</a:t>
          </a:r>
        </a:p>
      </dgm:t>
    </dgm:pt>
    <dgm:pt modelId="{BD98A43C-E8FF-4CC0-B7D0-08B705258C22}" type="parTrans" cxnId="{CFDFE81E-26A8-4637-8BC2-51C0060E5157}">
      <dgm:prSet/>
      <dgm:spPr/>
      <dgm:t>
        <a:bodyPr/>
        <a:lstStyle/>
        <a:p>
          <a:endParaRPr lang="en-US"/>
        </a:p>
      </dgm:t>
    </dgm:pt>
    <dgm:pt modelId="{F196520D-5B87-4FDC-8F20-033F5E008D76}" type="sibTrans" cxnId="{CFDFE81E-26A8-4637-8BC2-51C0060E5157}">
      <dgm:prSet/>
      <dgm:spPr/>
      <dgm:t>
        <a:bodyPr/>
        <a:lstStyle/>
        <a:p>
          <a:endParaRPr lang="en-US"/>
        </a:p>
      </dgm:t>
    </dgm:pt>
    <dgm:pt modelId="{77CE4238-F374-44FD-95FF-EF228059D984}">
      <dgm:prSet/>
      <dgm:spPr/>
      <dgm:t>
        <a:bodyPr/>
        <a:lstStyle/>
        <a:p>
          <a:r>
            <a:rPr lang="en-US"/>
            <a:t>Medical Devices — Pacemakers, insulin pumps, diagnostic tools</a:t>
          </a:r>
        </a:p>
      </dgm:t>
    </dgm:pt>
    <dgm:pt modelId="{DAA2233A-C9BB-4B14-9401-B17987640536}" type="parTrans" cxnId="{BBDA9E90-5EAC-4E57-9AA6-6677AC16F474}">
      <dgm:prSet/>
      <dgm:spPr/>
      <dgm:t>
        <a:bodyPr/>
        <a:lstStyle/>
        <a:p>
          <a:endParaRPr lang="en-US"/>
        </a:p>
      </dgm:t>
    </dgm:pt>
    <dgm:pt modelId="{A98F71FD-7A9E-4D0A-9977-0477812178D2}" type="sibTrans" cxnId="{BBDA9E90-5EAC-4E57-9AA6-6677AC16F474}">
      <dgm:prSet/>
      <dgm:spPr/>
      <dgm:t>
        <a:bodyPr/>
        <a:lstStyle/>
        <a:p>
          <a:endParaRPr lang="en-US"/>
        </a:p>
      </dgm:t>
    </dgm:pt>
    <dgm:pt modelId="{A43FE1FD-465D-4C95-8068-6002842DC260}">
      <dgm:prSet/>
      <dgm:spPr/>
      <dgm:t>
        <a:bodyPr/>
        <a:lstStyle/>
        <a:p>
          <a:r>
            <a:rPr lang="en-US"/>
            <a:t>Automotive Systems — ABS, ECU, ADAS, infotainment</a:t>
          </a:r>
        </a:p>
      </dgm:t>
    </dgm:pt>
    <dgm:pt modelId="{4C8E025A-71E0-41D9-B791-194C1718EEBA}" type="parTrans" cxnId="{3F3789BD-497F-4F42-8131-42C690F74064}">
      <dgm:prSet/>
      <dgm:spPr/>
      <dgm:t>
        <a:bodyPr/>
        <a:lstStyle/>
        <a:p>
          <a:endParaRPr lang="en-US"/>
        </a:p>
      </dgm:t>
    </dgm:pt>
    <dgm:pt modelId="{18EFF844-2275-4043-BFD7-BB108BCE632A}" type="sibTrans" cxnId="{3F3789BD-497F-4F42-8131-42C690F74064}">
      <dgm:prSet/>
      <dgm:spPr/>
      <dgm:t>
        <a:bodyPr/>
        <a:lstStyle/>
        <a:p>
          <a:endParaRPr lang="en-US"/>
        </a:p>
      </dgm:t>
    </dgm:pt>
    <dgm:pt modelId="{2CC00AFE-3AC1-49A9-AFF9-A5DCAD0F93A9}">
      <dgm:prSet/>
      <dgm:spPr/>
      <dgm:t>
        <a:bodyPr/>
        <a:lstStyle/>
        <a:p>
          <a:r>
            <a:rPr lang="en-US"/>
            <a:t>Automated Fare Collection — Smart card ticketing systems</a:t>
          </a:r>
        </a:p>
      </dgm:t>
    </dgm:pt>
    <dgm:pt modelId="{57A525CB-2221-487E-BC8C-75C0F5711062}" type="parTrans" cxnId="{22C38BBF-A278-4CD4-BFAF-87B26E00EE92}">
      <dgm:prSet/>
      <dgm:spPr/>
      <dgm:t>
        <a:bodyPr/>
        <a:lstStyle/>
        <a:p>
          <a:endParaRPr lang="en-US"/>
        </a:p>
      </dgm:t>
    </dgm:pt>
    <dgm:pt modelId="{12F605DB-BEB9-4725-91C2-5AA1B0A7D964}" type="sibTrans" cxnId="{22C38BBF-A278-4CD4-BFAF-87B26E00EE92}">
      <dgm:prSet/>
      <dgm:spPr/>
      <dgm:t>
        <a:bodyPr/>
        <a:lstStyle/>
        <a:p>
          <a:endParaRPr lang="en-US"/>
        </a:p>
      </dgm:t>
    </dgm:pt>
    <dgm:pt modelId="{8EB068BC-D879-4187-BBE7-3EC126F70F9E}">
      <dgm:prSet/>
      <dgm:spPr/>
      <dgm:t>
        <a:bodyPr/>
        <a:lstStyle/>
        <a:p>
          <a:r>
            <a:rPr lang="en-US"/>
            <a:t>Home Entertainment — Smart TVs, set-top boxes, gaming consoles</a:t>
          </a:r>
        </a:p>
      </dgm:t>
    </dgm:pt>
    <dgm:pt modelId="{7EC6A2C7-441A-4B65-A34C-8331B218D8A9}" type="parTrans" cxnId="{4FE29D20-715D-4287-A87B-9BBAE3640D45}">
      <dgm:prSet/>
      <dgm:spPr/>
      <dgm:t>
        <a:bodyPr/>
        <a:lstStyle/>
        <a:p>
          <a:endParaRPr lang="en-US"/>
        </a:p>
      </dgm:t>
    </dgm:pt>
    <dgm:pt modelId="{CC30012A-57A1-4F91-8446-6DB19190B36B}" type="sibTrans" cxnId="{4FE29D20-715D-4287-A87B-9BBAE3640D45}">
      <dgm:prSet/>
      <dgm:spPr/>
      <dgm:t>
        <a:bodyPr/>
        <a:lstStyle/>
        <a:p>
          <a:endParaRPr lang="en-US"/>
        </a:p>
      </dgm:t>
    </dgm:pt>
    <dgm:pt modelId="{D671F17E-97E3-4EB2-A895-B1B4990B9D27}">
      <dgm:prSet/>
      <dgm:spPr/>
      <dgm:t>
        <a:bodyPr/>
        <a:lstStyle/>
        <a:p>
          <a:r>
            <a:rPr lang="en-US"/>
            <a:t>ATM Machines — Cash dispensing and secure transactions</a:t>
          </a:r>
        </a:p>
      </dgm:t>
    </dgm:pt>
    <dgm:pt modelId="{7B0CDD9F-5D1F-4A3D-8FF1-4EBBDAE8A81A}" type="parTrans" cxnId="{BB1CDC67-406C-438D-9181-2ABBD1E32680}">
      <dgm:prSet/>
      <dgm:spPr/>
      <dgm:t>
        <a:bodyPr/>
        <a:lstStyle/>
        <a:p>
          <a:endParaRPr lang="en-US"/>
        </a:p>
      </dgm:t>
    </dgm:pt>
    <dgm:pt modelId="{86143AD2-BE68-4C83-9643-BC103FB3E900}" type="sibTrans" cxnId="{BB1CDC67-406C-438D-9181-2ABBD1E32680}">
      <dgm:prSet/>
      <dgm:spPr/>
      <dgm:t>
        <a:bodyPr/>
        <a:lstStyle/>
        <a:p>
          <a:endParaRPr lang="en-US"/>
        </a:p>
      </dgm:t>
    </dgm:pt>
    <dgm:pt modelId="{89943B14-31CE-41F8-A7F1-F7701E9A7E66}">
      <dgm:prSet/>
      <dgm:spPr/>
      <dgm:t>
        <a:bodyPr/>
        <a:lstStyle/>
        <a:p>
          <a:r>
            <a:rPr lang="en-US"/>
            <a:t>Manufacturing &amp; Robotics — Industrial automation and control</a:t>
          </a:r>
        </a:p>
      </dgm:t>
    </dgm:pt>
    <dgm:pt modelId="{67308A74-63A2-411B-8487-F317FC26E950}" type="parTrans" cxnId="{07B69AA9-4EB3-452E-BA54-4FAD436F82B5}">
      <dgm:prSet/>
      <dgm:spPr/>
      <dgm:t>
        <a:bodyPr/>
        <a:lstStyle/>
        <a:p>
          <a:endParaRPr lang="en-US"/>
        </a:p>
      </dgm:t>
    </dgm:pt>
    <dgm:pt modelId="{A027A2C9-7F25-4EBA-B88A-9EB4D44E73B1}" type="sibTrans" cxnId="{07B69AA9-4EB3-452E-BA54-4FAD436F82B5}">
      <dgm:prSet/>
      <dgm:spPr/>
      <dgm:t>
        <a:bodyPr/>
        <a:lstStyle/>
        <a:p>
          <a:endParaRPr lang="en-US"/>
        </a:p>
      </dgm:t>
    </dgm:pt>
    <dgm:pt modelId="{47475D8E-0F9F-4BA3-A957-D240647DE2D0}">
      <dgm:prSet/>
      <dgm:spPr/>
      <dgm:t>
        <a:bodyPr/>
        <a:lstStyle/>
        <a:p>
          <a:r>
            <a:rPr lang="en-US"/>
            <a:t>EV Charging Stations — Battery management and billing</a:t>
          </a:r>
        </a:p>
      </dgm:t>
    </dgm:pt>
    <dgm:pt modelId="{8E187F87-48CC-43CD-9A01-7F4A4060A701}" type="parTrans" cxnId="{E93048DA-CEB1-4F2D-A8C0-B55193E810DF}">
      <dgm:prSet/>
      <dgm:spPr/>
      <dgm:t>
        <a:bodyPr/>
        <a:lstStyle/>
        <a:p>
          <a:endParaRPr lang="en-US"/>
        </a:p>
      </dgm:t>
    </dgm:pt>
    <dgm:pt modelId="{B7A3C7D6-D9BC-48AA-A64E-A9FEAB170AD7}" type="sibTrans" cxnId="{E93048DA-CEB1-4F2D-A8C0-B55193E810DF}">
      <dgm:prSet/>
      <dgm:spPr/>
      <dgm:t>
        <a:bodyPr/>
        <a:lstStyle/>
        <a:p>
          <a:endParaRPr lang="en-US"/>
        </a:p>
      </dgm:t>
    </dgm:pt>
    <dgm:pt modelId="{D29F27D0-FDAF-4906-9E51-C342A1F8A5DC}">
      <dgm:prSet/>
      <dgm:spPr/>
      <dgm:t>
        <a:bodyPr/>
        <a:lstStyle/>
        <a:p>
          <a:r>
            <a:rPr lang="en-US"/>
            <a:t>Self-Service Kiosks — Check-in, ordering, and ticketing</a:t>
          </a:r>
        </a:p>
      </dgm:t>
    </dgm:pt>
    <dgm:pt modelId="{FF2F6E74-52ED-45C6-BB87-905CB0B053A6}" type="parTrans" cxnId="{58B00539-8CED-440B-9418-E488C450D6F8}">
      <dgm:prSet/>
      <dgm:spPr/>
      <dgm:t>
        <a:bodyPr/>
        <a:lstStyle/>
        <a:p>
          <a:endParaRPr lang="en-US"/>
        </a:p>
      </dgm:t>
    </dgm:pt>
    <dgm:pt modelId="{0E8EEAED-3F08-4F1D-B082-0D92A2CCB922}" type="sibTrans" cxnId="{58B00539-8CED-440B-9418-E488C450D6F8}">
      <dgm:prSet/>
      <dgm:spPr/>
      <dgm:t>
        <a:bodyPr/>
        <a:lstStyle/>
        <a:p>
          <a:endParaRPr lang="en-US"/>
        </a:p>
      </dgm:t>
    </dgm:pt>
    <dgm:pt modelId="{311A9B9A-1DE2-4C6A-B17A-D04534625FA4}" type="pres">
      <dgm:prSet presAssocID="{4DD73D40-FC64-4C65-873E-83B1ECB85E55}" presName="linear" presStyleCnt="0">
        <dgm:presLayoutVars>
          <dgm:animLvl val="lvl"/>
          <dgm:resizeHandles val="exact"/>
        </dgm:presLayoutVars>
      </dgm:prSet>
      <dgm:spPr/>
    </dgm:pt>
    <dgm:pt modelId="{D311113F-DA22-45BA-A7D7-286B59F51805}" type="pres">
      <dgm:prSet presAssocID="{A29AABE4-93E9-406D-8C4B-A32752464D96}" presName="parentText" presStyleLbl="node1" presStyleIdx="0" presStyleCnt="9">
        <dgm:presLayoutVars>
          <dgm:chMax val="0"/>
          <dgm:bulletEnabled val="1"/>
        </dgm:presLayoutVars>
      </dgm:prSet>
      <dgm:spPr/>
    </dgm:pt>
    <dgm:pt modelId="{B7C8CA12-8DEC-47F5-BB56-7E37A90AA816}" type="pres">
      <dgm:prSet presAssocID="{F196520D-5B87-4FDC-8F20-033F5E008D76}" presName="spacer" presStyleCnt="0"/>
      <dgm:spPr/>
    </dgm:pt>
    <dgm:pt modelId="{16FBAF62-DA74-47A1-901B-350B67CCEDB1}" type="pres">
      <dgm:prSet presAssocID="{77CE4238-F374-44FD-95FF-EF228059D984}" presName="parentText" presStyleLbl="node1" presStyleIdx="1" presStyleCnt="9">
        <dgm:presLayoutVars>
          <dgm:chMax val="0"/>
          <dgm:bulletEnabled val="1"/>
        </dgm:presLayoutVars>
      </dgm:prSet>
      <dgm:spPr/>
    </dgm:pt>
    <dgm:pt modelId="{3F7E5E87-A293-4E8B-929A-F9D06BCA1929}" type="pres">
      <dgm:prSet presAssocID="{A98F71FD-7A9E-4D0A-9977-0477812178D2}" presName="spacer" presStyleCnt="0"/>
      <dgm:spPr/>
    </dgm:pt>
    <dgm:pt modelId="{9DADE731-05F6-4ABA-90D1-C6613D9C49D2}" type="pres">
      <dgm:prSet presAssocID="{A43FE1FD-465D-4C95-8068-6002842DC260}" presName="parentText" presStyleLbl="node1" presStyleIdx="2" presStyleCnt="9">
        <dgm:presLayoutVars>
          <dgm:chMax val="0"/>
          <dgm:bulletEnabled val="1"/>
        </dgm:presLayoutVars>
      </dgm:prSet>
      <dgm:spPr/>
    </dgm:pt>
    <dgm:pt modelId="{BE95D9F1-6B41-4667-9FD9-315D26F0A2CD}" type="pres">
      <dgm:prSet presAssocID="{18EFF844-2275-4043-BFD7-BB108BCE632A}" presName="spacer" presStyleCnt="0"/>
      <dgm:spPr/>
    </dgm:pt>
    <dgm:pt modelId="{8CA5715F-F007-45F5-8E34-47B5D992D026}" type="pres">
      <dgm:prSet presAssocID="{2CC00AFE-3AC1-49A9-AFF9-A5DCAD0F93A9}" presName="parentText" presStyleLbl="node1" presStyleIdx="3" presStyleCnt="9">
        <dgm:presLayoutVars>
          <dgm:chMax val="0"/>
          <dgm:bulletEnabled val="1"/>
        </dgm:presLayoutVars>
      </dgm:prSet>
      <dgm:spPr/>
    </dgm:pt>
    <dgm:pt modelId="{1C2306D3-8D60-44AF-AE57-C42DA1459C36}" type="pres">
      <dgm:prSet presAssocID="{12F605DB-BEB9-4725-91C2-5AA1B0A7D964}" presName="spacer" presStyleCnt="0"/>
      <dgm:spPr/>
    </dgm:pt>
    <dgm:pt modelId="{9F0103CB-CDD6-41D5-B6CF-35C3CD2AADDB}" type="pres">
      <dgm:prSet presAssocID="{8EB068BC-D879-4187-BBE7-3EC126F70F9E}" presName="parentText" presStyleLbl="node1" presStyleIdx="4" presStyleCnt="9">
        <dgm:presLayoutVars>
          <dgm:chMax val="0"/>
          <dgm:bulletEnabled val="1"/>
        </dgm:presLayoutVars>
      </dgm:prSet>
      <dgm:spPr/>
    </dgm:pt>
    <dgm:pt modelId="{B4491917-2BF6-489A-9586-DF588AA35AF5}" type="pres">
      <dgm:prSet presAssocID="{CC30012A-57A1-4F91-8446-6DB19190B36B}" presName="spacer" presStyleCnt="0"/>
      <dgm:spPr/>
    </dgm:pt>
    <dgm:pt modelId="{34402AD5-C9AF-4F06-9892-E961C0CB2CC3}" type="pres">
      <dgm:prSet presAssocID="{D671F17E-97E3-4EB2-A895-B1B4990B9D27}" presName="parentText" presStyleLbl="node1" presStyleIdx="5" presStyleCnt="9">
        <dgm:presLayoutVars>
          <dgm:chMax val="0"/>
          <dgm:bulletEnabled val="1"/>
        </dgm:presLayoutVars>
      </dgm:prSet>
      <dgm:spPr/>
    </dgm:pt>
    <dgm:pt modelId="{B4E36F36-D85A-41A3-8B86-BB7DCD494859}" type="pres">
      <dgm:prSet presAssocID="{86143AD2-BE68-4C83-9643-BC103FB3E900}" presName="spacer" presStyleCnt="0"/>
      <dgm:spPr/>
    </dgm:pt>
    <dgm:pt modelId="{03255109-9709-4845-9690-9AA30A8A4505}" type="pres">
      <dgm:prSet presAssocID="{89943B14-31CE-41F8-A7F1-F7701E9A7E66}" presName="parentText" presStyleLbl="node1" presStyleIdx="6" presStyleCnt="9">
        <dgm:presLayoutVars>
          <dgm:chMax val="0"/>
          <dgm:bulletEnabled val="1"/>
        </dgm:presLayoutVars>
      </dgm:prSet>
      <dgm:spPr/>
    </dgm:pt>
    <dgm:pt modelId="{A4991A0E-8C8D-4A80-A451-728C19BB8D32}" type="pres">
      <dgm:prSet presAssocID="{A027A2C9-7F25-4EBA-B88A-9EB4D44E73B1}" presName="spacer" presStyleCnt="0"/>
      <dgm:spPr/>
    </dgm:pt>
    <dgm:pt modelId="{47A011B2-4F46-43F0-A2A9-3D1F8F4CAB7A}" type="pres">
      <dgm:prSet presAssocID="{47475D8E-0F9F-4BA3-A957-D240647DE2D0}" presName="parentText" presStyleLbl="node1" presStyleIdx="7" presStyleCnt="9">
        <dgm:presLayoutVars>
          <dgm:chMax val="0"/>
          <dgm:bulletEnabled val="1"/>
        </dgm:presLayoutVars>
      </dgm:prSet>
      <dgm:spPr/>
    </dgm:pt>
    <dgm:pt modelId="{4D05CE8F-6239-41AF-93EC-4322DFE440F7}" type="pres">
      <dgm:prSet presAssocID="{B7A3C7D6-D9BC-48AA-A64E-A9FEAB170AD7}" presName="spacer" presStyleCnt="0"/>
      <dgm:spPr/>
    </dgm:pt>
    <dgm:pt modelId="{0F5DB977-6B32-42C8-9CD8-459A6795A0FA}" type="pres">
      <dgm:prSet presAssocID="{D29F27D0-FDAF-4906-9E51-C342A1F8A5DC}" presName="parentText" presStyleLbl="node1" presStyleIdx="8" presStyleCnt="9">
        <dgm:presLayoutVars>
          <dgm:chMax val="0"/>
          <dgm:bulletEnabled val="1"/>
        </dgm:presLayoutVars>
      </dgm:prSet>
      <dgm:spPr/>
    </dgm:pt>
  </dgm:ptLst>
  <dgm:cxnLst>
    <dgm:cxn modelId="{CFDFE81E-26A8-4637-8BC2-51C0060E5157}" srcId="{4DD73D40-FC64-4C65-873E-83B1ECB85E55}" destId="{A29AABE4-93E9-406D-8C4B-A32752464D96}" srcOrd="0" destOrd="0" parTransId="{BD98A43C-E8FF-4CC0-B7D0-08B705258C22}" sibTransId="{F196520D-5B87-4FDC-8F20-033F5E008D76}"/>
    <dgm:cxn modelId="{4FE29D20-715D-4287-A87B-9BBAE3640D45}" srcId="{4DD73D40-FC64-4C65-873E-83B1ECB85E55}" destId="{8EB068BC-D879-4187-BBE7-3EC126F70F9E}" srcOrd="4" destOrd="0" parTransId="{7EC6A2C7-441A-4B65-A34C-8331B218D8A9}" sibTransId="{CC30012A-57A1-4F91-8446-6DB19190B36B}"/>
    <dgm:cxn modelId="{CF9B0728-2CEE-49E3-8467-DA6AB4878FA1}" type="presOf" srcId="{4DD73D40-FC64-4C65-873E-83B1ECB85E55}" destId="{311A9B9A-1DE2-4C6A-B17A-D04534625FA4}" srcOrd="0" destOrd="0" presId="urn:microsoft.com/office/officeart/2005/8/layout/vList2"/>
    <dgm:cxn modelId="{51BD4329-2288-4F9B-A6CE-8781CB554357}" type="presOf" srcId="{D29F27D0-FDAF-4906-9E51-C342A1F8A5DC}" destId="{0F5DB977-6B32-42C8-9CD8-459A6795A0FA}" srcOrd="0" destOrd="0" presId="urn:microsoft.com/office/officeart/2005/8/layout/vList2"/>
    <dgm:cxn modelId="{CA6D2D34-8ACA-4EBE-911B-C93F68EAE083}" type="presOf" srcId="{89943B14-31CE-41F8-A7F1-F7701E9A7E66}" destId="{03255109-9709-4845-9690-9AA30A8A4505}" srcOrd="0" destOrd="0" presId="urn:microsoft.com/office/officeart/2005/8/layout/vList2"/>
    <dgm:cxn modelId="{58B00539-8CED-440B-9418-E488C450D6F8}" srcId="{4DD73D40-FC64-4C65-873E-83B1ECB85E55}" destId="{D29F27D0-FDAF-4906-9E51-C342A1F8A5DC}" srcOrd="8" destOrd="0" parTransId="{FF2F6E74-52ED-45C6-BB87-905CB0B053A6}" sibTransId="{0E8EEAED-3F08-4F1D-B082-0D92A2CCB922}"/>
    <dgm:cxn modelId="{E494E13C-E62E-4BEB-93D7-5A1C2637B772}" type="presOf" srcId="{D671F17E-97E3-4EB2-A895-B1B4990B9D27}" destId="{34402AD5-C9AF-4F06-9892-E961C0CB2CC3}" srcOrd="0" destOrd="0" presId="urn:microsoft.com/office/officeart/2005/8/layout/vList2"/>
    <dgm:cxn modelId="{BB1CDC67-406C-438D-9181-2ABBD1E32680}" srcId="{4DD73D40-FC64-4C65-873E-83B1ECB85E55}" destId="{D671F17E-97E3-4EB2-A895-B1B4990B9D27}" srcOrd="5" destOrd="0" parTransId="{7B0CDD9F-5D1F-4A3D-8FF1-4EBBDAE8A81A}" sibTransId="{86143AD2-BE68-4C83-9643-BC103FB3E900}"/>
    <dgm:cxn modelId="{D28B7D4D-F1D9-4C0D-862E-B8019B9925B5}" type="presOf" srcId="{8EB068BC-D879-4187-BBE7-3EC126F70F9E}" destId="{9F0103CB-CDD6-41D5-B6CF-35C3CD2AADDB}" srcOrd="0" destOrd="0" presId="urn:microsoft.com/office/officeart/2005/8/layout/vList2"/>
    <dgm:cxn modelId="{ABB8ED75-9E52-4F82-B425-845A8A78B6FF}" type="presOf" srcId="{A29AABE4-93E9-406D-8C4B-A32752464D96}" destId="{D311113F-DA22-45BA-A7D7-286B59F51805}" srcOrd="0" destOrd="0" presId="urn:microsoft.com/office/officeart/2005/8/layout/vList2"/>
    <dgm:cxn modelId="{BBDA9E90-5EAC-4E57-9AA6-6677AC16F474}" srcId="{4DD73D40-FC64-4C65-873E-83B1ECB85E55}" destId="{77CE4238-F374-44FD-95FF-EF228059D984}" srcOrd="1" destOrd="0" parTransId="{DAA2233A-C9BB-4B14-9401-B17987640536}" sibTransId="{A98F71FD-7A9E-4D0A-9977-0477812178D2}"/>
    <dgm:cxn modelId="{07B69AA9-4EB3-452E-BA54-4FAD436F82B5}" srcId="{4DD73D40-FC64-4C65-873E-83B1ECB85E55}" destId="{89943B14-31CE-41F8-A7F1-F7701E9A7E66}" srcOrd="6" destOrd="0" parTransId="{67308A74-63A2-411B-8487-F317FC26E950}" sibTransId="{A027A2C9-7F25-4EBA-B88A-9EB4D44E73B1}"/>
    <dgm:cxn modelId="{3F3789BD-497F-4F42-8131-42C690F74064}" srcId="{4DD73D40-FC64-4C65-873E-83B1ECB85E55}" destId="{A43FE1FD-465D-4C95-8068-6002842DC260}" srcOrd="2" destOrd="0" parTransId="{4C8E025A-71E0-41D9-B791-194C1718EEBA}" sibTransId="{18EFF844-2275-4043-BFD7-BB108BCE632A}"/>
    <dgm:cxn modelId="{22C38BBF-A278-4CD4-BFAF-87B26E00EE92}" srcId="{4DD73D40-FC64-4C65-873E-83B1ECB85E55}" destId="{2CC00AFE-3AC1-49A9-AFF9-A5DCAD0F93A9}" srcOrd="3" destOrd="0" parTransId="{57A525CB-2221-487E-BC8C-75C0F5711062}" sibTransId="{12F605DB-BEB9-4725-91C2-5AA1B0A7D964}"/>
    <dgm:cxn modelId="{0619DFD4-8261-4956-B68F-80FD1F902A48}" type="presOf" srcId="{47475D8E-0F9F-4BA3-A957-D240647DE2D0}" destId="{47A011B2-4F46-43F0-A2A9-3D1F8F4CAB7A}" srcOrd="0" destOrd="0" presId="urn:microsoft.com/office/officeart/2005/8/layout/vList2"/>
    <dgm:cxn modelId="{E93048DA-CEB1-4F2D-A8C0-B55193E810DF}" srcId="{4DD73D40-FC64-4C65-873E-83B1ECB85E55}" destId="{47475D8E-0F9F-4BA3-A957-D240647DE2D0}" srcOrd="7" destOrd="0" parTransId="{8E187F87-48CC-43CD-9A01-7F4A4060A701}" sibTransId="{B7A3C7D6-D9BC-48AA-A64E-A9FEAB170AD7}"/>
    <dgm:cxn modelId="{3CEEB4EA-3277-49CD-87DE-62B3ED00825B}" type="presOf" srcId="{A43FE1FD-465D-4C95-8068-6002842DC260}" destId="{9DADE731-05F6-4ABA-90D1-C6613D9C49D2}" srcOrd="0" destOrd="0" presId="urn:microsoft.com/office/officeart/2005/8/layout/vList2"/>
    <dgm:cxn modelId="{ADD8E4EB-EB00-4C2E-A0F8-67E42ADF346E}" type="presOf" srcId="{2CC00AFE-3AC1-49A9-AFF9-A5DCAD0F93A9}" destId="{8CA5715F-F007-45F5-8E34-47B5D992D026}" srcOrd="0" destOrd="0" presId="urn:microsoft.com/office/officeart/2005/8/layout/vList2"/>
    <dgm:cxn modelId="{590855F0-A5C0-4B43-8CFE-48617E8DD5B0}" type="presOf" srcId="{77CE4238-F374-44FD-95FF-EF228059D984}" destId="{16FBAF62-DA74-47A1-901B-350B67CCEDB1}" srcOrd="0" destOrd="0" presId="urn:microsoft.com/office/officeart/2005/8/layout/vList2"/>
    <dgm:cxn modelId="{18CA90DF-BA97-4193-ACF6-BB37A718A0E6}" type="presParOf" srcId="{311A9B9A-1DE2-4C6A-B17A-D04534625FA4}" destId="{D311113F-DA22-45BA-A7D7-286B59F51805}" srcOrd="0" destOrd="0" presId="urn:microsoft.com/office/officeart/2005/8/layout/vList2"/>
    <dgm:cxn modelId="{19EFB4EF-C822-475B-8AD3-4700F2E04AE7}" type="presParOf" srcId="{311A9B9A-1DE2-4C6A-B17A-D04534625FA4}" destId="{B7C8CA12-8DEC-47F5-BB56-7E37A90AA816}" srcOrd="1" destOrd="0" presId="urn:microsoft.com/office/officeart/2005/8/layout/vList2"/>
    <dgm:cxn modelId="{D80304D1-8712-44BC-9FC5-E3EC883B6008}" type="presParOf" srcId="{311A9B9A-1DE2-4C6A-B17A-D04534625FA4}" destId="{16FBAF62-DA74-47A1-901B-350B67CCEDB1}" srcOrd="2" destOrd="0" presId="urn:microsoft.com/office/officeart/2005/8/layout/vList2"/>
    <dgm:cxn modelId="{E895BA51-B9E4-42C8-B84D-43A871384CA0}" type="presParOf" srcId="{311A9B9A-1DE2-4C6A-B17A-D04534625FA4}" destId="{3F7E5E87-A293-4E8B-929A-F9D06BCA1929}" srcOrd="3" destOrd="0" presId="urn:microsoft.com/office/officeart/2005/8/layout/vList2"/>
    <dgm:cxn modelId="{654A4B88-0CEE-49FA-9F42-1489EB20396E}" type="presParOf" srcId="{311A9B9A-1DE2-4C6A-B17A-D04534625FA4}" destId="{9DADE731-05F6-4ABA-90D1-C6613D9C49D2}" srcOrd="4" destOrd="0" presId="urn:microsoft.com/office/officeart/2005/8/layout/vList2"/>
    <dgm:cxn modelId="{110276E1-DA68-4304-96C5-048441F1A93A}" type="presParOf" srcId="{311A9B9A-1DE2-4C6A-B17A-D04534625FA4}" destId="{BE95D9F1-6B41-4667-9FD9-315D26F0A2CD}" srcOrd="5" destOrd="0" presId="urn:microsoft.com/office/officeart/2005/8/layout/vList2"/>
    <dgm:cxn modelId="{2328569F-65D2-4688-8BC7-C7B17C82AD5D}" type="presParOf" srcId="{311A9B9A-1DE2-4C6A-B17A-D04534625FA4}" destId="{8CA5715F-F007-45F5-8E34-47B5D992D026}" srcOrd="6" destOrd="0" presId="urn:microsoft.com/office/officeart/2005/8/layout/vList2"/>
    <dgm:cxn modelId="{A357CEA6-1D08-47C8-A2AD-5B5064EFD166}" type="presParOf" srcId="{311A9B9A-1DE2-4C6A-B17A-D04534625FA4}" destId="{1C2306D3-8D60-44AF-AE57-C42DA1459C36}" srcOrd="7" destOrd="0" presId="urn:microsoft.com/office/officeart/2005/8/layout/vList2"/>
    <dgm:cxn modelId="{0D91678F-8278-4156-AC33-2F9653368C21}" type="presParOf" srcId="{311A9B9A-1DE2-4C6A-B17A-D04534625FA4}" destId="{9F0103CB-CDD6-41D5-B6CF-35C3CD2AADDB}" srcOrd="8" destOrd="0" presId="urn:microsoft.com/office/officeart/2005/8/layout/vList2"/>
    <dgm:cxn modelId="{1383861F-3FD7-483D-9CFF-79FC99B461A9}" type="presParOf" srcId="{311A9B9A-1DE2-4C6A-B17A-D04534625FA4}" destId="{B4491917-2BF6-489A-9586-DF588AA35AF5}" srcOrd="9" destOrd="0" presId="urn:microsoft.com/office/officeart/2005/8/layout/vList2"/>
    <dgm:cxn modelId="{467D8230-5781-4F79-8A73-60DB4802E6D4}" type="presParOf" srcId="{311A9B9A-1DE2-4C6A-B17A-D04534625FA4}" destId="{34402AD5-C9AF-4F06-9892-E961C0CB2CC3}" srcOrd="10" destOrd="0" presId="urn:microsoft.com/office/officeart/2005/8/layout/vList2"/>
    <dgm:cxn modelId="{985FEEF7-76BE-4C73-8CEB-2A6B79D27B9E}" type="presParOf" srcId="{311A9B9A-1DE2-4C6A-B17A-D04534625FA4}" destId="{B4E36F36-D85A-41A3-8B86-BB7DCD494859}" srcOrd="11" destOrd="0" presId="urn:microsoft.com/office/officeart/2005/8/layout/vList2"/>
    <dgm:cxn modelId="{B6DF8E8A-C8EF-4DE4-803A-AFB26B26E3DE}" type="presParOf" srcId="{311A9B9A-1DE2-4C6A-B17A-D04534625FA4}" destId="{03255109-9709-4845-9690-9AA30A8A4505}" srcOrd="12" destOrd="0" presId="urn:microsoft.com/office/officeart/2005/8/layout/vList2"/>
    <dgm:cxn modelId="{B03C7F8D-28BC-41D3-93C6-EA816C575FAF}" type="presParOf" srcId="{311A9B9A-1DE2-4C6A-B17A-D04534625FA4}" destId="{A4991A0E-8C8D-4A80-A451-728C19BB8D32}" srcOrd="13" destOrd="0" presId="urn:microsoft.com/office/officeart/2005/8/layout/vList2"/>
    <dgm:cxn modelId="{FDA9348B-3CB6-41E6-ABD7-205381C9278D}" type="presParOf" srcId="{311A9B9A-1DE2-4C6A-B17A-D04534625FA4}" destId="{47A011B2-4F46-43F0-A2A9-3D1F8F4CAB7A}" srcOrd="14" destOrd="0" presId="urn:microsoft.com/office/officeart/2005/8/layout/vList2"/>
    <dgm:cxn modelId="{5C2D5F56-EC2C-4178-8ED5-C40E0CF5E7DA}" type="presParOf" srcId="{311A9B9A-1DE2-4C6A-B17A-D04534625FA4}" destId="{4D05CE8F-6239-41AF-93EC-4322DFE440F7}" srcOrd="15" destOrd="0" presId="urn:microsoft.com/office/officeart/2005/8/layout/vList2"/>
    <dgm:cxn modelId="{F842306E-D618-4554-9BE4-13BB6C641DF1}" type="presParOf" srcId="{311A9B9A-1DE2-4C6A-B17A-D04534625FA4}" destId="{0F5DB977-6B32-42C8-9CD8-459A6795A0FA}" srcOrd="1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960847-658A-47D3-AE0F-47C6BFFF9D16}"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889678E6-9D30-4604-83B8-90F3D657CB6F}">
      <dgm:prSet/>
      <dgm:spPr/>
      <dgm:t>
        <a:bodyPr/>
        <a:lstStyle/>
        <a:p>
          <a:r>
            <a:rPr lang="en-US" b="1" i="0" baseline="0"/>
            <a:t>Assembly Robots</a:t>
          </a:r>
          <a:br>
            <a:rPr lang="en-US" b="0" i="0" baseline="0"/>
          </a:br>
          <a:r>
            <a:rPr lang="en-US" b="0" i="0" baseline="0"/>
            <a:t>Used in industries for assembling products automatically. </a:t>
          </a:r>
          <a:endParaRPr lang="en-US"/>
        </a:p>
      </dgm:t>
    </dgm:pt>
    <dgm:pt modelId="{2708E986-1375-4DB5-8C66-B62DF111840D}" type="parTrans" cxnId="{E79874DF-3504-4538-BE67-4C358F446A69}">
      <dgm:prSet/>
      <dgm:spPr/>
      <dgm:t>
        <a:bodyPr/>
        <a:lstStyle/>
        <a:p>
          <a:endParaRPr lang="en-US"/>
        </a:p>
      </dgm:t>
    </dgm:pt>
    <dgm:pt modelId="{A394EB61-C20F-45B4-BD55-0C1F4DFD19CD}" type="sibTrans" cxnId="{E79874DF-3504-4538-BE67-4C358F446A69}">
      <dgm:prSet/>
      <dgm:spPr/>
      <dgm:t>
        <a:bodyPr/>
        <a:lstStyle/>
        <a:p>
          <a:endParaRPr lang="en-US"/>
        </a:p>
      </dgm:t>
    </dgm:pt>
    <dgm:pt modelId="{E7482F6C-AA12-4CFD-A65C-A6F845BA8C88}">
      <dgm:prSet/>
      <dgm:spPr/>
      <dgm:t>
        <a:bodyPr/>
        <a:lstStyle/>
        <a:p>
          <a:r>
            <a:rPr lang="en-US" b="1" i="0" baseline="0"/>
            <a:t>Welding Robots</a:t>
          </a:r>
          <a:br>
            <a:rPr lang="en-US" b="0" i="0" baseline="0"/>
          </a:br>
          <a:r>
            <a:rPr lang="en-US" b="0" i="0" baseline="0"/>
            <a:t>Used for seam welding and other industrial welding tasks. </a:t>
          </a:r>
          <a:endParaRPr lang="en-US"/>
        </a:p>
      </dgm:t>
    </dgm:pt>
    <dgm:pt modelId="{B804B9B4-581C-4CCC-AD42-2D368E32AE34}" type="parTrans" cxnId="{50691099-5265-41E1-855C-D828109FBD99}">
      <dgm:prSet/>
      <dgm:spPr/>
      <dgm:t>
        <a:bodyPr/>
        <a:lstStyle/>
        <a:p>
          <a:endParaRPr lang="en-US"/>
        </a:p>
      </dgm:t>
    </dgm:pt>
    <dgm:pt modelId="{AA892B1F-E309-4D94-A708-30632AAE82DD}" type="sibTrans" cxnId="{50691099-5265-41E1-855C-D828109FBD99}">
      <dgm:prSet/>
      <dgm:spPr/>
      <dgm:t>
        <a:bodyPr/>
        <a:lstStyle/>
        <a:p>
          <a:endParaRPr lang="en-US"/>
        </a:p>
      </dgm:t>
    </dgm:pt>
    <dgm:pt modelId="{9DD0B045-0D5E-44EC-BF42-A617413B9460}">
      <dgm:prSet/>
      <dgm:spPr/>
      <dgm:t>
        <a:bodyPr/>
        <a:lstStyle/>
        <a:p>
          <a:r>
            <a:rPr lang="en-US" b="1"/>
            <a:t>Heavy-Duty Robots</a:t>
          </a:r>
          <a:br>
            <a:rPr lang="en-US"/>
          </a:br>
          <a:r>
            <a:rPr lang="en-US"/>
            <a:t>Used for lifting heavy materials and industrial operations. </a:t>
          </a:r>
        </a:p>
      </dgm:t>
    </dgm:pt>
    <dgm:pt modelId="{7F011EB2-CB7D-4143-B2B4-55162EB120C7}" type="parTrans" cxnId="{7207DBF8-95D9-4C04-AA56-AFF8F1B2657F}">
      <dgm:prSet/>
      <dgm:spPr/>
      <dgm:t>
        <a:bodyPr/>
        <a:lstStyle/>
        <a:p>
          <a:endParaRPr lang="en-US"/>
        </a:p>
      </dgm:t>
    </dgm:pt>
    <dgm:pt modelId="{8E2B6FE3-FC7E-4A69-84CD-585918F842E7}" type="sibTrans" cxnId="{7207DBF8-95D9-4C04-AA56-AFF8F1B2657F}">
      <dgm:prSet/>
      <dgm:spPr/>
      <dgm:t>
        <a:bodyPr/>
        <a:lstStyle/>
        <a:p>
          <a:endParaRPr lang="en-US"/>
        </a:p>
      </dgm:t>
    </dgm:pt>
    <dgm:pt modelId="{EB1182A6-4932-430E-8E6F-A497CF37FB3B}">
      <dgm:prSet/>
      <dgm:spPr/>
      <dgm:t>
        <a:bodyPr/>
        <a:lstStyle/>
        <a:p>
          <a:r>
            <a:rPr lang="en-US" b="1"/>
            <a:t>Manufacturing Robots</a:t>
          </a:r>
          <a:br>
            <a:rPr lang="en-US"/>
          </a:br>
          <a:r>
            <a:rPr lang="en-US"/>
            <a:t>Used in factories and automobile industries for fast and accurate production. </a:t>
          </a:r>
        </a:p>
      </dgm:t>
    </dgm:pt>
    <dgm:pt modelId="{EDD5060A-67D5-4BE6-96F5-D5524990CD34}" type="parTrans" cxnId="{781DC8A6-7753-4949-81AA-4AB568799C0E}">
      <dgm:prSet/>
      <dgm:spPr/>
      <dgm:t>
        <a:bodyPr/>
        <a:lstStyle/>
        <a:p>
          <a:endParaRPr lang="en-US"/>
        </a:p>
      </dgm:t>
    </dgm:pt>
    <dgm:pt modelId="{C03552AD-3585-4C85-B46A-AE54CBCF464C}" type="sibTrans" cxnId="{781DC8A6-7753-4949-81AA-4AB568799C0E}">
      <dgm:prSet/>
      <dgm:spPr/>
      <dgm:t>
        <a:bodyPr/>
        <a:lstStyle/>
        <a:p>
          <a:endParaRPr lang="en-US"/>
        </a:p>
      </dgm:t>
    </dgm:pt>
    <dgm:pt modelId="{401E7A9C-300B-429E-903C-A318C3965E35}">
      <dgm:prSet/>
      <dgm:spPr/>
      <dgm:t>
        <a:bodyPr/>
        <a:lstStyle/>
        <a:p>
          <a:r>
            <a:rPr lang="en-US" b="1"/>
            <a:t>Military Robots</a:t>
          </a:r>
          <a:br>
            <a:rPr lang="en-US"/>
          </a:br>
          <a:r>
            <a:rPr lang="en-US"/>
            <a:t>Used for bomb detection, surveillance, and dangerous military operations. </a:t>
          </a:r>
        </a:p>
      </dgm:t>
    </dgm:pt>
    <dgm:pt modelId="{649E4504-B341-4F6A-B658-5F22C9FA737F}" type="parTrans" cxnId="{69C9920C-4078-4B21-A5C7-F349EA10F5E8}">
      <dgm:prSet/>
      <dgm:spPr/>
      <dgm:t>
        <a:bodyPr/>
        <a:lstStyle/>
        <a:p>
          <a:endParaRPr lang="en-US"/>
        </a:p>
      </dgm:t>
    </dgm:pt>
    <dgm:pt modelId="{4322664A-CB46-4858-80E6-ED1D2D7A1F0E}" type="sibTrans" cxnId="{69C9920C-4078-4B21-A5C7-F349EA10F5E8}">
      <dgm:prSet/>
      <dgm:spPr/>
      <dgm:t>
        <a:bodyPr/>
        <a:lstStyle/>
        <a:p>
          <a:endParaRPr lang="en-US"/>
        </a:p>
      </dgm:t>
    </dgm:pt>
    <dgm:pt modelId="{1259247D-190B-4417-920F-B1D52101F0D7}" type="pres">
      <dgm:prSet presAssocID="{10960847-658A-47D3-AE0F-47C6BFFF9D16}" presName="linearFlow" presStyleCnt="0">
        <dgm:presLayoutVars>
          <dgm:dir/>
          <dgm:resizeHandles val="exact"/>
        </dgm:presLayoutVars>
      </dgm:prSet>
      <dgm:spPr/>
    </dgm:pt>
    <dgm:pt modelId="{34959440-84CE-424F-BF71-E6041559D845}" type="pres">
      <dgm:prSet presAssocID="{889678E6-9D30-4604-83B8-90F3D657CB6F}" presName="composite" presStyleCnt="0"/>
      <dgm:spPr/>
    </dgm:pt>
    <dgm:pt modelId="{B5186540-E7AC-4B10-9950-8EF2D7DE01FA}" type="pres">
      <dgm:prSet presAssocID="{889678E6-9D30-4604-83B8-90F3D657CB6F}" presName="imgShp" presStyleLbl="fgImgPlace1" presStyleIdx="0" presStyleCnt="5"/>
      <dgm:spPr>
        <a:blipFill>
          <a:blip xmlns:r="http://schemas.openxmlformats.org/officeDocument/2006/relationships" r:embed="rId1"/>
          <a:srcRect/>
          <a:stretch>
            <a:fillRect t="-6000" b="-6000"/>
          </a:stretch>
        </a:blipFill>
      </dgm:spPr>
    </dgm:pt>
    <dgm:pt modelId="{79FD0309-EF7C-4D1A-9B72-8970D30749BD}" type="pres">
      <dgm:prSet presAssocID="{889678E6-9D30-4604-83B8-90F3D657CB6F}" presName="txShp" presStyleLbl="node1" presStyleIdx="0" presStyleCnt="5">
        <dgm:presLayoutVars>
          <dgm:bulletEnabled val="1"/>
        </dgm:presLayoutVars>
      </dgm:prSet>
      <dgm:spPr/>
    </dgm:pt>
    <dgm:pt modelId="{E1FB40DC-8994-48AF-A1E8-EC4B85D99B3F}" type="pres">
      <dgm:prSet presAssocID="{A394EB61-C20F-45B4-BD55-0C1F4DFD19CD}" presName="spacing" presStyleCnt="0"/>
      <dgm:spPr/>
    </dgm:pt>
    <dgm:pt modelId="{CC281A12-2BD9-4F5D-B135-CC0DB3A40A99}" type="pres">
      <dgm:prSet presAssocID="{E7482F6C-AA12-4CFD-A65C-A6F845BA8C88}" presName="composite" presStyleCnt="0"/>
      <dgm:spPr/>
    </dgm:pt>
    <dgm:pt modelId="{06635348-33D2-4706-9C95-2BEC45F8874A}" type="pres">
      <dgm:prSet presAssocID="{E7482F6C-AA12-4CFD-A65C-A6F845BA8C88}" presName="imgShp" presStyleLbl="fgImgPlace1" presStyleIdx="1" presStyleCnt="5"/>
      <dgm:spPr>
        <a:blipFill>
          <a:blip xmlns:r="http://schemas.openxmlformats.org/officeDocument/2006/relationships" r:embed="rId2"/>
          <a:srcRect/>
          <a:stretch>
            <a:fillRect/>
          </a:stretch>
        </a:blipFill>
      </dgm:spPr>
    </dgm:pt>
    <dgm:pt modelId="{ABFAD81E-9E68-4528-A57B-C529BC41B234}" type="pres">
      <dgm:prSet presAssocID="{E7482F6C-AA12-4CFD-A65C-A6F845BA8C88}" presName="txShp" presStyleLbl="node1" presStyleIdx="1" presStyleCnt="5">
        <dgm:presLayoutVars>
          <dgm:bulletEnabled val="1"/>
        </dgm:presLayoutVars>
      </dgm:prSet>
      <dgm:spPr/>
    </dgm:pt>
    <dgm:pt modelId="{A7D371A9-68CD-4338-8E59-49E524A11437}" type="pres">
      <dgm:prSet presAssocID="{AA892B1F-E309-4D94-A708-30632AAE82DD}" presName="spacing" presStyleCnt="0"/>
      <dgm:spPr/>
    </dgm:pt>
    <dgm:pt modelId="{E10EE319-4838-479A-BA51-2F23D38DDEE4}" type="pres">
      <dgm:prSet presAssocID="{9DD0B045-0D5E-44EC-BF42-A617413B9460}" presName="composite" presStyleCnt="0"/>
      <dgm:spPr/>
    </dgm:pt>
    <dgm:pt modelId="{4D19E717-38BF-4E98-9AF0-D348FB456CAA}" type="pres">
      <dgm:prSet presAssocID="{9DD0B045-0D5E-44EC-BF42-A617413B9460}" presName="imgShp" presStyleLbl="fgImgPlace1" presStyleIdx="2" presStyleCnt="5"/>
      <dgm:spPr>
        <a:blipFill>
          <a:blip xmlns:r="http://schemas.openxmlformats.org/officeDocument/2006/relationships" r:embed="rId3"/>
          <a:srcRect/>
          <a:stretch>
            <a:fillRect l="-1000" r="-1000"/>
          </a:stretch>
        </a:blipFill>
      </dgm:spPr>
    </dgm:pt>
    <dgm:pt modelId="{79D81BD7-DE06-4832-B71A-7201A8F3AD99}" type="pres">
      <dgm:prSet presAssocID="{9DD0B045-0D5E-44EC-BF42-A617413B9460}" presName="txShp" presStyleLbl="node1" presStyleIdx="2" presStyleCnt="5">
        <dgm:presLayoutVars>
          <dgm:bulletEnabled val="1"/>
        </dgm:presLayoutVars>
      </dgm:prSet>
      <dgm:spPr/>
    </dgm:pt>
    <dgm:pt modelId="{A153FFC1-9FB3-4177-A719-72ED15DFC390}" type="pres">
      <dgm:prSet presAssocID="{8E2B6FE3-FC7E-4A69-84CD-585918F842E7}" presName="spacing" presStyleCnt="0"/>
      <dgm:spPr/>
    </dgm:pt>
    <dgm:pt modelId="{550B2407-9CA8-4AC8-B066-156CE9101D9B}" type="pres">
      <dgm:prSet presAssocID="{EB1182A6-4932-430E-8E6F-A497CF37FB3B}" presName="composite" presStyleCnt="0"/>
      <dgm:spPr/>
    </dgm:pt>
    <dgm:pt modelId="{2FBB452E-C1FC-4BF6-87A3-3CAC913F2DFD}" type="pres">
      <dgm:prSet presAssocID="{EB1182A6-4932-430E-8E6F-A497CF37FB3B}" presName="imgShp" presStyleLbl="fgImgPlace1" presStyleIdx="3" presStyleCnt="5"/>
      <dgm:spPr>
        <a:blipFill>
          <a:blip xmlns:r="http://schemas.openxmlformats.org/officeDocument/2006/relationships" r:embed="rId4"/>
          <a:srcRect/>
          <a:stretch>
            <a:fillRect l="-25000" r="-25000"/>
          </a:stretch>
        </a:blipFill>
      </dgm:spPr>
    </dgm:pt>
    <dgm:pt modelId="{194C9FCD-BAF0-4716-BE53-62E92154F526}" type="pres">
      <dgm:prSet presAssocID="{EB1182A6-4932-430E-8E6F-A497CF37FB3B}" presName="txShp" presStyleLbl="node1" presStyleIdx="3" presStyleCnt="5">
        <dgm:presLayoutVars>
          <dgm:bulletEnabled val="1"/>
        </dgm:presLayoutVars>
      </dgm:prSet>
      <dgm:spPr/>
    </dgm:pt>
    <dgm:pt modelId="{A522DFA5-D293-4799-8C7A-A6447C4068C1}" type="pres">
      <dgm:prSet presAssocID="{C03552AD-3585-4C85-B46A-AE54CBCF464C}" presName="spacing" presStyleCnt="0"/>
      <dgm:spPr/>
    </dgm:pt>
    <dgm:pt modelId="{D04D93A4-3219-473A-A128-75B930C4873D}" type="pres">
      <dgm:prSet presAssocID="{401E7A9C-300B-429E-903C-A318C3965E35}" presName="composite" presStyleCnt="0"/>
      <dgm:spPr/>
    </dgm:pt>
    <dgm:pt modelId="{BEB23988-5A2F-4011-BD6D-078AE9396ADC}" type="pres">
      <dgm:prSet presAssocID="{401E7A9C-300B-429E-903C-A318C3965E35}" presName="imgShp" presStyleLbl="fgImgPlace1" presStyleIdx="4" presStyleCnt="5"/>
      <dgm:spPr>
        <a:blipFill>
          <a:blip xmlns:r="http://schemas.openxmlformats.org/officeDocument/2006/relationships" r:embed="rId5"/>
          <a:srcRect/>
          <a:stretch>
            <a:fillRect l="-25000" r="-25000"/>
          </a:stretch>
        </a:blipFill>
      </dgm:spPr>
    </dgm:pt>
    <dgm:pt modelId="{45051361-1803-4B02-AA27-BC500513EC35}" type="pres">
      <dgm:prSet presAssocID="{401E7A9C-300B-429E-903C-A318C3965E35}" presName="txShp" presStyleLbl="node1" presStyleIdx="4" presStyleCnt="5">
        <dgm:presLayoutVars>
          <dgm:bulletEnabled val="1"/>
        </dgm:presLayoutVars>
      </dgm:prSet>
      <dgm:spPr/>
    </dgm:pt>
  </dgm:ptLst>
  <dgm:cxnLst>
    <dgm:cxn modelId="{69C9920C-4078-4B21-A5C7-F349EA10F5E8}" srcId="{10960847-658A-47D3-AE0F-47C6BFFF9D16}" destId="{401E7A9C-300B-429E-903C-A318C3965E35}" srcOrd="4" destOrd="0" parTransId="{649E4504-B341-4F6A-B658-5F22C9FA737F}" sibTransId="{4322664A-CB46-4858-80E6-ED1D2D7A1F0E}"/>
    <dgm:cxn modelId="{C069A52B-9113-43DD-8092-155112273F69}" type="presOf" srcId="{10960847-658A-47D3-AE0F-47C6BFFF9D16}" destId="{1259247D-190B-4417-920F-B1D52101F0D7}" srcOrd="0" destOrd="0" presId="urn:microsoft.com/office/officeart/2005/8/layout/vList3"/>
    <dgm:cxn modelId="{FF44512F-3DC0-469F-BCE4-4387D4866B85}" type="presOf" srcId="{E7482F6C-AA12-4CFD-A65C-A6F845BA8C88}" destId="{ABFAD81E-9E68-4528-A57B-C529BC41B234}" srcOrd="0" destOrd="0" presId="urn:microsoft.com/office/officeart/2005/8/layout/vList3"/>
    <dgm:cxn modelId="{0EC32941-E322-486E-957F-B61061EFDC45}" type="presOf" srcId="{401E7A9C-300B-429E-903C-A318C3965E35}" destId="{45051361-1803-4B02-AA27-BC500513EC35}" srcOrd="0" destOrd="0" presId="urn:microsoft.com/office/officeart/2005/8/layout/vList3"/>
    <dgm:cxn modelId="{50691099-5265-41E1-855C-D828109FBD99}" srcId="{10960847-658A-47D3-AE0F-47C6BFFF9D16}" destId="{E7482F6C-AA12-4CFD-A65C-A6F845BA8C88}" srcOrd="1" destOrd="0" parTransId="{B804B9B4-581C-4CCC-AD42-2D368E32AE34}" sibTransId="{AA892B1F-E309-4D94-A708-30632AAE82DD}"/>
    <dgm:cxn modelId="{781DC8A6-7753-4949-81AA-4AB568799C0E}" srcId="{10960847-658A-47D3-AE0F-47C6BFFF9D16}" destId="{EB1182A6-4932-430E-8E6F-A497CF37FB3B}" srcOrd="3" destOrd="0" parTransId="{EDD5060A-67D5-4BE6-96F5-D5524990CD34}" sibTransId="{C03552AD-3585-4C85-B46A-AE54CBCF464C}"/>
    <dgm:cxn modelId="{0BD836AB-FC45-4104-A868-6C478A983328}" type="presOf" srcId="{889678E6-9D30-4604-83B8-90F3D657CB6F}" destId="{79FD0309-EF7C-4D1A-9B72-8970D30749BD}" srcOrd="0" destOrd="0" presId="urn:microsoft.com/office/officeart/2005/8/layout/vList3"/>
    <dgm:cxn modelId="{157EDDD1-9673-4CCB-819E-807650A9ACA3}" type="presOf" srcId="{9DD0B045-0D5E-44EC-BF42-A617413B9460}" destId="{79D81BD7-DE06-4832-B71A-7201A8F3AD99}" srcOrd="0" destOrd="0" presId="urn:microsoft.com/office/officeart/2005/8/layout/vList3"/>
    <dgm:cxn modelId="{E79874DF-3504-4538-BE67-4C358F446A69}" srcId="{10960847-658A-47D3-AE0F-47C6BFFF9D16}" destId="{889678E6-9D30-4604-83B8-90F3D657CB6F}" srcOrd="0" destOrd="0" parTransId="{2708E986-1375-4DB5-8C66-B62DF111840D}" sibTransId="{A394EB61-C20F-45B4-BD55-0C1F4DFD19CD}"/>
    <dgm:cxn modelId="{3F6D41E8-CE5D-4AF3-8563-C14C843FD9BF}" type="presOf" srcId="{EB1182A6-4932-430E-8E6F-A497CF37FB3B}" destId="{194C9FCD-BAF0-4716-BE53-62E92154F526}" srcOrd="0" destOrd="0" presId="urn:microsoft.com/office/officeart/2005/8/layout/vList3"/>
    <dgm:cxn modelId="{7207DBF8-95D9-4C04-AA56-AFF8F1B2657F}" srcId="{10960847-658A-47D3-AE0F-47C6BFFF9D16}" destId="{9DD0B045-0D5E-44EC-BF42-A617413B9460}" srcOrd="2" destOrd="0" parTransId="{7F011EB2-CB7D-4143-B2B4-55162EB120C7}" sibTransId="{8E2B6FE3-FC7E-4A69-84CD-585918F842E7}"/>
    <dgm:cxn modelId="{B3D50EE7-77B3-46CD-B0A9-C7D909398AA6}" type="presParOf" srcId="{1259247D-190B-4417-920F-B1D52101F0D7}" destId="{34959440-84CE-424F-BF71-E6041559D845}" srcOrd="0" destOrd="0" presId="urn:microsoft.com/office/officeart/2005/8/layout/vList3"/>
    <dgm:cxn modelId="{07FF14D0-33E2-4804-9747-A292EBA6A7F2}" type="presParOf" srcId="{34959440-84CE-424F-BF71-E6041559D845}" destId="{B5186540-E7AC-4B10-9950-8EF2D7DE01FA}" srcOrd="0" destOrd="0" presId="urn:microsoft.com/office/officeart/2005/8/layout/vList3"/>
    <dgm:cxn modelId="{C5576CE9-8156-46E3-AB54-6693AAA703A1}" type="presParOf" srcId="{34959440-84CE-424F-BF71-E6041559D845}" destId="{79FD0309-EF7C-4D1A-9B72-8970D30749BD}" srcOrd="1" destOrd="0" presId="urn:microsoft.com/office/officeart/2005/8/layout/vList3"/>
    <dgm:cxn modelId="{BCBBC519-6ACB-4B82-AA6A-ECAFCB005B04}" type="presParOf" srcId="{1259247D-190B-4417-920F-B1D52101F0D7}" destId="{E1FB40DC-8994-48AF-A1E8-EC4B85D99B3F}" srcOrd="1" destOrd="0" presId="urn:microsoft.com/office/officeart/2005/8/layout/vList3"/>
    <dgm:cxn modelId="{CCDC5F22-2472-4D0B-ACA2-806D1FC535B9}" type="presParOf" srcId="{1259247D-190B-4417-920F-B1D52101F0D7}" destId="{CC281A12-2BD9-4F5D-B135-CC0DB3A40A99}" srcOrd="2" destOrd="0" presId="urn:microsoft.com/office/officeart/2005/8/layout/vList3"/>
    <dgm:cxn modelId="{8CAC15C6-E08C-4939-9901-C58B0B878F46}" type="presParOf" srcId="{CC281A12-2BD9-4F5D-B135-CC0DB3A40A99}" destId="{06635348-33D2-4706-9C95-2BEC45F8874A}" srcOrd="0" destOrd="0" presId="urn:microsoft.com/office/officeart/2005/8/layout/vList3"/>
    <dgm:cxn modelId="{385CA8C3-B0AA-4850-ADA8-7A3B49519CEA}" type="presParOf" srcId="{CC281A12-2BD9-4F5D-B135-CC0DB3A40A99}" destId="{ABFAD81E-9E68-4528-A57B-C529BC41B234}" srcOrd="1" destOrd="0" presId="urn:microsoft.com/office/officeart/2005/8/layout/vList3"/>
    <dgm:cxn modelId="{B965A7C0-0552-4CBA-8A0B-9498E6A66043}" type="presParOf" srcId="{1259247D-190B-4417-920F-B1D52101F0D7}" destId="{A7D371A9-68CD-4338-8E59-49E524A11437}" srcOrd="3" destOrd="0" presId="urn:microsoft.com/office/officeart/2005/8/layout/vList3"/>
    <dgm:cxn modelId="{D90E9BFD-96BF-4F9C-B736-433958A0DF4C}" type="presParOf" srcId="{1259247D-190B-4417-920F-B1D52101F0D7}" destId="{E10EE319-4838-479A-BA51-2F23D38DDEE4}" srcOrd="4" destOrd="0" presId="urn:microsoft.com/office/officeart/2005/8/layout/vList3"/>
    <dgm:cxn modelId="{3DF8C9BD-1A14-4688-B1E9-1BFDEEC99960}" type="presParOf" srcId="{E10EE319-4838-479A-BA51-2F23D38DDEE4}" destId="{4D19E717-38BF-4E98-9AF0-D348FB456CAA}" srcOrd="0" destOrd="0" presId="urn:microsoft.com/office/officeart/2005/8/layout/vList3"/>
    <dgm:cxn modelId="{2904A3E6-5926-4747-84B1-D7E4E862E933}" type="presParOf" srcId="{E10EE319-4838-479A-BA51-2F23D38DDEE4}" destId="{79D81BD7-DE06-4832-B71A-7201A8F3AD99}" srcOrd="1" destOrd="0" presId="urn:microsoft.com/office/officeart/2005/8/layout/vList3"/>
    <dgm:cxn modelId="{AD8721F0-0C67-4B03-A1A8-5FE76B8F48B8}" type="presParOf" srcId="{1259247D-190B-4417-920F-B1D52101F0D7}" destId="{A153FFC1-9FB3-4177-A719-72ED15DFC390}" srcOrd="5" destOrd="0" presId="urn:microsoft.com/office/officeart/2005/8/layout/vList3"/>
    <dgm:cxn modelId="{AFA36326-741E-42DB-8FA9-1C3F7CF5C34B}" type="presParOf" srcId="{1259247D-190B-4417-920F-B1D52101F0D7}" destId="{550B2407-9CA8-4AC8-B066-156CE9101D9B}" srcOrd="6" destOrd="0" presId="urn:microsoft.com/office/officeart/2005/8/layout/vList3"/>
    <dgm:cxn modelId="{1D32EA9E-AEE7-420D-A5F4-972E1CCAA8A8}" type="presParOf" srcId="{550B2407-9CA8-4AC8-B066-156CE9101D9B}" destId="{2FBB452E-C1FC-4BF6-87A3-3CAC913F2DFD}" srcOrd="0" destOrd="0" presId="urn:microsoft.com/office/officeart/2005/8/layout/vList3"/>
    <dgm:cxn modelId="{F312B5AF-0394-4E92-AF99-4AA2030017F2}" type="presParOf" srcId="{550B2407-9CA8-4AC8-B066-156CE9101D9B}" destId="{194C9FCD-BAF0-4716-BE53-62E92154F526}" srcOrd="1" destOrd="0" presId="urn:microsoft.com/office/officeart/2005/8/layout/vList3"/>
    <dgm:cxn modelId="{7030E795-A99C-40BC-AEB1-CEA258722F33}" type="presParOf" srcId="{1259247D-190B-4417-920F-B1D52101F0D7}" destId="{A522DFA5-D293-4799-8C7A-A6447C4068C1}" srcOrd="7" destOrd="0" presId="urn:microsoft.com/office/officeart/2005/8/layout/vList3"/>
    <dgm:cxn modelId="{7390F6A9-F24D-4CF0-BACF-E7E645D54317}" type="presParOf" srcId="{1259247D-190B-4417-920F-B1D52101F0D7}" destId="{D04D93A4-3219-473A-A128-75B930C4873D}" srcOrd="8" destOrd="0" presId="urn:microsoft.com/office/officeart/2005/8/layout/vList3"/>
    <dgm:cxn modelId="{117333CA-CD5F-455B-8F36-525F475989F0}" type="presParOf" srcId="{D04D93A4-3219-473A-A128-75B930C4873D}" destId="{BEB23988-5A2F-4011-BD6D-078AE9396ADC}" srcOrd="0" destOrd="0" presId="urn:microsoft.com/office/officeart/2005/8/layout/vList3"/>
    <dgm:cxn modelId="{24A2BB0D-784B-4C23-9ABE-5FB6B6F6EF1E}" type="presParOf" srcId="{D04D93A4-3219-473A-A128-75B930C4873D}" destId="{45051361-1803-4B02-AA27-BC500513EC35}"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203242-BB2A-4E85-81FB-88306AB6D5A6}"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E78663E5-373D-4E2F-B8D3-48DAF47E4539}">
      <dgm:prSet/>
      <dgm:spPr/>
      <dgm:t>
        <a:bodyPr/>
        <a:lstStyle/>
        <a:p>
          <a:r>
            <a:rPr lang="en-US" b="1"/>
            <a:t>Cleaning Robots</a:t>
          </a:r>
          <a:br>
            <a:rPr lang="en-US"/>
          </a:br>
          <a:r>
            <a:rPr lang="en-US"/>
            <a:t>Used for cleaning toxic waste and hazardous industrial areas. </a:t>
          </a:r>
        </a:p>
      </dgm:t>
    </dgm:pt>
    <dgm:pt modelId="{68BCD701-5DB4-4CF4-AC43-BDE5841115A6}" type="parTrans" cxnId="{83FBE8D3-3560-4AD8-9276-5C7B0B2688E9}">
      <dgm:prSet/>
      <dgm:spPr/>
      <dgm:t>
        <a:bodyPr/>
        <a:lstStyle/>
        <a:p>
          <a:endParaRPr lang="en-US"/>
        </a:p>
      </dgm:t>
    </dgm:pt>
    <dgm:pt modelId="{D0557891-D8B7-4653-9681-47E9E9575262}" type="sibTrans" cxnId="{83FBE8D3-3560-4AD8-9276-5C7B0B2688E9}">
      <dgm:prSet/>
      <dgm:spPr/>
      <dgm:t>
        <a:bodyPr/>
        <a:lstStyle/>
        <a:p>
          <a:endParaRPr lang="en-US"/>
        </a:p>
      </dgm:t>
    </dgm:pt>
    <dgm:pt modelId="{A041F2C2-D217-49A3-8C0B-DEC27E12755E}">
      <dgm:prSet/>
      <dgm:spPr/>
      <dgm:t>
        <a:bodyPr/>
        <a:lstStyle/>
        <a:p>
          <a:r>
            <a:rPr lang="en-US" b="1"/>
            <a:t>Agricultural Robots</a:t>
          </a:r>
          <a:br>
            <a:rPr lang="en-US"/>
          </a:br>
          <a:r>
            <a:rPr lang="en-US"/>
            <a:t>Used for farming, planting, harvesting, and monitoring crops. </a:t>
          </a:r>
        </a:p>
      </dgm:t>
    </dgm:pt>
    <dgm:pt modelId="{268FE775-8A60-4B35-9984-7EE4296D2AFB}" type="parTrans" cxnId="{249E2F19-7967-4885-8658-48F702ECD1EE}">
      <dgm:prSet/>
      <dgm:spPr/>
      <dgm:t>
        <a:bodyPr/>
        <a:lstStyle/>
        <a:p>
          <a:endParaRPr lang="en-US"/>
        </a:p>
      </dgm:t>
    </dgm:pt>
    <dgm:pt modelId="{FD20E146-C7DE-4359-900A-09FB944C2E9F}" type="sibTrans" cxnId="{249E2F19-7967-4885-8658-48F702ECD1EE}">
      <dgm:prSet/>
      <dgm:spPr/>
      <dgm:t>
        <a:bodyPr/>
        <a:lstStyle/>
        <a:p>
          <a:endParaRPr lang="en-US"/>
        </a:p>
      </dgm:t>
    </dgm:pt>
    <dgm:pt modelId="{CD9DEB20-1686-4900-BE7A-F4CD45988B5B}">
      <dgm:prSet/>
      <dgm:spPr/>
      <dgm:t>
        <a:bodyPr/>
        <a:lstStyle/>
        <a:p>
          <a:r>
            <a:rPr lang="en-US" b="1"/>
            <a:t>Household &amp; Domestic Robots</a:t>
          </a:r>
          <a:br>
            <a:rPr lang="en-US"/>
          </a:br>
          <a:r>
            <a:rPr lang="en-US"/>
            <a:t>Used for home cleaning and daily household tasks. </a:t>
          </a:r>
        </a:p>
      </dgm:t>
    </dgm:pt>
    <dgm:pt modelId="{EE23454E-358E-4FCD-B62B-76DC0102B99E}" type="parTrans" cxnId="{457BB754-3647-453D-BC97-455217B9E8D0}">
      <dgm:prSet/>
      <dgm:spPr/>
      <dgm:t>
        <a:bodyPr/>
        <a:lstStyle/>
        <a:p>
          <a:endParaRPr lang="en-US"/>
        </a:p>
      </dgm:t>
    </dgm:pt>
    <dgm:pt modelId="{01089B45-314A-4AFB-B5AA-FAB1775A1A5B}" type="sibTrans" cxnId="{457BB754-3647-453D-BC97-455217B9E8D0}">
      <dgm:prSet/>
      <dgm:spPr/>
      <dgm:t>
        <a:bodyPr/>
        <a:lstStyle/>
        <a:p>
          <a:endParaRPr lang="en-US"/>
        </a:p>
      </dgm:t>
    </dgm:pt>
    <dgm:pt modelId="{D19173B7-ADA7-4AAC-A8E0-32FDBD009FA3}">
      <dgm:prSet/>
      <dgm:spPr/>
      <dgm:t>
        <a:bodyPr/>
        <a:lstStyle/>
        <a:p>
          <a:r>
            <a:rPr lang="en-US" b="1"/>
            <a:t>Nano Robots</a:t>
          </a:r>
          <a:br>
            <a:rPr lang="en-US"/>
          </a:br>
          <a:r>
            <a:rPr lang="en-US"/>
            <a:t>Tiny robots used in medical and scientific applications. </a:t>
          </a:r>
        </a:p>
      </dgm:t>
    </dgm:pt>
    <dgm:pt modelId="{C0298904-112F-4F67-8391-854234B396DA}" type="parTrans" cxnId="{6829DBCC-B759-4105-B1B4-3D95F7DB7EDB}">
      <dgm:prSet/>
      <dgm:spPr/>
      <dgm:t>
        <a:bodyPr/>
        <a:lstStyle/>
        <a:p>
          <a:endParaRPr lang="en-US"/>
        </a:p>
      </dgm:t>
    </dgm:pt>
    <dgm:pt modelId="{A994BEA5-D52B-4F13-A6C0-DEE61BC8E7FF}" type="sibTrans" cxnId="{6829DBCC-B759-4105-B1B4-3D95F7DB7EDB}">
      <dgm:prSet/>
      <dgm:spPr/>
      <dgm:t>
        <a:bodyPr/>
        <a:lstStyle/>
        <a:p>
          <a:endParaRPr lang="en-US"/>
        </a:p>
      </dgm:t>
    </dgm:pt>
    <dgm:pt modelId="{B24F0A5B-2C47-4A86-9F18-81E782A8B4D0}">
      <dgm:prSet/>
      <dgm:spPr/>
      <dgm:t>
        <a:bodyPr/>
        <a:lstStyle/>
        <a:p>
          <a:r>
            <a:rPr lang="en-US" b="1"/>
            <a:t>Swarm Robots</a:t>
          </a:r>
          <a:br>
            <a:rPr lang="en-US"/>
          </a:br>
          <a:r>
            <a:rPr lang="en-US"/>
            <a:t>Groups of robots working together to complete tasks efficiently.</a:t>
          </a:r>
        </a:p>
      </dgm:t>
    </dgm:pt>
    <dgm:pt modelId="{2A34F2F8-9F0D-4DE3-AF6F-26E4EC6C7D56}" type="parTrans" cxnId="{419773B8-AEF9-4608-9264-A67398BE2BB0}">
      <dgm:prSet/>
      <dgm:spPr/>
      <dgm:t>
        <a:bodyPr/>
        <a:lstStyle/>
        <a:p>
          <a:endParaRPr lang="en-US"/>
        </a:p>
      </dgm:t>
    </dgm:pt>
    <dgm:pt modelId="{0E5F8C6F-297B-4CE6-8119-AD89AF4119D3}" type="sibTrans" cxnId="{419773B8-AEF9-4608-9264-A67398BE2BB0}">
      <dgm:prSet/>
      <dgm:spPr/>
      <dgm:t>
        <a:bodyPr/>
        <a:lstStyle/>
        <a:p>
          <a:endParaRPr lang="en-US"/>
        </a:p>
      </dgm:t>
    </dgm:pt>
    <dgm:pt modelId="{4F391A48-8353-41E9-8E6C-617B604B309E}" type="pres">
      <dgm:prSet presAssocID="{7A203242-BB2A-4E85-81FB-88306AB6D5A6}" presName="linearFlow" presStyleCnt="0">
        <dgm:presLayoutVars>
          <dgm:dir/>
          <dgm:resizeHandles val="exact"/>
        </dgm:presLayoutVars>
      </dgm:prSet>
      <dgm:spPr/>
    </dgm:pt>
    <dgm:pt modelId="{BDFA621A-3AF7-4760-986B-454713C76BB6}" type="pres">
      <dgm:prSet presAssocID="{E78663E5-373D-4E2F-B8D3-48DAF47E4539}" presName="composite" presStyleCnt="0"/>
      <dgm:spPr/>
    </dgm:pt>
    <dgm:pt modelId="{DDB80356-D145-4AB6-BFA9-BD5B6826D456}" type="pres">
      <dgm:prSet presAssocID="{E78663E5-373D-4E2F-B8D3-48DAF47E4539}" presName="imgShp" presStyleLbl="fgImgPlace1" presStyleIdx="0" presStyleCnt="5"/>
      <dgm:spPr>
        <a:blipFill>
          <a:blip xmlns:r="http://schemas.openxmlformats.org/officeDocument/2006/relationships" r:embed="rId1"/>
          <a:srcRect/>
          <a:stretch>
            <a:fillRect l="-39000" r="-39000"/>
          </a:stretch>
        </a:blipFill>
      </dgm:spPr>
    </dgm:pt>
    <dgm:pt modelId="{31550ED4-1DBB-4E23-89F1-7132B45C7848}" type="pres">
      <dgm:prSet presAssocID="{E78663E5-373D-4E2F-B8D3-48DAF47E4539}" presName="txShp" presStyleLbl="node1" presStyleIdx="0" presStyleCnt="5">
        <dgm:presLayoutVars>
          <dgm:bulletEnabled val="1"/>
        </dgm:presLayoutVars>
      </dgm:prSet>
      <dgm:spPr/>
    </dgm:pt>
    <dgm:pt modelId="{E558F3FA-1BC9-4585-993A-4AF462890D5A}" type="pres">
      <dgm:prSet presAssocID="{D0557891-D8B7-4653-9681-47E9E9575262}" presName="spacing" presStyleCnt="0"/>
      <dgm:spPr/>
    </dgm:pt>
    <dgm:pt modelId="{508021EF-DB74-4D0B-AF88-89B14DC05E86}" type="pres">
      <dgm:prSet presAssocID="{A041F2C2-D217-49A3-8C0B-DEC27E12755E}" presName="composite" presStyleCnt="0"/>
      <dgm:spPr/>
    </dgm:pt>
    <dgm:pt modelId="{AF6AE46D-F5BF-41E3-91FD-919193941AF9}" type="pres">
      <dgm:prSet presAssocID="{A041F2C2-D217-49A3-8C0B-DEC27E12755E}" presName="imgShp" presStyleLbl="fgImgPlace1" presStyleIdx="1" presStyleCnt="5"/>
      <dgm:spPr>
        <a:blipFill>
          <a:blip xmlns:r="http://schemas.openxmlformats.org/officeDocument/2006/relationships" r:embed="rId2"/>
          <a:srcRect/>
          <a:stretch>
            <a:fillRect l="-27000" r="-27000"/>
          </a:stretch>
        </a:blipFill>
      </dgm:spPr>
    </dgm:pt>
    <dgm:pt modelId="{87A68DC5-1C20-41F7-B225-E99A5C55A83B}" type="pres">
      <dgm:prSet presAssocID="{A041F2C2-D217-49A3-8C0B-DEC27E12755E}" presName="txShp" presStyleLbl="node1" presStyleIdx="1" presStyleCnt="5">
        <dgm:presLayoutVars>
          <dgm:bulletEnabled val="1"/>
        </dgm:presLayoutVars>
      </dgm:prSet>
      <dgm:spPr/>
    </dgm:pt>
    <dgm:pt modelId="{C20E380D-F931-46CC-9099-21C03571C4CD}" type="pres">
      <dgm:prSet presAssocID="{FD20E146-C7DE-4359-900A-09FB944C2E9F}" presName="spacing" presStyleCnt="0"/>
      <dgm:spPr/>
    </dgm:pt>
    <dgm:pt modelId="{BF6977D1-CFD1-467D-9AC3-810F7BD302EB}" type="pres">
      <dgm:prSet presAssocID="{CD9DEB20-1686-4900-BE7A-F4CD45988B5B}" presName="composite" presStyleCnt="0"/>
      <dgm:spPr/>
    </dgm:pt>
    <dgm:pt modelId="{15042B43-632B-4786-AFA7-FCDEC3F6A9F4}" type="pres">
      <dgm:prSet presAssocID="{CD9DEB20-1686-4900-BE7A-F4CD45988B5B}" presName="imgShp" presStyleLbl="fgImgPlace1" presStyleIdx="2" presStyleCnt="5"/>
      <dgm:spPr>
        <a:blipFill>
          <a:blip xmlns:r="http://schemas.openxmlformats.org/officeDocument/2006/relationships" r:embed="rId3"/>
          <a:srcRect/>
          <a:stretch>
            <a:fillRect t="-4000" b="-4000"/>
          </a:stretch>
        </a:blipFill>
      </dgm:spPr>
    </dgm:pt>
    <dgm:pt modelId="{138CB85F-4F66-47C1-9F36-74F6B718CD24}" type="pres">
      <dgm:prSet presAssocID="{CD9DEB20-1686-4900-BE7A-F4CD45988B5B}" presName="txShp" presStyleLbl="node1" presStyleIdx="2" presStyleCnt="5">
        <dgm:presLayoutVars>
          <dgm:bulletEnabled val="1"/>
        </dgm:presLayoutVars>
      </dgm:prSet>
      <dgm:spPr/>
    </dgm:pt>
    <dgm:pt modelId="{F52E13A4-ED51-49B0-9DB9-3C9311294134}" type="pres">
      <dgm:prSet presAssocID="{01089B45-314A-4AFB-B5AA-FAB1775A1A5B}" presName="spacing" presStyleCnt="0"/>
      <dgm:spPr/>
    </dgm:pt>
    <dgm:pt modelId="{63B8463F-4513-46B8-BAEF-5D8ED509FF6E}" type="pres">
      <dgm:prSet presAssocID="{D19173B7-ADA7-4AAC-A8E0-32FDBD009FA3}" presName="composite" presStyleCnt="0"/>
      <dgm:spPr/>
    </dgm:pt>
    <dgm:pt modelId="{E0DF617F-A652-4304-A861-59D9F418BFAA}" type="pres">
      <dgm:prSet presAssocID="{D19173B7-ADA7-4AAC-A8E0-32FDBD009FA3}" presName="imgShp" presStyleLbl="fgImgPlace1" presStyleIdx="3" presStyleCnt="5"/>
      <dgm:spPr>
        <a:blipFill>
          <a:blip xmlns:r="http://schemas.openxmlformats.org/officeDocument/2006/relationships" r:embed="rId4"/>
          <a:srcRect/>
          <a:stretch>
            <a:fillRect l="-39000" r="-39000"/>
          </a:stretch>
        </a:blipFill>
      </dgm:spPr>
    </dgm:pt>
    <dgm:pt modelId="{8931D1D4-9CAC-4E16-90F2-CACF01D9AD9E}" type="pres">
      <dgm:prSet presAssocID="{D19173B7-ADA7-4AAC-A8E0-32FDBD009FA3}" presName="txShp" presStyleLbl="node1" presStyleIdx="3" presStyleCnt="5">
        <dgm:presLayoutVars>
          <dgm:bulletEnabled val="1"/>
        </dgm:presLayoutVars>
      </dgm:prSet>
      <dgm:spPr/>
    </dgm:pt>
    <dgm:pt modelId="{27B3015A-646A-4794-A4F6-AF55A747621B}" type="pres">
      <dgm:prSet presAssocID="{A994BEA5-D52B-4F13-A6C0-DEE61BC8E7FF}" presName="spacing" presStyleCnt="0"/>
      <dgm:spPr/>
    </dgm:pt>
    <dgm:pt modelId="{7FFFD300-F027-4F3F-8EA0-136A24EE15D4}" type="pres">
      <dgm:prSet presAssocID="{B24F0A5B-2C47-4A86-9F18-81E782A8B4D0}" presName="composite" presStyleCnt="0"/>
      <dgm:spPr/>
    </dgm:pt>
    <dgm:pt modelId="{9C0F1E6D-9252-4D0E-B9C8-B71B1908ECC4}" type="pres">
      <dgm:prSet presAssocID="{B24F0A5B-2C47-4A86-9F18-81E782A8B4D0}" presName="imgShp" presStyleLbl="fgImgPlace1" presStyleIdx="4" presStyleCnt="5"/>
      <dgm:spPr>
        <a:blipFill>
          <a:blip xmlns:r="http://schemas.openxmlformats.org/officeDocument/2006/relationships" r:embed="rId5"/>
          <a:srcRect/>
          <a:stretch>
            <a:fillRect l="-25000" r="-25000"/>
          </a:stretch>
        </a:blipFill>
      </dgm:spPr>
    </dgm:pt>
    <dgm:pt modelId="{C8BB800E-1D6C-4693-99CD-7EA0A9947244}" type="pres">
      <dgm:prSet presAssocID="{B24F0A5B-2C47-4A86-9F18-81E782A8B4D0}" presName="txShp" presStyleLbl="node1" presStyleIdx="4" presStyleCnt="5">
        <dgm:presLayoutVars>
          <dgm:bulletEnabled val="1"/>
        </dgm:presLayoutVars>
      </dgm:prSet>
      <dgm:spPr/>
    </dgm:pt>
  </dgm:ptLst>
  <dgm:cxnLst>
    <dgm:cxn modelId="{249E2F19-7967-4885-8658-48F702ECD1EE}" srcId="{7A203242-BB2A-4E85-81FB-88306AB6D5A6}" destId="{A041F2C2-D217-49A3-8C0B-DEC27E12755E}" srcOrd="1" destOrd="0" parTransId="{268FE775-8A60-4B35-9984-7EE4296D2AFB}" sibTransId="{FD20E146-C7DE-4359-900A-09FB944C2E9F}"/>
    <dgm:cxn modelId="{AD388467-C873-4EF7-A802-0D2DEA9765B5}" type="presOf" srcId="{7A203242-BB2A-4E85-81FB-88306AB6D5A6}" destId="{4F391A48-8353-41E9-8E6C-617B604B309E}" srcOrd="0" destOrd="0" presId="urn:microsoft.com/office/officeart/2005/8/layout/vList3"/>
    <dgm:cxn modelId="{0609D64F-0BF7-46A7-8B36-64E647ABDDAE}" type="presOf" srcId="{A041F2C2-D217-49A3-8C0B-DEC27E12755E}" destId="{87A68DC5-1C20-41F7-B225-E99A5C55A83B}" srcOrd="0" destOrd="0" presId="urn:microsoft.com/office/officeart/2005/8/layout/vList3"/>
    <dgm:cxn modelId="{457BB754-3647-453D-BC97-455217B9E8D0}" srcId="{7A203242-BB2A-4E85-81FB-88306AB6D5A6}" destId="{CD9DEB20-1686-4900-BE7A-F4CD45988B5B}" srcOrd="2" destOrd="0" parTransId="{EE23454E-358E-4FCD-B62B-76DC0102B99E}" sibTransId="{01089B45-314A-4AFB-B5AA-FAB1775A1A5B}"/>
    <dgm:cxn modelId="{71429A76-2596-4824-AF0F-8BB7337A7106}" type="presOf" srcId="{D19173B7-ADA7-4AAC-A8E0-32FDBD009FA3}" destId="{8931D1D4-9CAC-4E16-90F2-CACF01D9AD9E}" srcOrd="0" destOrd="0" presId="urn:microsoft.com/office/officeart/2005/8/layout/vList3"/>
    <dgm:cxn modelId="{4BEB56B1-4A6F-422E-A0BE-95D33FB47674}" type="presOf" srcId="{CD9DEB20-1686-4900-BE7A-F4CD45988B5B}" destId="{138CB85F-4F66-47C1-9F36-74F6B718CD24}" srcOrd="0" destOrd="0" presId="urn:microsoft.com/office/officeart/2005/8/layout/vList3"/>
    <dgm:cxn modelId="{419773B8-AEF9-4608-9264-A67398BE2BB0}" srcId="{7A203242-BB2A-4E85-81FB-88306AB6D5A6}" destId="{B24F0A5B-2C47-4A86-9F18-81E782A8B4D0}" srcOrd="4" destOrd="0" parTransId="{2A34F2F8-9F0D-4DE3-AF6F-26E4EC6C7D56}" sibTransId="{0E5F8C6F-297B-4CE6-8119-AD89AF4119D3}"/>
    <dgm:cxn modelId="{9C34FABF-C816-4690-918A-E484C4670F98}" type="presOf" srcId="{E78663E5-373D-4E2F-B8D3-48DAF47E4539}" destId="{31550ED4-1DBB-4E23-89F1-7132B45C7848}" srcOrd="0" destOrd="0" presId="urn:microsoft.com/office/officeart/2005/8/layout/vList3"/>
    <dgm:cxn modelId="{6829DBCC-B759-4105-B1B4-3D95F7DB7EDB}" srcId="{7A203242-BB2A-4E85-81FB-88306AB6D5A6}" destId="{D19173B7-ADA7-4AAC-A8E0-32FDBD009FA3}" srcOrd="3" destOrd="0" parTransId="{C0298904-112F-4F67-8391-854234B396DA}" sibTransId="{A994BEA5-D52B-4F13-A6C0-DEE61BC8E7FF}"/>
    <dgm:cxn modelId="{83FBE8D3-3560-4AD8-9276-5C7B0B2688E9}" srcId="{7A203242-BB2A-4E85-81FB-88306AB6D5A6}" destId="{E78663E5-373D-4E2F-B8D3-48DAF47E4539}" srcOrd="0" destOrd="0" parTransId="{68BCD701-5DB4-4CF4-AC43-BDE5841115A6}" sibTransId="{D0557891-D8B7-4653-9681-47E9E9575262}"/>
    <dgm:cxn modelId="{088FAFEB-6D67-4D32-92E7-0C6EA730AEDD}" type="presOf" srcId="{B24F0A5B-2C47-4A86-9F18-81E782A8B4D0}" destId="{C8BB800E-1D6C-4693-99CD-7EA0A9947244}" srcOrd="0" destOrd="0" presId="urn:microsoft.com/office/officeart/2005/8/layout/vList3"/>
    <dgm:cxn modelId="{C5E5AC86-EB70-45E4-9B08-0E6FD8DD05DE}" type="presParOf" srcId="{4F391A48-8353-41E9-8E6C-617B604B309E}" destId="{BDFA621A-3AF7-4760-986B-454713C76BB6}" srcOrd="0" destOrd="0" presId="urn:microsoft.com/office/officeart/2005/8/layout/vList3"/>
    <dgm:cxn modelId="{E9FF9E43-F3F1-4284-B260-812316F3D4DA}" type="presParOf" srcId="{BDFA621A-3AF7-4760-986B-454713C76BB6}" destId="{DDB80356-D145-4AB6-BFA9-BD5B6826D456}" srcOrd="0" destOrd="0" presId="urn:microsoft.com/office/officeart/2005/8/layout/vList3"/>
    <dgm:cxn modelId="{A2EE6C3D-D691-4396-AE98-F4FC8933A28B}" type="presParOf" srcId="{BDFA621A-3AF7-4760-986B-454713C76BB6}" destId="{31550ED4-1DBB-4E23-89F1-7132B45C7848}" srcOrd="1" destOrd="0" presId="urn:microsoft.com/office/officeart/2005/8/layout/vList3"/>
    <dgm:cxn modelId="{B9952A26-AE32-4F88-8D28-1F67D681CF2E}" type="presParOf" srcId="{4F391A48-8353-41E9-8E6C-617B604B309E}" destId="{E558F3FA-1BC9-4585-993A-4AF462890D5A}" srcOrd="1" destOrd="0" presId="urn:microsoft.com/office/officeart/2005/8/layout/vList3"/>
    <dgm:cxn modelId="{0E8994EA-D021-4478-9DFE-E56DDC325F5D}" type="presParOf" srcId="{4F391A48-8353-41E9-8E6C-617B604B309E}" destId="{508021EF-DB74-4D0B-AF88-89B14DC05E86}" srcOrd="2" destOrd="0" presId="urn:microsoft.com/office/officeart/2005/8/layout/vList3"/>
    <dgm:cxn modelId="{BF7F883D-BA10-461A-BB6C-CE16BBE72B4D}" type="presParOf" srcId="{508021EF-DB74-4D0B-AF88-89B14DC05E86}" destId="{AF6AE46D-F5BF-41E3-91FD-919193941AF9}" srcOrd="0" destOrd="0" presId="urn:microsoft.com/office/officeart/2005/8/layout/vList3"/>
    <dgm:cxn modelId="{8BEEC5E2-65A0-4AEF-BCF7-D998B92A1ABE}" type="presParOf" srcId="{508021EF-DB74-4D0B-AF88-89B14DC05E86}" destId="{87A68DC5-1C20-41F7-B225-E99A5C55A83B}" srcOrd="1" destOrd="0" presId="urn:microsoft.com/office/officeart/2005/8/layout/vList3"/>
    <dgm:cxn modelId="{45F06ABD-BE2A-4659-8990-3956A783784C}" type="presParOf" srcId="{4F391A48-8353-41E9-8E6C-617B604B309E}" destId="{C20E380D-F931-46CC-9099-21C03571C4CD}" srcOrd="3" destOrd="0" presId="urn:microsoft.com/office/officeart/2005/8/layout/vList3"/>
    <dgm:cxn modelId="{BDD85F48-EB43-4931-A03B-7CEA1DF39873}" type="presParOf" srcId="{4F391A48-8353-41E9-8E6C-617B604B309E}" destId="{BF6977D1-CFD1-467D-9AC3-810F7BD302EB}" srcOrd="4" destOrd="0" presId="urn:microsoft.com/office/officeart/2005/8/layout/vList3"/>
    <dgm:cxn modelId="{5BC4279A-F786-46A0-AB60-69A0D0F6E011}" type="presParOf" srcId="{BF6977D1-CFD1-467D-9AC3-810F7BD302EB}" destId="{15042B43-632B-4786-AFA7-FCDEC3F6A9F4}" srcOrd="0" destOrd="0" presId="urn:microsoft.com/office/officeart/2005/8/layout/vList3"/>
    <dgm:cxn modelId="{AE8C1D5D-14AF-4560-A9C7-CA7B147BB8B2}" type="presParOf" srcId="{BF6977D1-CFD1-467D-9AC3-810F7BD302EB}" destId="{138CB85F-4F66-47C1-9F36-74F6B718CD24}" srcOrd="1" destOrd="0" presId="urn:microsoft.com/office/officeart/2005/8/layout/vList3"/>
    <dgm:cxn modelId="{702BAF64-E575-43F9-A9FB-B68FE733EEE4}" type="presParOf" srcId="{4F391A48-8353-41E9-8E6C-617B604B309E}" destId="{F52E13A4-ED51-49B0-9DB9-3C9311294134}" srcOrd="5" destOrd="0" presId="urn:microsoft.com/office/officeart/2005/8/layout/vList3"/>
    <dgm:cxn modelId="{FFF882E2-ED05-458F-8B4A-B448590CA5E7}" type="presParOf" srcId="{4F391A48-8353-41E9-8E6C-617B604B309E}" destId="{63B8463F-4513-46B8-BAEF-5D8ED509FF6E}" srcOrd="6" destOrd="0" presId="urn:microsoft.com/office/officeart/2005/8/layout/vList3"/>
    <dgm:cxn modelId="{2CFE5530-0A5E-4C43-BA6B-4FC8D7476B13}" type="presParOf" srcId="{63B8463F-4513-46B8-BAEF-5D8ED509FF6E}" destId="{E0DF617F-A652-4304-A861-59D9F418BFAA}" srcOrd="0" destOrd="0" presId="urn:microsoft.com/office/officeart/2005/8/layout/vList3"/>
    <dgm:cxn modelId="{97E6AA34-38F1-4D69-BA04-7FA0A87C0905}" type="presParOf" srcId="{63B8463F-4513-46B8-BAEF-5D8ED509FF6E}" destId="{8931D1D4-9CAC-4E16-90F2-CACF01D9AD9E}" srcOrd="1" destOrd="0" presId="urn:microsoft.com/office/officeart/2005/8/layout/vList3"/>
    <dgm:cxn modelId="{E2A5F2BA-BA66-4BB3-B532-B37ADFDB951F}" type="presParOf" srcId="{4F391A48-8353-41E9-8E6C-617B604B309E}" destId="{27B3015A-646A-4794-A4F6-AF55A747621B}" srcOrd="7" destOrd="0" presId="urn:microsoft.com/office/officeart/2005/8/layout/vList3"/>
    <dgm:cxn modelId="{1F723F94-311C-4F33-95FC-C7EDAA01364C}" type="presParOf" srcId="{4F391A48-8353-41E9-8E6C-617B604B309E}" destId="{7FFFD300-F027-4F3F-8EA0-136A24EE15D4}" srcOrd="8" destOrd="0" presId="urn:microsoft.com/office/officeart/2005/8/layout/vList3"/>
    <dgm:cxn modelId="{8689CCF1-E8BD-4280-A59E-63691F084330}" type="presParOf" srcId="{7FFFD300-F027-4F3F-8EA0-136A24EE15D4}" destId="{9C0F1E6D-9252-4D0E-B9C8-B71B1908ECC4}" srcOrd="0" destOrd="0" presId="urn:microsoft.com/office/officeart/2005/8/layout/vList3"/>
    <dgm:cxn modelId="{EB609922-5F63-4FAE-843B-49BFC952D640}" type="presParOf" srcId="{7FFFD300-F027-4F3F-8EA0-136A24EE15D4}" destId="{C8BB800E-1D6C-4693-99CD-7EA0A9947244}" srcOrd="1" destOrd="0" presId="urn:microsoft.com/office/officeart/2005/8/layout/v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11113F-DA22-45BA-A7D7-286B59F51805}">
      <dsp:nvSpPr>
        <dsp:cNvPr id="0" name=""/>
        <dsp:cNvSpPr/>
      </dsp:nvSpPr>
      <dsp:spPr>
        <a:xfrm>
          <a:off x="0" y="725714"/>
          <a:ext cx="3749040" cy="2398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GPS Systems — Navigation devices with real-time positioning</a:t>
          </a:r>
        </a:p>
      </dsp:txBody>
      <dsp:txXfrm>
        <a:off x="11709" y="737423"/>
        <a:ext cx="3725622" cy="216432"/>
      </dsp:txXfrm>
    </dsp:sp>
    <dsp:sp modelId="{16FBAF62-DA74-47A1-901B-350B67CCEDB1}">
      <dsp:nvSpPr>
        <dsp:cNvPr id="0" name=""/>
        <dsp:cNvSpPr/>
      </dsp:nvSpPr>
      <dsp:spPr>
        <a:xfrm>
          <a:off x="0" y="994365"/>
          <a:ext cx="3749040" cy="2398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Medical Devices — Pacemakers, insulin pumps, diagnostic tools</a:t>
          </a:r>
        </a:p>
      </dsp:txBody>
      <dsp:txXfrm>
        <a:off x="11709" y="1006074"/>
        <a:ext cx="3725622" cy="216432"/>
      </dsp:txXfrm>
    </dsp:sp>
    <dsp:sp modelId="{9DADE731-05F6-4ABA-90D1-C6613D9C49D2}">
      <dsp:nvSpPr>
        <dsp:cNvPr id="0" name=""/>
        <dsp:cNvSpPr/>
      </dsp:nvSpPr>
      <dsp:spPr>
        <a:xfrm>
          <a:off x="0" y="1263015"/>
          <a:ext cx="3749040" cy="2398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Automotive Systems — ABS, ECU, ADAS, infotainment</a:t>
          </a:r>
        </a:p>
      </dsp:txBody>
      <dsp:txXfrm>
        <a:off x="11709" y="1274724"/>
        <a:ext cx="3725622" cy="216432"/>
      </dsp:txXfrm>
    </dsp:sp>
    <dsp:sp modelId="{8CA5715F-F007-45F5-8E34-47B5D992D026}">
      <dsp:nvSpPr>
        <dsp:cNvPr id="0" name=""/>
        <dsp:cNvSpPr/>
      </dsp:nvSpPr>
      <dsp:spPr>
        <a:xfrm>
          <a:off x="0" y="1531665"/>
          <a:ext cx="3749040" cy="2398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Automated Fare Collection — Smart card ticketing systems</a:t>
          </a:r>
        </a:p>
      </dsp:txBody>
      <dsp:txXfrm>
        <a:off x="11709" y="1543374"/>
        <a:ext cx="3725622" cy="216432"/>
      </dsp:txXfrm>
    </dsp:sp>
    <dsp:sp modelId="{9F0103CB-CDD6-41D5-B6CF-35C3CD2AADDB}">
      <dsp:nvSpPr>
        <dsp:cNvPr id="0" name=""/>
        <dsp:cNvSpPr/>
      </dsp:nvSpPr>
      <dsp:spPr>
        <a:xfrm>
          <a:off x="0" y="1800315"/>
          <a:ext cx="3749040" cy="2398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Home Entertainment — Smart TVs, set-top boxes, gaming consoles</a:t>
          </a:r>
        </a:p>
      </dsp:txBody>
      <dsp:txXfrm>
        <a:off x="11709" y="1812024"/>
        <a:ext cx="3725622" cy="216432"/>
      </dsp:txXfrm>
    </dsp:sp>
    <dsp:sp modelId="{34402AD5-C9AF-4F06-9892-E961C0CB2CC3}">
      <dsp:nvSpPr>
        <dsp:cNvPr id="0" name=""/>
        <dsp:cNvSpPr/>
      </dsp:nvSpPr>
      <dsp:spPr>
        <a:xfrm>
          <a:off x="0" y="2068965"/>
          <a:ext cx="3749040" cy="2398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ATM Machines — Cash dispensing and secure transactions</a:t>
          </a:r>
        </a:p>
      </dsp:txBody>
      <dsp:txXfrm>
        <a:off x="11709" y="2080674"/>
        <a:ext cx="3725622" cy="216432"/>
      </dsp:txXfrm>
    </dsp:sp>
    <dsp:sp modelId="{03255109-9709-4845-9690-9AA30A8A4505}">
      <dsp:nvSpPr>
        <dsp:cNvPr id="0" name=""/>
        <dsp:cNvSpPr/>
      </dsp:nvSpPr>
      <dsp:spPr>
        <a:xfrm>
          <a:off x="0" y="2337615"/>
          <a:ext cx="3749040" cy="2398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Manufacturing &amp; Robotics — Industrial automation and control</a:t>
          </a:r>
        </a:p>
      </dsp:txBody>
      <dsp:txXfrm>
        <a:off x="11709" y="2349324"/>
        <a:ext cx="3725622" cy="216432"/>
      </dsp:txXfrm>
    </dsp:sp>
    <dsp:sp modelId="{47A011B2-4F46-43F0-A2A9-3D1F8F4CAB7A}">
      <dsp:nvSpPr>
        <dsp:cNvPr id="0" name=""/>
        <dsp:cNvSpPr/>
      </dsp:nvSpPr>
      <dsp:spPr>
        <a:xfrm>
          <a:off x="0" y="2606265"/>
          <a:ext cx="3749040" cy="2398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EV Charging Stations — Battery management and billing</a:t>
          </a:r>
        </a:p>
      </dsp:txBody>
      <dsp:txXfrm>
        <a:off x="11709" y="2617974"/>
        <a:ext cx="3725622" cy="216432"/>
      </dsp:txXfrm>
    </dsp:sp>
    <dsp:sp modelId="{0F5DB977-6B32-42C8-9CD8-459A6795A0FA}">
      <dsp:nvSpPr>
        <dsp:cNvPr id="0" name=""/>
        <dsp:cNvSpPr/>
      </dsp:nvSpPr>
      <dsp:spPr>
        <a:xfrm>
          <a:off x="0" y="2874915"/>
          <a:ext cx="3749040" cy="2398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Self-Service Kiosks — Check-in, ordering, and ticketing</a:t>
          </a:r>
        </a:p>
      </dsp:txBody>
      <dsp:txXfrm>
        <a:off x="11709" y="2886624"/>
        <a:ext cx="3725622" cy="2164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FD0309-EF7C-4D1A-9B72-8970D30749BD}">
      <dsp:nvSpPr>
        <dsp:cNvPr id="0" name=""/>
        <dsp:cNvSpPr/>
      </dsp:nvSpPr>
      <dsp:spPr>
        <a:xfrm rot="10800000">
          <a:off x="798074" y="1777"/>
          <a:ext cx="2665997" cy="50625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3245" tIns="38100" rIns="71120" bIns="38100" numCol="1" spcCol="1270" anchor="ctr" anchorCtr="0">
          <a:noAutofit/>
        </a:bodyPr>
        <a:lstStyle/>
        <a:p>
          <a:pPr marL="0" lvl="0" indent="0" algn="ctr" defTabSz="444500">
            <a:lnSpc>
              <a:spcPct val="90000"/>
            </a:lnSpc>
            <a:spcBef>
              <a:spcPct val="0"/>
            </a:spcBef>
            <a:spcAft>
              <a:spcPct val="35000"/>
            </a:spcAft>
            <a:buNone/>
          </a:pPr>
          <a:r>
            <a:rPr lang="en-US" sz="1000" b="1" i="0" kern="1200" baseline="0"/>
            <a:t>Assembly Robots</a:t>
          </a:r>
          <a:br>
            <a:rPr lang="en-US" sz="1000" b="0" i="0" kern="1200" baseline="0"/>
          </a:br>
          <a:r>
            <a:rPr lang="en-US" sz="1000" b="0" i="0" kern="1200" baseline="0"/>
            <a:t>Used in industries for assembling products automatically. </a:t>
          </a:r>
          <a:endParaRPr lang="en-US" sz="1000" kern="1200"/>
        </a:p>
      </dsp:txBody>
      <dsp:txXfrm rot="10800000">
        <a:off x="924638" y="1777"/>
        <a:ext cx="2539433" cy="506256"/>
      </dsp:txXfrm>
    </dsp:sp>
    <dsp:sp modelId="{B5186540-E7AC-4B10-9950-8EF2D7DE01FA}">
      <dsp:nvSpPr>
        <dsp:cNvPr id="0" name=""/>
        <dsp:cNvSpPr/>
      </dsp:nvSpPr>
      <dsp:spPr>
        <a:xfrm>
          <a:off x="544946" y="1777"/>
          <a:ext cx="506256" cy="506256"/>
        </a:xfrm>
        <a:prstGeom prst="ellipse">
          <a:avLst/>
        </a:prstGeom>
        <a:blipFill>
          <a:blip xmlns:r="http://schemas.openxmlformats.org/officeDocument/2006/relationships" r:embed="rId1"/>
          <a:srcRect/>
          <a:stretch>
            <a:fillRect t="-6000" b="-6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BFAD81E-9E68-4528-A57B-C529BC41B234}">
      <dsp:nvSpPr>
        <dsp:cNvPr id="0" name=""/>
        <dsp:cNvSpPr/>
      </dsp:nvSpPr>
      <dsp:spPr>
        <a:xfrm rot="10800000">
          <a:off x="798074" y="659155"/>
          <a:ext cx="2665997" cy="50625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3245" tIns="38100" rIns="71120" bIns="38100" numCol="1" spcCol="1270" anchor="ctr" anchorCtr="0">
          <a:noAutofit/>
        </a:bodyPr>
        <a:lstStyle/>
        <a:p>
          <a:pPr marL="0" lvl="0" indent="0" algn="ctr" defTabSz="444500">
            <a:lnSpc>
              <a:spcPct val="90000"/>
            </a:lnSpc>
            <a:spcBef>
              <a:spcPct val="0"/>
            </a:spcBef>
            <a:spcAft>
              <a:spcPct val="35000"/>
            </a:spcAft>
            <a:buNone/>
          </a:pPr>
          <a:r>
            <a:rPr lang="en-US" sz="1000" b="1" i="0" kern="1200" baseline="0"/>
            <a:t>Welding Robots</a:t>
          </a:r>
          <a:br>
            <a:rPr lang="en-US" sz="1000" b="0" i="0" kern="1200" baseline="0"/>
          </a:br>
          <a:r>
            <a:rPr lang="en-US" sz="1000" b="0" i="0" kern="1200" baseline="0"/>
            <a:t>Used for seam welding and other industrial welding tasks. </a:t>
          </a:r>
          <a:endParaRPr lang="en-US" sz="1000" kern="1200"/>
        </a:p>
      </dsp:txBody>
      <dsp:txXfrm rot="10800000">
        <a:off x="924638" y="659155"/>
        <a:ext cx="2539433" cy="506256"/>
      </dsp:txXfrm>
    </dsp:sp>
    <dsp:sp modelId="{06635348-33D2-4706-9C95-2BEC45F8874A}">
      <dsp:nvSpPr>
        <dsp:cNvPr id="0" name=""/>
        <dsp:cNvSpPr/>
      </dsp:nvSpPr>
      <dsp:spPr>
        <a:xfrm>
          <a:off x="544946" y="659155"/>
          <a:ext cx="506256" cy="506256"/>
        </a:xfrm>
        <a:prstGeom prst="ellipse">
          <a:avLst/>
        </a:prstGeom>
        <a:blipFill>
          <a:blip xmlns:r="http://schemas.openxmlformats.org/officeDocument/2006/relationships" r:embed="rId2"/>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D81BD7-DE06-4832-B71A-7201A8F3AD99}">
      <dsp:nvSpPr>
        <dsp:cNvPr id="0" name=""/>
        <dsp:cNvSpPr/>
      </dsp:nvSpPr>
      <dsp:spPr>
        <a:xfrm rot="10800000">
          <a:off x="798074" y="1316532"/>
          <a:ext cx="2665997" cy="50625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3245" tIns="38100" rIns="71120" bIns="38100" numCol="1" spcCol="1270" anchor="ctr" anchorCtr="0">
          <a:noAutofit/>
        </a:bodyPr>
        <a:lstStyle/>
        <a:p>
          <a:pPr marL="0" lvl="0" indent="0" algn="ctr" defTabSz="444500">
            <a:lnSpc>
              <a:spcPct val="90000"/>
            </a:lnSpc>
            <a:spcBef>
              <a:spcPct val="0"/>
            </a:spcBef>
            <a:spcAft>
              <a:spcPct val="35000"/>
            </a:spcAft>
            <a:buNone/>
          </a:pPr>
          <a:r>
            <a:rPr lang="en-US" sz="1000" b="1" kern="1200"/>
            <a:t>Heavy-Duty Robots</a:t>
          </a:r>
          <a:br>
            <a:rPr lang="en-US" sz="1000" kern="1200"/>
          </a:br>
          <a:r>
            <a:rPr lang="en-US" sz="1000" kern="1200"/>
            <a:t>Used for lifting heavy materials and industrial operations. </a:t>
          </a:r>
        </a:p>
      </dsp:txBody>
      <dsp:txXfrm rot="10800000">
        <a:off x="924638" y="1316532"/>
        <a:ext cx="2539433" cy="506256"/>
      </dsp:txXfrm>
    </dsp:sp>
    <dsp:sp modelId="{4D19E717-38BF-4E98-9AF0-D348FB456CAA}">
      <dsp:nvSpPr>
        <dsp:cNvPr id="0" name=""/>
        <dsp:cNvSpPr/>
      </dsp:nvSpPr>
      <dsp:spPr>
        <a:xfrm>
          <a:off x="544946" y="1316532"/>
          <a:ext cx="506256" cy="506256"/>
        </a:xfrm>
        <a:prstGeom prst="ellipse">
          <a:avLst/>
        </a:prstGeom>
        <a:blipFill>
          <a:blip xmlns:r="http://schemas.openxmlformats.org/officeDocument/2006/relationships" r:embed="rId3"/>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94C9FCD-BAF0-4716-BE53-62E92154F526}">
      <dsp:nvSpPr>
        <dsp:cNvPr id="0" name=""/>
        <dsp:cNvSpPr/>
      </dsp:nvSpPr>
      <dsp:spPr>
        <a:xfrm rot="10800000">
          <a:off x="798074" y="1973909"/>
          <a:ext cx="2665997" cy="50625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3245" tIns="38100" rIns="71120" bIns="38100" numCol="1" spcCol="1270" anchor="ctr" anchorCtr="0">
          <a:noAutofit/>
        </a:bodyPr>
        <a:lstStyle/>
        <a:p>
          <a:pPr marL="0" lvl="0" indent="0" algn="ctr" defTabSz="444500">
            <a:lnSpc>
              <a:spcPct val="90000"/>
            </a:lnSpc>
            <a:spcBef>
              <a:spcPct val="0"/>
            </a:spcBef>
            <a:spcAft>
              <a:spcPct val="35000"/>
            </a:spcAft>
            <a:buNone/>
          </a:pPr>
          <a:r>
            <a:rPr lang="en-US" sz="1000" b="1" kern="1200"/>
            <a:t>Manufacturing Robots</a:t>
          </a:r>
          <a:br>
            <a:rPr lang="en-US" sz="1000" kern="1200"/>
          </a:br>
          <a:r>
            <a:rPr lang="en-US" sz="1000" kern="1200"/>
            <a:t>Used in factories and automobile industries for fast and accurate production. </a:t>
          </a:r>
        </a:p>
      </dsp:txBody>
      <dsp:txXfrm rot="10800000">
        <a:off x="924638" y="1973909"/>
        <a:ext cx="2539433" cy="506256"/>
      </dsp:txXfrm>
    </dsp:sp>
    <dsp:sp modelId="{2FBB452E-C1FC-4BF6-87A3-3CAC913F2DFD}">
      <dsp:nvSpPr>
        <dsp:cNvPr id="0" name=""/>
        <dsp:cNvSpPr/>
      </dsp:nvSpPr>
      <dsp:spPr>
        <a:xfrm>
          <a:off x="544946" y="1973909"/>
          <a:ext cx="506256" cy="506256"/>
        </a:xfrm>
        <a:prstGeom prst="ellipse">
          <a:avLst/>
        </a:prstGeom>
        <a:blipFill>
          <a:blip xmlns:r="http://schemas.openxmlformats.org/officeDocument/2006/relationships" r:embed="rId4"/>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051361-1803-4B02-AA27-BC500513EC35}">
      <dsp:nvSpPr>
        <dsp:cNvPr id="0" name=""/>
        <dsp:cNvSpPr/>
      </dsp:nvSpPr>
      <dsp:spPr>
        <a:xfrm rot="10800000">
          <a:off x="798074" y="2631287"/>
          <a:ext cx="2665997" cy="50625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3245" tIns="38100" rIns="71120" bIns="38100" numCol="1" spcCol="1270" anchor="ctr" anchorCtr="0">
          <a:noAutofit/>
        </a:bodyPr>
        <a:lstStyle/>
        <a:p>
          <a:pPr marL="0" lvl="0" indent="0" algn="ctr" defTabSz="444500">
            <a:lnSpc>
              <a:spcPct val="90000"/>
            </a:lnSpc>
            <a:spcBef>
              <a:spcPct val="0"/>
            </a:spcBef>
            <a:spcAft>
              <a:spcPct val="35000"/>
            </a:spcAft>
            <a:buNone/>
          </a:pPr>
          <a:r>
            <a:rPr lang="en-US" sz="1000" b="1" kern="1200"/>
            <a:t>Military Robots</a:t>
          </a:r>
          <a:br>
            <a:rPr lang="en-US" sz="1000" kern="1200"/>
          </a:br>
          <a:r>
            <a:rPr lang="en-US" sz="1000" kern="1200"/>
            <a:t>Used for bomb detection, surveillance, and dangerous military operations. </a:t>
          </a:r>
        </a:p>
      </dsp:txBody>
      <dsp:txXfrm rot="10800000">
        <a:off x="924638" y="2631287"/>
        <a:ext cx="2539433" cy="506256"/>
      </dsp:txXfrm>
    </dsp:sp>
    <dsp:sp modelId="{BEB23988-5A2F-4011-BD6D-078AE9396ADC}">
      <dsp:nvSpPr>
        <dsp:cNvPr id="0" name=""/>
        <dsp:cNvSpPr/>
      </dsp:nvSpPr>
      <dsp:spPr>
        <a:xfrm>
          <a:off x="544946" y="2631287"/>
          <a:ext cx="506256" cy="506256"/>
        </a:xfrm>
        <a:prstGeom prst="ellipse">
          <a:avLst/>
        </a:prstGeom>
        <a:blipFill>
          <a:blip xmlns:r="http://schemas.openxmlformats.org/officeDocument/2006/relationships" r:embed="rId5"/>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50ED4-1DBB-4E23-89F1-7132B45C7848}">
      <dsp:nvSpPr>
        <dsp:cNvPr id="0" name=""/>
        <dsp:cNvSpPr/>
      </dsp:nvSpPr>
      <dsp:spPr>
        <a:xfrm rot="10800000">
          <a:off x="816852" y="885"/>
          <a:ext cx="2731530" cy="515340"/>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251" tIns="38100" rIns="71120" bIns="38100" numCol="1" spcCol="1270" anchor="ctr" anchorCtr="0">
          <a:noAutofit/>
        </a:bodyPr>
        <a:lstStyle/>
        <a:p>
          <a:pPr marL="0" lvl="0" indent="0" algn="ctr" defTabSz="444500">
            <a:lnSpc>
              <a:spcPct val="90000"/>
            </a:lnSpc>
            <a:spcBef>
              <a:spcPct val="0"/>
            </a:spcBef>
            <a:spcAft>
              <a:spcPct val="35000"/>
            </a:spcAft>
            <a:buNone/>
          </a:pPr>
          <a:r>
            <a:rPr lang="en-US" sz="1000" b="1" kern="1200"/>
            <a:t>Cleaning Robots</a:t>
          </a:r>
          <a:br>
            <a:rPr lang="en-US" sz="1000" kern="1200"/>
          </a:br>
          <a:r>
            <a:rPr lang="en-US" sz="1000" kern="1200"/>
            <a:t>Used for cleaning toxic waste and hazardous industrial areas. </a:t>
          </a:r>
        </a:p>
      </dsp:txBody>
      <dsp:txXfrm rot="10800000">
        <a:off x="945687" y="885"/>
        <a:ext cx="2602695" cy="515340"/>
      </dsp:txXfrm>
    </dsp:sp>
    <dsp:sp modelId="{DDB80356-D145-4AB6-BFA9-BD5B6826D456}">
      <dsp:nvSpPr>
        <dsp:cNvPr id="0" name=""/>
        <dsp:cNvSpPr/>
      </dsp:nvSpPr>
      <dsp:spPr>
        <a:xfrm>
          <a:off x="559181" y="885"/>
          <a:ext cx="515340" cy="515340"/>
        </a:xfrm>
        <a:prstGeom prst="ellipse">
          <a:avLst/>
        </a:prstGeom>
        <a:blipFill>
          <a:blip xmlns:r="http://schemas.openxmlformats.org/officeDocument/2006/relationships" r:embed="rId1"/>
          <a:srcRect/>
          <a:stretch>
            <a:fillRect l="-39000" r="-3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7A68DC5-1C20-41F7-B225-E99A5C55A83B}">
      <dsp:nvSpPr>
        <dsp:cNvPr id="0" name=""/>
        <dsp:cNvSpPr/>
      </dsp:nvSpPr>
      <dsp:spPr>
        <a:xfrm rot="10800000">
          <a:off x="816852" y="670059"/>
          <a:ext cx="2731530" cy="515340"/>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251" tIns="38100" rIns="71120" bIns="38100" numCol="1" spcCol="1270" anchor="ctr" anchorCtr="0">
          <a:noAutofit/>
        </a:bodyPr>
        <a:lstStyle/>
        <a:p>
          <a:pPr marL="0" lvl="0" indent="0" algn="ctr" defTabSz="444500">
            <a:lnSpc>
              <a:spcPct val="90000"/>
            </a:lnSpc>
            <a:spcBef>
              <a:spcPct val="0"/>
            </a:spcBef>
            <a:spcAft>
              <a:spcPct val="35000"/>
            </a:spcAft>
            <a:buNone/>
          </a:pPr>
          <a:r>
            <a:rPr lang="en-US" sz="1000" b="1" kern="1200"/>
            <a:t>Agricultural Robots</a:t>
          </a:r>
          <a:br>
            <a:rPr lang="en-US" sz="1000" kern="1200"/>
          </a:br>
          <a:r>
            <a:rPr lang="en-US" sz="1000" kern="1200"/>
            <a:t>Used for farming, planting, harvesting, and monitoring crops. </a:t>
          </a:r>
        </a:p>
      </dsp:txBody>
      <dsp:txXfrm rot="10800000">
        <a:off x="945687" y="670059"/>
        <a:ext cx="2602695" cy="515340"/>
      </dsp:txXfrm>
    </dsp:sp>
    <dsp:sp modelId="{AF6AE46D-F5BF-41E3-91FD-919193941AF9}">
      <dsp:nvSpPr>
        <dsp:cNvPr id="0" name=""/>
        <dsp:cNvSpPr/>
      </dsp:nvSpPr>
      <dsp:spPr>
        <a:xfrm>
          <a:off x="559181" y="670059"/>
          <a:ext cx="515340" cy="515340"/>
        </a:xfrm>
        <a:prstGeom prst="ellipse">
          <a:avLst/>
        </a:prstGeom>
        <a:blipFill>
          <a:blip xmlns:r="http://schemas.openxmlformats.org/officeDocument/2006/relationships" r:embed="rId2"/>
          <a:srcRect/>
          <a:stretch>
            <a:fillRect l="-27000" r="-2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8CB85F-4F66-47C1-9F36-74F6B718CD24}">
      <dsp:nvSpPr>
        <dsp:cNvPr id="0" name=""/>
        <dsp:cNvSpPr/>
      </dsp:nvSpPr>
      <dsp:spPr>
        <a:xfrm rot="10800000">
          <a:off x="816852" y="1339233"/>
          <a:ext cx="2731530" cy="515340"/>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251" tIns="38100" rIns="71120" bIns="38100" numCol="1" spcCol="1270" anchor="ctr" anchorCtr="0">
          <a:noAutofit/>
        </a:bodyPr>
        <a:lstStyle/>
        <a:p>
          <a:pPr marL="0" lvl="0" indent="0" algn="ctr" defTabSz="444500">
            <a:lnSpc>
              <a:spcPct val="90000"/>
            </a:lnSpc>
            <a:spcBef>
              <a:spcPct val="0"/>
            </a:spcBef>
            <a:spcAft>
              <a:spcPct val="35000"/>
            </a:spcAft>
            <a:buNone/>
          </a:pPr>
          <a:r>
            <a:rPr lang="en-US" sz="1000" b="1" kern="1200"/>
            <a:t>Household &amp; Domestic Robots</a:t>
          </a:r>
          <a:br>
            <a:rPr lang="en-US" sz="1000" kern="1200"/>
          </a:br>
          <a:r>
            <a:rPr lang="en-US" sz="1000" kern="1200"/>
            <a:t>Used for home cleaning and daily household tasks. </a:t>
          </a:r>
        </a:p>
      </dsp:txBody>
      <dsp:txXfrm rot="10800000">
        <a:off x="945687" y="1339233"/>
        <a:ext cx="2602695" cy="515340"/>
      </dsp:txXfrm>
    </dsp:sp>
    <dsp:sp modelId="{15042B43-632B-4786-AFA7-FCDEC3F6A9F4}">
      <dsp:nvSpPr>
        <dsp:cNvPr id="0" name=""/>
        <dsp:cNvSpPr/>
      </dsp:nvSpPr>
      <dsp:spPr>
        <a:xfrm>
          <a:off x="559181" y="1339233"/>
          <a:ext cx="515340" cy="515340"/>
        </a:xfrm>
        <a:prstGeom prst="ellipse">
          <a:avLst/>
        </a:prstGeom>
        <a:blipFill>
          <a:blip xmlns:r="http://schemas.openxmlformats.org/officeDocument/2006/relationships" r:embed="rId3"/>
          <a:srcRect/>
          <a:stretch>
            <a:fillRect t="-4000" b="-4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931D1D4-9CAC-4E16-90F2-CACF01D9AD9E}">
      <dsp:nvSpPr>
        <dsp:cNvPr id="0" name=""/>
        <dsp:cNvSpPr/>
      </dsp:nvSpPr>
      <dsp:spPr>
        <a:xfrm rot="10800000">
          <a:off x="816852" y="2008407"/>
          <a:ext cx="2731530" cy="515340"/>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251" tIns="38100" rIns="71120" bIns="38100" numCol="1" spcCol="1270" anchor="ctr" anchorCtr="0">
          <a:noAutofit/>
        </a:bodyPr>
        <a:lstStyle/>
        <a:p>
          <a:pPr marL="0" lvl="0" indent="0" algn="ctr" defTabSz="444500">
            <a:lnSpc>
              <a:spcPct val="90000"/>
            </a:lnSpc>
            <a:spcBef>
              <a:spcPct val="0"/>
            </a:spcBef>
            <a:spcAft>
              <a:spcPct val="35000"/>
            </a:spcAft>
            <a:buNone/>
          </a:pPr>
          <a:r>
            <a:rPr lang="en-US" sz="1000" b="1" kern="1200"/>
            <a:t>Nano Robots</a:t>
          </a:r>
          <a:br>
            <a:rPr lang="en-US" sz="1000" kern="1200"/>
          </a:br>
          <a:r>
            <a:rPr lang="en-US" sz="1000" kern="1200"/>
            <a:t>Tiny robots used in medical and scientific applications. </a:t>
          </a:r>
        </a:p>
      </dsp:txBody>
      <dsp:txXfrm rot="10800000">
        <a:off x="945687" y="2008407"/>
        <a:ext cx="2602695" cy="515340"/>
      </dsp:txXfrm>
    </dsp:sp>
    <dsp:sp modelId="{E0DF617F-A652-4304-A861-59D9F418BFAA}">
      <dsp:nvSpPr>
        <dsp:cNvPr id="0" name=""/>
        <dsp:cNvSpPr/>
      </dsp:nvSpPr>
      <dsp:spPr>
        <a:xfrm>
          <a:off x="559181" y="2008407"/>
          <a:ext cx="515340" cy="515340"/>
        </a:xfrm>
        <a:prstGeom prst="ellipse">
          <a:avLst/>
        </a:prstGeom>
        <a:blipFill>
          <a:blip xmlns:r="http://schemas.openxmlformats.org/officeDocument/2006/relationships" r:embed="rId4"/>
          <a:srcRect/>
          <a:stretch>
            <a:fillRect l="-39000" r="-3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8BB800E-1D6C-4693-99CD-7EA0A9947244}">
      <dsp:nvSpPr>
        <dsp:cNvPr id="0" name=""/>
        <dsp:cNvSpPr/>
      </dsp:nvSpPr>
      <dsp:spPr>
        <a:xfrm rot="10800000">
          <a:off x="816852" y="2677581"/>
          <a:ext cx="2731530" cy="515340"/>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251" tIns="38100" rIns="71120" bIns="38100" numCol="1" spcCol="1270" anchor="ctr" anchorCtr="0">
          <a:noAutofit/>
        </a:bodyPr>
        <a:lstStyle/>
        <a:p>
          <a:pPr marL="0" lvl="0" indent="0" algn="ctr" defTabSz="444500">
            <a:lnSpc>
              <a:spcPct val="90000"/>
            </a:lnSpc>
            <a:spcBef>
              <a:spcPct val="0"/>
            </a:spcBef>
            <a:spcAft>
              <a:spcPct val="35000"/>
            </a:spcAft>
            <a:buNone/>
          </a:pPr>
          <a:r>
            <a:rPr lang="en-US" sz="1000" b="1" kern="1200"/>
            <a:t>Swarm Robots</a:t>
          </a:r>
          <a:br>
            <a:rPr lang="en-US" sz="1000" kern="1200"/>
          </a:br>
          <a:r>
            <a:rPr lang="en-US" sz="1000" kern="1200"/>
            <a:t>Groups of robots working together to complete tasks efficiently.</a:t>
          </a:r>
        </a:p>
      </dsp:txBody>
      <dsp:txXfrm rot="10800000">
        <a:off x="945687" y="2677581"/>
        <a:ext cx="2602695" cy="515340"/>
      </dsp:txXfrm>
    </dsp:sp>
    <dsp:sp modelId="{9C0F1E6D-9252-4D0E-B9C8-B71B1908ECC4}">
      <dsp:nvSpPr>
        <dsp:cNvPr id="0" name=""/>
        <dsp:cNvSpPr/>
      </dsp:nvSpPr>
      <dsp:spPr>
        <a:xfrm>
          <a:off x="559181" y="2677581"/>
          <a:ext cx="515340" cy="515340"/>
        </a:xfrm>
        <a:prstGeom prst="ellipse">
          <a:avLst/>
        </a:prstGeom>
        <a:blipFill>
          <a:blip xmlns:r="http://schemas.openxmlformats.org/officeDocument/2006/relationships" r:embed="rId5"/>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227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21496-C20F-75F1-7C87-BE3B66BB5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ABA2E-8FDF-4FC7-E3D9-DD2750831C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7E7875-CC7B-426A-F4DD-E3060B1BEA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F498DD-61EE-9780-1FDE-F5D5C5FF2BE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843523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6168C-6C6D-D1D0-E9E5-EE2DC419A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AA2BA-2EDB-7882-54B0-E791F9353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B35694-D0F6-97C0-537B-BF438F506F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D2CC0C-25B3-DB17-4BCF-84AD166761D0}"/>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8009209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124C8-385B-D548-389F-238FAD0DA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3B1FE7-FE3C-09B7-7FDA-D581EB0347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B6DC80-11D8-0A10-4D5B-823D8D891F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524F85-1FC1-B5AD-DC5F-3C0E38FEFCC7}"/>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3979261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09C44-4838-46C0-5A42-CF00D40C4C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7F766B-E3B4-EE9C-95F9-FE8D58461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76CB43-DD73-4E2B-A2E5-3FC40AD7DF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49BF9C-B3F1-4B89-B4AD-F979C8BBF3F7}"/>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9706860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hyperlink" Target="https://store.roboticsbd.com/analog-ics-/1293-pic16f628-robotics-bangladesh.html" TargetMode="External"/><Relationship Id="rId13" Type="http://schemas.openxmlformats.org/officeDocument/2006/relationships/hyperlink" Target="https://store.roboticsbd.com/development-boards/694-esp8266-ch340-nodemcu-wifi-module-lua-v3-robotics-bangladesh.html" TargetMode="External"/><Relationship Id="rId3" Type="http://schemas.openxmlformats.org/officeDocument/2006/relationships/hyperlink" Target="https://store.roboticsbd.com/development-boards/94-8-arduino-uno-r3-robotics-bangladesh.html" TargetMode="External"/><Relationship Id="rId7" Type="http://schemas.openxmlformats.org/officeDocument/2006/relationships/hyperlink" Target="https://store.roboticsbd.com/development-boards/838-arduino-pro-micro-5v-robotics-bangladesh.html" TargetMode="External"/><Relationship Id="rId12" Type="http://schemas.openxmlformats.org/officeDocument/2006/relationships/hyperlink" Target="https://store.roboticsbd.com/development-boards/948-esp32-esp-32s-30p-nodemcu-development-board-wireless-wifi-robotics-bangladesh.html" TargetMode="External"/><Relationship Id="rId17" Type="http://schemas.openxmlformats.org/officeDocument/2006/relationships/hyperlink" Target="https://techshopbd.com/product/wemos-d1-mini-esp8266-wifi-nodemcu-iot-module" TargetMode="External"/><Relationship Id="rId2" Type="http://schemas.openxmlformats.org/officeDocument/2006/relationships/notesSlide" Target="../notesSlides/notesSlide16.xml"/><Relationship Id="rId16" Type="http://schemas.openxmlformats.org/officeDocument/2006/relationships/hyperlink" Target="https://www.bdtronics.com/esp32-c6-devkit-c-n16r8-esp32-development-board-wifi-bluetooth.html?srsltid=AfmBOorRZJsJ1s9CGFUi22SDG8Y_fGrAW0V7qCf-ZWS5Ve9OYGGqWitO" TargetMode="External"/><Relationship Id="rId1" Type="http://schemas.openxmlformats.org/officeDocument/2006/relationships/slideLayout" Target="../slideLayouts/slideLayout1.xml"/><Relationship Id="rId6" Type="http://schemas.openxmlformats.org/officeDocument/2006/relationships/hyperlink" Target="https://store.roboticsbd.com/development-boards/2569-arduino-uno-r4-minima-robotics-bangladesh.html" TargetMode="External"/><Relationship Id="rId11" Type="http://schemas.openxmlformats.org/officeDocument/2006/relationships/hyperlink" Target="https://www.robotechbd.com/?srsltid=AfmBOop9uA3Hazq8ZHefT7Ooaw7uO5M8M9GzUptnI2ao_7cFwtrs0_aa" TargetMode="External"/><Relationship Id="rId5" Type="http://schemas.openxmlformats.org/officeDocument/2006/relationships/hyperlink" Target="https://store.roboticsbd.com/development-boards/1523-arduino-pro-mini-328-5v16mhz-robotics-bangladesh.html" TargetMode="External"/><Relationship Id="rId15" Type="http://schemas.openxmlformats.org/officeDocument/2006/relationships/hyperlink" Target="https://store.roboticsbd.com/internet-of-things-iot/4417-esp32-s3-microcontroller-24-ghz-wi-fi-development-board-robotics-bangladesh.html" TargetMode="External"/><Relationship Id="rId10" Type="http://schemas.openxmlformats.org/officeDocument/2006/relationships/hyperlink" Target="https://www.bdtronics.com/?srsltid=AfmBOoqKgivgnVYU6cSf1141GH_G9nJOB1e_WBKQi1IUgDt_4iIvSZra" TargetMode="External"/><Relationship Id="rId4" Type="http://schemas.openxmlformats.org/officeDocument/2006/relationships/hyperlink" Target="https://store.roboticsbd.com/development-boards/32-arduino-nano-robotics-bangladesh.html" TargetMode="External"/><Relationship Id="rId9" Type="http://schemas.openxmlformats.org/officeDocument/2006/relationships/hyperlink" Target="https://techshopbd.com/product/pic-mini-system-development-board-microchip-pic16f877a" TargetMode="External"/><Relationship Id="rId14" Type="http://schemas.openxmlformats.org/officeDocument/2006/relationships/hyperlink" Target="https://store.roboticsbd.com/development-boards/1407-esp32-cam-wifi-bluetooth-camera-module-development-board-esp32-with-camera.html"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store.roboticsbd.com/raspberry-pi/3087-raspberry-pi-pico-2-robotics-bangladesh.html" TargetMode="External"/><Relationship Id="rId13" Type="http://schemas.openxmlformats.org/officeDocument/2006/relationships/hyperlink" Target="https://techshopbd.com/product/pic18f4550" TargetMode="External"/><Relationship Id="rId18" Type="http://schemas.openxmlformats.org/officeDocument/2006/relationships/hyperlink" Target="https://www.robotechbd.com/?srsltid=AfmBOop9uA3Hazq8ZHefT7Ooaw7uO5M8M9GzUptnI2ao_7cFwtrs0_aa" TargetMode="External"/><Relationship Id="rId3" Type="http://schemas.openxmlformats.org/officeDocument/2006/relationships/hyperlink" Target="https://store.roboticsbd.com/development-boards/3422-stm32f103c8t6-type-c-imported-microcontroller-blue-pill-board-robotics-bangladesh.html" TargetMode="External"/><Relationship Id="rId7" Type="http://schemas.openxmlformats.org/officeDocument/2006/relationships/hyperlink" Target="https://www.bdtronics.com/stm8s103f3p6-stm8-core-development-board.html?srsltid=AfmBOorx3NVX-MERCCSjLYh4iXNqUIyg1UjHcDivscF-NhjXGHMajXJz" TargetMode="External"/><Relationship Id="rId12" Type="http://schemas.openxmlformats.org/officeDocument/2006/relationships/hyperlink" Target="https://techshopbd.com/product/attiny15l" TargetMode="External"/><Relationship Id="rId17" Type="http://schemas.openxmlformats.org/officeDocument/2006/relationships/hyperlink" Target="https://www.bdtronics.com/?srsltid=AfmBOoqKgivgnVYU6cSf1141GH_G9nJOB1e_WBKQi1IUgDt_4iIvSZra" TargetMode="External"/><Relationship Id="rId2" Type="http://schemas.openxmlformats.org/officeDocument/2006/relationships/notesSlide" Target="../notesSlides/notesSlide17.xml"/><Relationship Id="rId16" Type="http://schemas.openxmlformats.org/officeDocument/2006/relationships/hyperlink" Target="https://www.bdtronics.com/ch32v003-development-board-48mhz-32-bit-risc-v-microcontroller.html?srsltid=AfmBOorFKXkLoqgAxoU0glLBHvgny43ZNo9RRis_Q0nhDQ4ZjoojIqwg" TargetMode="External"/><Relationship Id="rId1" Type="http://schemas.openxmlformats.org/officeDocument/2006/relationships/slideLayout" Target="../slideLayouts/slideLayout1.xml"/><Relationship Id="rId6" Type="http://schemas.openxmlformats.org/officeDocument/2006/relationships/hyperlink" Target="https://store.roboticsbd.com/learning-kit/2662-stm32f411ceu6-blackpill-v31-development-board-weact-studio-robotics-bangladesh.html" TargetMode="External"/><Relationship Id="rId11" Type="http://schemas.openxmlformats.org/officeDocument/2006/relationships/hyperlink" Target="https://techshopbd.com/product/atmega32a" TargetMode="External"/><Relationship Id="rId5" Type="http://schemas.openxmlformats.org/officeDocument/2006/relationships/hyperlink" Target="https://www.bdtronics.com/stm32f401rct6-development-board-micropython-compatible.html?srsltid=AfmBOorQqW0BHHya42YyIsCZtB2OJXGK10wdEsW9mMafvkBYf8EjIqA8" TargetMode="External"/><Relationship Id="rId15" Type="http://schemas.openxmlformats.org/officeDocument/2006/relationships/hyperlink" Target="https://store.roboticsbd.com/analog-ics-/1293-pic16f628-robotics-bangladesh.html" TargetMode="External"/><Relationship Id="rId10" Type="http://schemas.openxmlformats.org/officeDocument/2006/relationships/hyperlink" Target="https://store.roboticsbd.com/development-boards/3327-teensy-41-development-board-robotics-bangladesh.html" TargetMode="External"/><Relationship Id="rId4" Type="http://schemas.openxmlformats.org/officeDocument/2006/relationships/hyperlink" Target="https://store.roboticsbd.com/development-board/3578-weact-stm32g431cbu6-development-board-stm32g4-core-board-for-embedded-learning-prototyping-robotics-bangladesh.html" TargetMode="External"/><Relationship Id="rId9" Type="http://schemas.openxmlformats.org/officeDocument/2006/relationships/hyperlink" Target="https://www.bdtronics.com/raspberry-rp2040-core-board-16mb-raspberry-pi-pico-micropython.html?srsltid=AfmBOorJulOev9uoHxpMr7QZNrqnvjrNFZY90I9xIWm7fZGKRjq5nQOe" TargetMode="External"/><Relationship Id="rId14" Type="http://schemas.openxmlformats.org/officeDocument/2006/relationships/hyperlink" Target="https://techshopbd.com/product/pic-mini-system-development-board-microchip-pic16f877a"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preetam21022/tinkercad-projects/tree/main/Advance%20Traffic%20Light%20System"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hyperlink" Target="https://github.com/Preetam21022/TinkerCAD-Projects/tree/main/Smart%20Farm%20Automation"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hyperlink" Target="https://github.com/preetam21022/tinkercad-projects/tree/main/Advance%20Traffic%20Light%20System"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Preetam21022/TinkerCAD-Projects/tree/main/Smart%20Farm%20Automation"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8" Type="http://schemas.openxmlformats.org/officeDocument/2006/relationships/hyperlink" Target="https://howtomechatronics.com/tutorials/g-code-explained-list-of-most-important-g-code-commands/" TargetMode="External"/><Relationship Id="rId13" Type="http://schemas.openxmlformats.org/officeDocument/2006/relationships/hyperlink" Target="https://store.roboticsbd.com/" TargetMode="External"/><Relationship Id="rId18" Type="http://schemas.openxmlformats.org/officeDocument/2006/relationships/hyperlink" Target="https://github.com/preetam21022/tinkercad-projects/tree/main/Advance%20Traffic%20Light%20System" TargetMode="External"/><Relationship Id="rId3" Type="http://schemas.openxmlformats.org/officeDocument/2006/relationships/hyperlink" Target="https://www.ibm.com/think/topics/internet-of-things" TargetMode="External"/><Relationship Id="rId7" Type="http://schemas.openxmlformats.org/officeDocument/2006/relationships/hyperlink" Target="https://gcodetutor.com/cnc-machine-training/cnc-g-codes.html" TargetMode="External"/><Relationship Id="rId12" Type="http://schemas.openxmlformats.org/officeDocument/2006/relationships/hyperlink" Target="https://www.geeksforgeeks.org/machine-learning/actuators-in-iot/" TargetMode="External"/><Relationship Id="rId17" Type="http://schemas.openxmlformats.org/officeDocument/2006/relationships/hyperlink" Target="https://github.com/Preetam21022/TinkerCAD-Projects/tree/main" TargetMode="External"/><Relationship Id="rId2" Type="http://schemas.openxmlformats.org/officeDocument/2006/relationships/notesSlide" Target="../notesSlides/notesSlide26.xml"/><Relationship Id="rId16" Type="http://schemas.openxmlformats.org/officeDocument/2006/relationships/hyperlink" Target="https://www.robotechbd.com/" TargetMode="External"/><Relationship Id="rId1" Type="http://schemas.openxmlformats.org/officeDocument/2006/relationships/slideLayout" Target="../slideLayouts/slideLayout1.xml"/><Relationship Id="rId6" Type="http://schemas.openxmlformats.org/officeDocument/2006/relationships/hyperlink" Target="https://www.goodwin.edu/enews/what-is-cnc/" TargetMode="External"/><Relationship Id="rId11" Type="http://schemas.openxmlformats.org/officeDocument/2006/relationships/hyperlink" Target="https://www.monolithicpower.com/en/learning/mpscholar/sensors/intro-to-sensors/what-is-a-sensor" TargetMode="External"/><Relationship Id="rId5" Type="http://schemas.openxmlformats.org/officeDocument/2006/relationships/hyperlink" Target="https://www.geeksforgeeks.org/software-engineering/robotics-introduction/" TargetMode="External"/><Relationship Id="rId15" Type="http://schemas.openxmlformats.org/officeDocument/2006/relationships/hyperlink" Target="https://www.bdtronics.com/" TargetMode="External"/><Relationship Id="rId10" Type="http://schemas.openxmlformats.org/officeDocument/2006/relationships/hyperlink" Target="https://www.geeksforgeeks.org/electronics-engineering/applications-of-microcontroller/" TargetMode="External"/><Relationship Id="rId19" Type="http://schemas.openxmlformats.org/officeDocument/2006/relationships/hyperlink" Target="https://github.com/Preetam21022/TinkerCAD-Projects/tree/main/Smart%20Farm%20Automation" TargetMode="External"/><Relationship Id="rId4" Type="http://schemas.openxmlformats.org/officeDocument/2006/relationships/hyperlink" Target="https://www.spiceworks.com/it-hardware/what-is-refs-2/" TargetMode="External"/><Relationship Id="rId9" Type="http://schemas.openxmlformats.org/officeDocument/2006/relationships/hyperlink" Target="https://www.ibm.com/think/topics/microcontroller" TargetMode="External"/><Relationship Id="rId14" Type="http://schemas.openxmlformats.org/officeDocument/2006/relationships/hyperlink" Target="https://techshopbd.com/"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72363" y="54864"/>
            <a:ext cx="9144000" cy="5143500"/>
          </a:xfrm>
          <a:prstGeom prst="rect">
            <a:avLst/>
          </a:prstGeom>
          <a:solidFill>
            <a:srgbClr val="0B1628"/>
          </a:solidFill>
          <a:ln w="12700">
            <a:solidFill>
              <a:srgbClr val="0B1628"/>
            </a:solidFill>
            <a:prstDash val="solid"/>
          </a:ln>
        </p:spPr>
        <p:txBody>
          <a:bodyPr/>
          <a:lstStyle/>
          <a:p>
            <a:endParaRPr lang="en-US" dirty="0"/>
          </a:p>
        </p:txBody>
      </p:sp>
      <p:sp>
        <p:nvSpPr>
          <p:cNvPr id="3" name="Shape 1"/>
          <p:cNvSpPr/>
          <p:nvPr/>
        </p:nvSpPr>
        <p:spPr>
          <a:xfrm>
            <a:off x="0" y="0"/>
            <a:ext cx="9144000" cy="109728"/>
          </a:xfrm>
          <a:prstGeom prst="rect">
            <a:avLst/>
          </a:prstGeom>
          <a:solidFill>
            <a:srgbClr val="00B4D8"/>
          </a:solidFill>
          <a:ln w="12700">
            <a:solidFill>
              <a:srgbClr val="00B4D8"/>
            </a:solidFill>
            <a:prstDash val="solid"/>
          </a:ln>
        </p:spPr>
      </p:sp>
      <p:sp>
        <p:nvSpPr>
          <p:cNvPr id="4" name="Shape 2"/>
          <p:cNvSpPr/>
          <p:nvPr/>
        </p:nvSpPr>
        <p:spPr>
          <a:xfrm>
            <a:off x="0" y="5029200"/>
            <a:ext cx="9144000" cy="114300"/>
          </a:xfrm>
          <a:prstGeom prst="rect">
            <a:avLst/>
          </a:prstGeom>
          <a:solidFill>
            <a:srgbClr val="00B4D8"/>
          </a:solidFill>
          <a:ln w="12700">
            <a:solidFill>
              <a:srgbClr val="00B4D8"/>
            </a:solidFill>
            <a:prstDash val="solid"/>
          </a:ln>
        </p:spPr>
      </p:sp>
      <p:sp>
        <p:nvSpPr>
          <p:cNvPr id="5" name="Shape 3"/>
          <p:cNvSpPr/>
          <p:nvPr/>
        </p:nvSpPr>
        <p:spPr>
          <a:xfrm>
            <a:off x="6840895" y="109728"/>
            <a:ext cx="2286000" cy="4919472"/>
          </a:xfrm>
          <a:prstGeom prst="rect">
            <a:avLst/>
          </a:prstGeom>
          <a:solidFill>
            <a:srgbClr val="050C18"/>
          </a:solidFill>
          <a:ln w="12700">
            <a:solidFill>
              <a:srgbClr val="050C18"/>
            </a:solidFill>
            <a:prstDash val="solid"/>
          </a:ln>
        </p:spPr>
      </p:sp>
      <p:sp>
        <p:nvSpPr>
          <p:cNvPr id="6" name="Text 4"/>
          <p:cNvSpPr/>
          <p:nvPr/>
        </p:nvSpPr>
        <p:spPr>
          <a:xfrm>
            <a:off x="457200" y="256032"/>
            <a:ext cx="3657600" cy="320040"/>
          </a:xfrm>
          <a:prstGeom prst="rect">
            <a:avLst/>
          </a:prstGeom>
          <a:noFill/>
          <a:ln/>
        </p:spPr>
        <p:txBody>
          <a:bodyPr wrap="square" rtlCol="0" anchor="ctr"/>
          <a:lstStyle/>
          <a:p>
            <a:pPr marL="0" indent="0">
              <a:buNone/>
            </a:pPr>
            <a:r>
              <a:rPr lang="en-US" sz="1100" b="1" kern="0" spc="500" dirty="0">
                <a:solidFill>
                  <a:srgbClr val="48CAE4"/>
                </a:solidFill>
                <a:latin typeface="Calibri" pitchFamily="34" charset="0"/>
                <a:ea typeface="Calibri" pitchFamily="34" charset="-122"/>
                <a:cs typeface="Calibri" pitchFamily="34" charset="-120"/>
              </a:rPr>
              <a:t>WEEK — 01</a:t>
            </a:r>
            <a:endParaRPr lang="en-US" sz="1100" dirty="0"/>
          </a:p>
        </p:txBody>
      </p:sp>
      <p:sp>
        <p:nvSpPr>
          <p:cNvPr id="7" name="Text 5"/>
          <p:cNvSpPr/>
          <p:nvPr/>
        </p:nvSpPr>
        <p:spPr>
          <a:xfrm>
            <a:off x="457200" y="594360"/>
            <a:ext cx="6217920" cy="2743200"/>
          </a:xfrm>
          <a:prstGeom prst="rect">
            <a:avLst/>
          </a:prstGeom>
          <a:noFill/>
          <a:ln/>
        </p:spPr>
        <p:txBody>
          <a:bodyPr wrap="square"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IoT, Embedded</a:t>
            </a:r>
            <a:endParaRPr lang="en-US" sz="5000" dirty="0"/>
          </a:p>
          <a:p>
            <a:pPr marL="0" indent="0">
              <a:buNone/>
            </a:pPr>
            <a:r>
              <a:rPr lang="en-US" sz="5000" b="1" dirty="0">
                <a:solidFill>
                  <a:srgbClr val="FFFFFF"/>
                </a:solidFill>
                <a:latin typeface="Calibri" pitchFamily="34" charset="0"/>
                <a:ea typeface="Calibri" pitchFamily="34" charset="-122"/>
                <a:cs typeface="Calibri" pitchFamily="34" charset="-120"/>
              </a:rPr>
              <a:t>Systems &amp;</a:t>
            </a:r>
            <a:endParaRPr lang="en-US" sz="5000" dirty="0"/>
          </a:p>
          <a:p>
            <a:pPr marL="0" indent="0">
              <a:buNone/>
            </a:pPr>
            <a:r>
              <a:rPr lang="en-US" sz="5000" b="1" dirty="0">
                <a:solidFill>
                  <a:srgbClr val="FFFFFF"/>
                </a:solidFill>
                <a:latin typeface="Calibri" pitchFamily="34" charset="0"/>
                <a:ea typeface="Calibri" pitchFamily="34" charset="-122"/>
                <a:cs typeface="Calibri" pitchFamily="34" charset="-120"/>
              </a:rPr>
              <a:t>Robotics</a:t>
            </a:r>
            <a:endParaRPr lang="en-US" sz="5000" dirty="0"/>
          </a:p>
        </p:txBody>
      </p:sp>
      <p:sp>
        <p:nvSpPr>
          <p:cNvPr id="8" name="Text 6"/>
          <p:cNvSpPr/>
          <p:nvPr/>
        </p:nvSpPr>
        <p:spPr>
          <a:xfrm>
            <a:off x="493382" y="1594289"/>
            <a:ext cx="6217920" cy="778601"/>
          </a:xfrm>
          <a:prstGeom prst="rect">
            <a:avLst/>
          </a:prstGeom>
          <a:noFill/>
          <a:ln/>
        </p:spPr>
        <p:txBody>
          <a:bodyPr wrap="square" rtlCol="0" anchor="ctr"/>
          <a:lstStyle/>
          <a:p>
            <a:pPr marL="0" indent="0">
              <a:buNone/>
            </a:pPr>
            <a:r>
              <a:rPr lang="en-US" sz="5000" b="1" dirty="0">
                <a:solidFill>
                  <a:srgbClr val="00B4D8"/>
                </a:solidFill>
                <a:latin typeface="Calibri" pitchFamily="34" charset="0"/>
                <a:ea typeface="Calibri" pitchFamily="34" charset="-122"/>
                <a:cs typeface="Calibri" pitchFamily="34" charset="-120"/>
              </a:rPr>
              <a:t>Systems &amp;</a:t>
            </a:r>
            <a:endParaRPr lang="en-US" sz="5000" dirty="0"/>
          </a:p>
        </p:txBody>
      </p:sp>
      <p:sp>
        <p:nvSpPr>
          <p:cNvPr id="9" name="Shape 7"/>
          <p:cNvSpPr/>
          <p:nvPr/>
        </p:nvSpPr>
        <p:spPr>
          <a:xfrm>
            <a:off x="457200" y="3474720"/>
            <a:ext cx="2011680" cy="54864"/>
          </a:xfrm>
          <a:prstGeom prst="rect">
            <a:avLst/>
          </a:prstGeom>
          <a:solidFill>
            <a:srgbClr val="F77F00"/>
          </a:solidFill>
          <a:ln w="12700">
            <a:solidFill>
              <a:srgbClr val="F77F00"/>
            </a:solidFill>
            <a:prstDash val="solid"/>
          </a:ln>
        </p:spPr>
      </p:sp>
      <p:sp>
        <p:nvSpPr>
          <p:cNvPr id="10" name="Text 8"/>
          <p:cNvSpPr/>
          <p:nvPr/>
        </p:nvSpPr>
        <p:spPr>
          <a:xfrm>
            <a:off x="457200" y="3611880"/>
            <a:ext cx="6035040" cy="640080"/>
          </a:xfrm>
          <a:prstGeom prst="rect">
            <a:avLst/>
          </a:prstGeom>
          <a:noFill/>
          <a:ln/>
        </p:spPr>
        <p:txBody>
          <a:bodyPr wrap="square" rtlCol="0" anchor="ctr"/>
          <a:lstStyle/>
          <a:p>
            <a:pPr marL="0" indent="0">
              <a:buNone/>
            </a:pPr>
            <a:endParaRPr lang="en-US" sz="1250" dirty="0"/>
          </a:p>
        </p:txBody>
      </p:sp>
      <p:sp>
        <p:nvSpPr>
          <p:cNvPr id="11" name="Text 9"/>
          <p:cNvSpPr/>
          <p:nvPr/>
        </p:nvSpPr>
        <p:spPr>
          <a:xfrm>
            <a:off x="457200" y="4315968"/>
            <a:ext cx="6400800" cy="274320"/>
          </a:xfrm>
          <a:prstGeom prst="rect">
            <a:avLst/>
          </a:prstGeom>
          <a:noFill/>
          <a:ln/>
        </p:spPr>
        <p:txBody>
          <a:bodyPr wrap="square" rtlCol="0" anchor="ctr"/>
          <a:lstStyle/>
          <a:p>
            <a:pPr marL="0" indent="0">
              <a:buNone/>
            </a:pPr>
            <a:r>
              <a:rPr lang="en-US" sz="1000" kern="0" spc="200" dirty="0">
                <a:solidFill>
                  <a:srgbClr val="3A5070"/>
                </a:solidFill>
                <a:latin typeface="Calibri" pitchFamily="34" charset="0"/>
                <a:ea typeface="Calibri" pitchFamily="34" charset="-122"/>
                <a:cs typeface="Calibri" pitchFamily="34" charset="-120"/>
              </a:rPr>
              <a:t>CNC  ·  Microcontrollers  ·  Sensors  ·  Actuators  ·  Projects</a:t>
            </a:r>
            <a:endParaRPr lang="en-US" sz="1000" dirty="0"/>
          </a:p>
        </p:txBody>
      </p:sp>
      <p:sp>
        <p:nvSpPr>
          <p:cNvPr id="12" name="Text 10"/>
          <p:cNvSpPr/>
          <p:nvPr/>
        </p:nvSpPr>
        <p:spPr>
          <a:xfrm>
            <a:off x="6949440" y="457200"/>
            <a:ext cx="2011680" cy="502920"/>
          </a:xfrm>
          <a:prstGeom prst="rect">
            <a:avLst/>
          </a:prstGeom>
          <a:noFill/>
          <a:ln/>
        </p:spPr>
        <p:txBody>
          <a:bodyPr wrap="square" rtlCol="0" anchor="ctr"/>
          <a:lstStyle/>
          <a:p>
            <a:pPr marL="0" indent="0" algn="ctr">
              <a:buNone/>
            </a:pPr>
            <a:r>
              <a:rPr lang="en-US" sz="1200" dirty="0">
                <a:solidFill>
                  <a:srgbClr val="90E0EF"/>
                </a:solidFill>
                <a:latin typeface="Calibri" pitchFamily="34" charset="0"/>
                <a:ea typeface="Calibri" pitchFamily="34" charset="-122"/>
                <a:cs typeface="Calibri" pitchFamily="34" charset="-120"/>
              </a:rPr>
              <a:t>🌐 IoT</a:t>
            </a:r>
            <a:endParaRPr lang="en-US" sz="1200" dirty="0"/>
          </a:p>
        </p:txBody>
      </p:sp>
      <p:sp>
        <p:nvSpPr>
          <p:cNvPr id="13" name="Text 11"/>
          <p:cNvSpPr/>
          <p:nvPr/>
        </p:nvSpPr>
        <p:spPr>
          <a:xfrm>
            <a:off x="6949440" y="1188720"/>
            <a:ext cx="2011680" cy="502920"/>
          </a:xfrm>
          <a:prstGeom prst="rect">
            <a:avLst/>
          </a:prstGeom>
          <a:noFill/>
          <a:ln/>
        </p:spPr>
        <p:txBody>
          <a:bodyPr wrap="square" rtlCol="0" anchor="ctr"/>
          <a:lstStyle/>
          <a:p>
            <a:pPr marL="0" indent="0" algn="ctr">
              <a:buNone/>
            </a:pPr>
            <a:r>
              <a:rPr lang="en-US" sz="1200" dirty="0">
                <a:solidFill>
                  <a:srgbClr val="E2E8F0"/>
                </a:solidFill>
                <a:latin typeface="Calibri" pitchFamily="34" charset="0"/>
                <a:ea typeface="Calibri" pitchFamily="34" charset="-122"/>
                <a:cs typeface="Calibri" pitchFamily="34" charset="-120"/>
              </a:rPr>
              <a:t>⚙️ Embedded</a:t>
            </a:r>
            <a:endParaRPr lang="en-US" sz="1200" dirty="0"/>
          </a:p>
        </p:txBody>
      </p:sp>
      <p:sp>
        <p:nvSpPr>
          <p:cNvPr id="14" name="Text 12"/>
          <p:cNvSpPr/>
          <p:nvPr/>
        </p:nvSpPr>
        <p:spPr>
          <a:xfrm>
            <a:off x="6949440" y="1920240"/>
            <a:ext cx="2011680" cy="502920"/>
          </a:xfrm>
          <a:prstGeom prst="rect">
            <a:avLst/>
          </a:prstGeom>
          <a:noFill/>
          <a:ln/>
        </p:spPr>
        <p:txBody>
          <a:bodyPr wrap="square" rtlCol="0" anchor="ctr"/>
          <a:lstStyle/>
          <a:p>
            <a:pPr marL="0" indent="0" algn="ctr">
              <a:buNone/>
            </a:pPr>
            <a:r>
              <a:rPr lang="en-US" sz="1200" dirty="0">
                <a:solidFill>
                  <a:srgbClr val="90E0EF"/>
                </a:solidFill>
                <a:latin typeface="Calibri" pitchFamily="34" charset="0"/>
                <a:ea typeface="Calibri" pitchFamily="34" charset="-122"/>
                <a:cs typeface="Calibri" pitchFamily="34" charset="-120"/>
              </a:rPr>
              <a:t>🤖 Robotics</a:t>
            </a:r>
            <a:endParaRPr lang="en-US" sz="1200" dirty="0"/>
          </a:p>
        </p:txBody>
      </p:sp>
      <p:sp>
        <p:nvSpPr>
          <p:cNvPr id="15" name="Text 13"/>
          <p:cNvSpPr/>
          <p:nvPr/>
        </p:nvSpPr>
        <p:spPr>
          <a:xfrm>
            <a:off x="6949440" y="2651760"/>
            <a:ext cx="2011680" cy="502920"/>
          </a:xfrm>
          <a:prstGeom prst="rect">
            <a:avLst/>
          </a:prstGeom>
          <a:noFill/>
          <a:ln/>
        </p:spPr>
        <p:txBody>
          <a:bodyPr wrap="square" rtlCol="0" anchor="ctr"/>
          <a:lstStyle/>
          <a:p>
            <a:pPr marL="0" indent="0" algn="ctr">
              <a:buNone/>
            </a:pPr>
            <a:r>
              <a:rPr lang="en-US" sz="1200" dirty="0">
                <a:solidFill>
                  <a:srgbClr val="E2E8F0"/>
                </a:solidFill>
                <a:latin typeface="Calibri" pitchFamily="34" charset="0"/>
                <a:ea typeface="Calibri" pitchFamily="34" charset="-122"/>
                <a:cs typeface="Calibri" pitchFamily="34" charset="-120"/>
              </a:rPr>
              <a:t>🔧 CNC</a:t>
            </a:r>
            <a:endParaRPr lang="en-US" sz="1200" dirty="0"/>
          </a:p>
        </p:txBody>
      </p:sp>
      <p:sp>
        <p:nvSpPr>
          <p:cNvPr id="16" name="Text 14"/>
          <p:cNvSpPr/>
          <p:nvPr/>
        </p:nvSpPr>
        <p:spPr>
          <a:xfrm>
            <a:off x="6949440" y="3383280"/>
            <a:ext cx="2011680" cy="502920"/>
          </a:xfrm>
          <a:prstGeom prst="rect">
            <a:avLst/>
          </a:prstGeom>
          <a:noFill/>
          <a:ln/>
        </p:spPr>
        <p:txBody>
          <a:bodyPr wrap="square" rtlCol="0" anchor="ctr"/>
          <a:lstStyle/>
          <a:p>
            <a:pPr marL="0" indent="0" algn="ctr">
              <a:buNone/>
            </a:pPr>
            <a:r>
              <a:rPr lang="en-US" sz="1200" dirty="0">
                <a:solidFill>
                  <a:srgbClr val="90E0EF"/>
                </a:solidFill>
                <a:latin typeface="Calibri" pitchFamily="34" charset="0"/>
                <a:ea typeface="Calibri" pitchFamily="34" charset="-122"/>
                <a:cs typeface="Calibri" pitchFamily="34" charset="-120"/>
              </a:rPr>
              <a:t>💡 Sensors</a:t>
            </a:r>
            <a:endParaRPr lang="en-US" sz="1200" dirty="0"/>
          </a:p>
        </p:txBody>
      </p:sp>
      <p:sp>
        <p:nvSpPr>
          <p:cNvPr id="17" name="Text 15"/>
          <p:cNvSpPr/>
          <p:nvPr/>
        </p:nvSpPr>
        <p:spPr>
          <a:xfrm>
            <a:off x="6949440" y="4114800"/>
            <a:ext cx="2011680" cy="502920"/>
          </a:xfrm>
          <a:prstGeom prst="rect">
            <a:avLst/>
          </a:prstGeom>
          <a:noFill/>
          <a:ln/>
        </p:spPr>
        <p:txBody>
          <a:bodyPr wrap="square" rtlCol="0" anchor="ctr"/>
          <a:lstStyle/>
          <a:p>
            <a:pPr marL="0" indent="0" algn="ctr">
              <a:buNone/>
            </a:pPr>
            <a:r>
              <a:rPr lang="en-US" sz="1200" dirty="0">
                <a:solidFill>
                  <a:srgbClr val="E2E8F0"/>
                </a:solidFill>
                <a:latin typeface="Calibri" pitchFamily="34" charset="0"/>
                <a:ea typeface="Calibri" pitchFamily="34" charset="-122"/>
                <a:cs typeface="Calibri" pitchFamily="34" charset="-120"/>
              </a:rPr>
              <a:t>📡 Actuators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Table of Contents</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Topics covered in this presentation</a:t>
            </a:r>
            <a:endParaRPr lang="en-US" sz="1100" dirty="0"/>
          </a:p>
        </p:txBody>
      </p:sp>
      <p:sp>
        <p:nvSpPr>
          <p:cNvPr id="6" name="Shape 4"/>
          <p:cNvSpPr/>
          <p:nvPr/>
        </p:nvSpPr>
        <p:spPr>
          <a:xfrm>
            <a:off x="365760" y="1097280"/>
            <a:ext cx="8412480" cy="658368"/>
          </a:xfrm>
          <a:prstGeom prst="rect">
            <a:avLst/>
          </a:prstGeom>
          <a:solidFill>
            <a:srgbClr val="142030"/>
          </a:solidFill>
          <a:ln w="12700">
            <a:solidFill>
              <a:srgbClr val="142030"/>
            </a:solidFill>
            <a:prstDash val="solid"/>
          </a:ln>
        </p:spPr>
      </p:sp>
      <p:sp>
        <p:nvSpPr>
          <p:cNvPr id="7" name="Shape 5"/>
          <p:cNvSpPr/>
          <p:nvPr/>
        </p:nvSpPr>
        <p:spPr>
          <a:xfrm>
            <a:off x="365760" y="1097280"/>
            <a:ext cx="594360" cy="658368"/>
          </a:xfrm>
          <a:prstGeom prst="rect">
            <a:avLst/>
          </a:prstGeom>
          <a:solidFill>
            <a:srgbClr val="00B4D8"/>
          </a:solidFill>
          <a:ln w="12700">
            <a:solidFill>
              <a:srgbClr val="00B4D8"/>
            </a:solidFill>
            <a:prstDash val="solid"/>
          </a:ln>
        </p:spPr>
      </p:sp>
      <p:sp>
        <p:nvSpPr>
          <p:cNvPr id="8" name="Text 6"/>
          <p:cNvSpPr/>
          <p:nvPr/>
        </p:nvSpPr>
        <p:spPr>
          <a:xfrm>
            <a:off x="365760" y="1097280"/>
            <a:ext cx="594360" cy="65836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9" name="Text 7"/>
          <p:cNvSpPr/>
          <p:nvPr/>
        </p:nvSpPr>
        <p:spPr>
          <a:xfrm>
            <a:off x="1051560" y="1152144"/>
            <a:ext cx="530352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IoT, Embedded Systems &amp; Robotics</a:t>
            </a:r>
            <a:endParaRPr lang="en-US" sz="1500" dirty="0"/>
          </a:p>
        </p:txBody>
      </p:sp>
      <p:sp>
        <p:nvSpPr>
          <p:cNvPr id="10" name="Text 8"/>
          <p:cNvSpPr/>
          <p:nvPr/>
        </p:nvSpPr>
        <p:spPr>
          <a:xfrm>
            <a:off x="1051560" y="1435608"/>
            <a:ext cx="5303520" cy="256032"/>
          </a:xfrm>
          <a:prstGeom prst="rect">
            <a:avLst/>
          </a:prstGeom>
          <a:noFill/>
          <a:ln/>
        </p:spPr>
        <p:txBody>
          <a:bodyPr wrap="square" lIns="0" tIns="0" rIns="0" bIns="0" rtlCol="0" anchor="ctr"/>
          <a:lstStyle/>
          <a:p>
            <a:pPr marL="0" indent="0">
              <a:buNone/>
            </a:pPr>
            <a:r>
              <a:rPr lang="en-US" sz="1100" i="1" dirty="0">
                <a:solidFill>
                  <a:srgbClr val="7A90A8"/>
                </a:solidFill>
                <a:latin typeface="Calibri" pitchFamily="34" charset="0"/>
                <a:ea typeface="Calibri" pitchFamily="34" charset="-122"/>
                <a:cs typeface="Calibri" pitchFamily="34" charset="-120"/>
              </a:rPr>
              <a:t>Definitions, differences, applications</a:t>
            </a:r>
            <a:endParaRPr lang="en-US" sz="1100" dirty="0"/>
          </a:p>
        </p:txBody>
      </p:sp>
      <p:sp>
        <p:nvSpPr>
          <p:cNvPr id="11" name="Shape 9"/>
          <p:cNvSpPr/>
          <p:nvPr/>
        </p:nvSpPr>
        <p:spPr>
          <a:xfrm>
            <a:off x="365760" y="1865376"/>
            <a:ext cx="8412480" cy="658368"/>
          </a:xfrm>
          <a:prstGeom prst="rect">
            <a:avLst/>
          </a:prstGeom>
          <a:solidFill>
            <a:srgbClr val="142030"/>
          </a:solidFill>
          <a:ln w="12700">
            <a:solidFill>
              <a:srgbClr val="142030"/>
            </a:solidFill>
            <a:prstDash val="solid"/>
          </a:ln>
        </p:spPr>
      </p:sp>
      <p:sp>
        <p:nvSpPr>
          <p:cNvPr id="12" name="Shape 10"/>
          <p:cNvSpPr/>
          <p:nvPr/>
        </p:nvSpPr>
        <p:spPr>
          <a:xfrm>
            <a:off x="365760" y="1865376"/>
            <a:ext cx="594360" cy="658368"/>
          </a:xfrm>
          <a:prstGeom prst="rect">
            <a:avLst/>
          </a:prstGeom>
          <a:solidFill>
            <a:srgbClr val="F77F00"/>
          </a:solidFill>
          <a:ln w="12700">
            <a:solidFill>
              <a:srgbClr val="F77F00"/>
            </a:solidFill>
            <a:prstDash val="solid"/>
          </a:ln>
        </p:spPr>
      </p:sp>
      <p:sp>
        <p:nvSpPr>
          <p:cNvPr id="13" name="Text 11"/>
          <p:cNvSpPr/>
          <p:nvPr/>
        </p:nvSpPr>
        <p:spPr>
          <a:xfrm>
            <a:off x="365760" y="1865376"/>
            <a:ext cx="594360" cy="65836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4" name="Text 12"/>
          <p:cNvSpPr/>
          <p:nvPr/>
        </p:nvSpPr>
        <p:spPr>
          <a:xfrm>
            <a:off x="1051560" y="1920240"/>
            <a:ext cx="530352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CNC Machines &amp; G-code</a:t>
            </a:r>
            <a:endParaRPr lang="en-US" sz="1500" dirty="0"/>
          </a:p>
        </p:txBody>
      </p:sp>
      <p:sp>
        <p:nvSpPr>
          <p:cNvPr id="15" name="Text 13"/>
          <p:cNvSpPr/>
          <p:nvPr/>
        </p:nvSpPr>
        <p:spPr>
          <a:xfrm>
            <a:off x="1051560" y="2203704"/>
            <a:ext cx="5303520" cy="256032"/>
          </a:xfrm>
          <a:prstGeom prst="rect">
            <a:avLst/>
          </a:prstGeom>
          <a:noFill/>
          <a:ln/>
        </p:spPr>
        <p:txBody>
          <a:bodyPr wrap="square" lIns="0" tIns="0" rIns="0" bIns="0" rtlCol="0" anchor="ctr"/>
          <a:lstStyle/>
          <a:p>
            <a:pPr marL="0" indent="0">
              <a:buNone/>
            </a:pPr>
            <a:r>
              <a:rPr lang="en-US" sz="1100" i="1" dirty="0">
                <a:solidFill>
                  <a:srgbClr val="7A90A8"/>
                </a:solidFill>
                <a:latin typeface="Calibri" pitchFamily="34" charset="0"/>
                <a:ea typeface="Calibri" pitchFamily="34" charset="-122"/>
                <a:cs typeface="Calibri" pitchFamily="34" charset="-120"/>
              </a:rPr>
              <a:t>What is CNC, PCB fabrication, G-code commands</a:t>
            </a:r>
            <a:endParaRPr lang="en-US" sz="1100" dirty="0"/>
          </a:p>
        </p:txBody>
      </p:sp>
      <p:sp>
        <p:nvSpPr>
          <p:cNvPr id="16" name="Shape 14"/>
          <p:cNvSpPr/>
          <p:nvPr/>
        </p:nvSpPr>
        <p:spPr>
          <a:xfrm>
            <a:off x="365760" y="2633472"/>
            <a:ext cx="8412480" cy="658368"/>
          </a:xfrm>
          <a:prstGeom prst="rect">
            <a:avLst/>
          </a:prstGeom>
          <a:solidFill>
            <a:srgbClr val="142030"/>
          </a:solidFill>
          <a:ln w="12700">
            <a:solidFill>
              <a:srgbClr val="142030"/>
            </a:solidFill>
            <a:prstDash val="solid"/>
          </a:ln>
        </p:spPr>
      </p:sp>
      <p:sp>
        <p:nvSpPr>
          <p:cNvPr id="17" name="Shape 15"/>
          <p:cNvSpPr/>
          <p:nvPr/>
        </p:nvSpPr>
        <p:spPr>
          <a:xfrm>
            <a:off x="365760" y="2633472"/>
            <a:ext cx="594360" cy="658368"/>
          </a:xfrm>
          <a:prstGeom prst="rect">
            <a:avLst/>
          </a:prstGeom>
          <a:solidFill>
            <a:srgbClr val="00B4D8"/>
          </a:solidFill>
          <a:ln w="12700">
            <a:solidFill>
              <a:srgbClr val="00B4D8"/>
            </a:solidFill>
            <a:prstDash val="solid"/>
          </a:ln>
        </p:spPr>
      </p:sp>
      <p:sp>
        <p:nvSpPr>
          <p:cNvPr id="18" name="Text 16"/>
          <p:cNvSpPr/>
          <p:nvPr/>
        </p:nvSpPr>
        <p:spPr>
          <a:xfrm>
            <a:off x="365760" y="2633472"/>
            <a:ext cx="594360" cy="65836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9" name="Text 17"/>
          <p:cNvSpPr/>
          <p:nvPr/>
        </p:nvSpPr>
        <p:spPr>
          <a:xfrm>
            <a:off x="1051560" y="2688336"/>
            <a:ext cx="530352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Microcontrollers</a:t>
            </a:r>
            <a:endParaRPr lang="en-US" sz="1500" dirty="0"/>
          </a:p>
        </p:txBody>
      </p:sp>
      <p:sp>
        <p:nvSpPr>
          <p:cNvPr id="20" name="Text 18"/>
          <p:cNvSpPr/>
          <p:nvPr/>
        </p:nvSpPr>
        <p:spPr>
          <a:xfrm>
            <a:off x="1051560" y="2971800"/>
            <a:ext cx="5303520" cy="256032"/>
          </a:xfrm>
          <a:prstGeom prst="rect">
            <a:avLst/>
          </a:prstGeom>
          <a:noFill/>
          <a:ln/>
        </p:spPr>
        <p:txBody>
          <a:bodyPr wrap="square" lIns="0" tIns="0" rIns="0" bIns="0" rtlCol="0" anchor="ctr"/>
          <a:lstStyle/>
          <a:p>
            <a:pPr marL="0" indent="0">
              <a:buNone/>
            </a:pPr>
            <a:r>
              <a:rPr lang="en-US" sz="1100" i="1" dirty="0">
                <a:solidFill>
                  <a:srgbClr val="7A90A8"/>
                </a:solidFill>
                <a:latin typeface="Calibri" pitchFamily="34" charset="0"/>
                <a:ea typeface="Calibri" pitchFamily="34" charset="-122"/>
                <a:cs typeface="Calibri" pitchFamily="34" charset="-120"/>
              </a:rPr>
              <a:t>Definition, uses, Bangladesh availability &amp; price</a:t>
            </a:r>
            <a:endParaRPr lang="en-US" sz="1100" dirty="0"/>
          </a:p>
        </p:txBody>
      </p:sp>
      <p:sp>
        <p:nvSpPr>
          <p:cNvPr id="21" name="Shape 19"/>
          <p:cNvSpPr/>
          <p:nvPr/>
        </p:nvSpPr>
        <p:spPr>
          <a:xfrm>
            <a:off x="365760" y="3401568"/>
            <a:ext cx="8412480" cy="658368"/>
          </a:xfrm>
          <a:prstGeom prst="rect">
            <a:avLst/>
          </a:prstGeom>
          <a:solidFill>
            <a:srgbClr val="142030"/>
          </a:solidFill>
          <a:ln w="12700">
            <a:solidFill>
              <a:srgbClr val="142030"/>
            </a:solidFill>
            <a:prstDash val="solid"/>
          </a:ln>
        </p:spPr>
      </p:sp>
      <p:sp>
        <p:nvSpPr>
          <p:cNvPr id="22" name="Shape 20"/>
          <p:cNvSpPr/>
          <p:nvPr/>
        </p:nvSpPr>
        <p:spPr>
          <a:xfrm>
            <a:off x="365760" y="3401568"/>
            <a:ext cx="594360" cy="658368"/>
          </a:xfrm>
          <a:prstGeom prst="rect">
            <a:avLst/>
          </a:prstGeom>
          <a:solidFill>
            <a:srgbClr val="F77F00"/>
          </a:solidFill>
          <a:ln w="12700">
            <a:solidFill>
              <a:srgbClr val="F77F00"/>
            </a:solidFill>
            <a:prstDash val="solid"/>
          </a:ln>
        </p:spPr>
      </p:sp>
      <p:sp>
        <p:nvSpPr>
          <p:cNvPr id="23" name="Text 21"/>
          <p:cNvSpPr/>
          <p:nvPr/>
        </p:nvSpPr>
        <p:spPr>
          <a:xfrm>
            <a:off x="365760" y="3401568"/>
            <a:ext cx="594360" cy="65836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4" name="Text 22"/>
          <p:cNvSpPr/>
          <p:nvPr/>
        </p:nvSpPr>
        <p:spPr>
          <a:xfrm>
            <a:off x="1051560" y="3456432"/>
            <a:ext cx="530352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Sensors &amp; Actuators</a:t>
            </a:r>
            <a:endParaRPr lang="en-US" sz="1500" dirty="0"/>
          </a:p>
        </p:txBody>
      </p:sp>
      <p:sp>
        <p:nvSpPr>
          <p:cNvPr id="25" name="Text 23"/>
          <p:cNvSpPr/>
          <p:nvPr/>
        </p:nvSpPr>
        <p:spPr>
          <a:xfrm>
            <a:off x="1051560" y="3739896"/>
            <a:ext cx="5303520" cy="256032"/>
          </a:xfrm>
          <a:prstGeom prst="rect">
            <a:avLst/>
          </a:prstGeom>
          <a:noFill/>
          <a:ln/>
        </p:spPr>
        <p:txBody>
          <a:bodyPr wrap="square" lIns="0" tIns="0" rIns="0" bIns="0" rtlCol="0" anchor="ctr"/>
          <a:lstStyle/>
          <a:p>
            <a:pPr marL="0" indent="0">
              <a:buNone/>
            </a:pPr>
            <a:r>
              <a:rPr lang="en-US" sz="1100" i="1" dirty="0">
                <a:solidFill>
                  <a:srgbClr val="7A90A8"/>
                </a:solidFill>
                <a:latin typeface="Calibri" pitchFamily="34" charset="0"/>
                <a:ea typeface="Calibri" pitchFamily="34" charset="-122"/>
                <a:cs typeface="Calibri" pitchFamily="34" charset="-120"/>
              </a:rPr>
              <a:t>Types, functionalities, applications</a:t>
            </a:r>
            <a:endParaRPr lang="en-US" sz="1100" dirty="0"/>
          </a:p>
        </p:txBody>
      </p:sp>
      <p:sp>
        <p:nvSpPr>
          <p:cNvPr id="26" name="Shape 24"/>
          <p:cNvSpPr/>
          <p:nvPr/>
        </p:nvSpPr>
        <p:spPr>
          <a:xfrm>
            <a:off x="365760" y="4169664"/>
            <a:ext cx="8412480" cy="658368"/>
          </a:xfrm>
          <a:prstGeom prst="rect">
            <a:avLst/>
          </a:prstGeom>
          <a:solidFill>
            <a:srgbClr val="142030"/>
          </a:solidFill>
          <a:ln w="12700">
            <a:solidFill>
              <a:srgbClr val="142030"/>
            </a:solidFill>
            <a:prstDash val="solid"/>
          </a:ln>
        </p:spPr>
      </p:sp>
      <p:sp>
        <p:nvSpPr>
          <p:cNvPr id="27" name="Shape 25"/>
          <p:cNvSpPr/>
          <p:nvPr/>
        </p:nvSpPr>
        <p:spPr>
          <a:xfrm>
            <a:off x="365760" y="4169664"/>
            <a:ext cx="594360" cy="658368"/>
          </a:xfrm>
          <a:prstGeom prst="rect">
            <a:avLst/>
          </a:prstGeom>
          <a:solidFill>
            <a:srgbClr val="00B4D8"/>
          </a:solidFill>
          <a:ln w="12700">
            <a:solidFill>
              <a:srgbClr val="00B4D8"/>
            </a:solidFill>
            <a:prstDash val="solid"/>
          </a:ln>
        </p:spPr>
      </p:sp>
      <p:sp>
        <p:nvSpPr>
          <p:cNvPr id="28" name="Text 26"/>
          <p:cNvSpPr/>
          <p:nvPr/>
        </p:nvSpPr>
        <p:spPr>
          <a:xfrm>
            <a:off x="365760" y="4169664"/>
            <a:ext cx="594360" cy="65836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9" name="Text 27"/>
          <p:cNvSpPr/>
          <p:nvPr/>
        </p:nvSpPr>
        <p:spPr>
          <a:xfrm>
            <a:off x="1051560" y="4224528"/>
            <a:ext cx="530352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Real-Life System Examples</a:t>
            </a:r>
            <a:endParaRPr lang="en-US" sz="1500" dirty="0"/>
          </a:p>
        </p:txBody>
      </p:sp>
      <p:sp>
        <p:nvSpPr>
          <p:cNvPr id="30" name="Text 28"/>
          <p:cNvSpPr/>
          <p:nvPr/>
        </p:nvSpPr>
        <p:spPr>
          <a:xfrm>
            <a:off x="1051560" y="4507992"/>
            <a:ext cx="5303520" cy="256032"/>
          </a:xfrm>
          <a:prstGeom prst="rect">
            <a:avLst/>
          </a:prstGeom>
          <a:noFill/>
          <a:ln/>
        </p:spPr>
        <p:txBody>
          <a:bodyPr wrap="square" lIns="0" tIns="0" rIns="0" bIns="0" rtlCol="0" anchor="ctr"/>
          <a:lstStyle/>
          <a:p>
            <a:pPr marL="0" indent="0">
              <a:buNone/>
            </a:pPr>
            <a:r>
              <a:rPr lang="en-US" sz="1100" i="1" dirty="0">
                <a:solidFill>
                  <a:srgbClr val="7A90A8"/>
                </a:solidFill>
                <a:latin typeface="Calibri" pitchFamily="34" charset="0"/>
                <a:ea typeface="Calibri" pitchFamily="34" charset="-122"/>
                <a:cs typeface="Calibri" pitchFamily="34" charset="-120"/>
              </a:rPr>
              <a:t>Traffic light system &amp; smart farm automation</a:t>
            </a:r>
            <a:endParaRPr lang="en-US" sz="1100" dirty="0"/>
          </a:p>
        </p:txBody>
      </p:sp>
      <p:sp>
        <p:nvSpPr>
          <p:cNvPr id="31" name="Shape 29"/>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txBody>
          <a:bodyPr/>
          <a:lstStyle/>
          <a:p>
            <a:endParaRPr lang="en-US" dirty="0"/>
          </a:p>
        </p:txBody>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IoT(Internet of Things)</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Section 1.1.1 — Definition &amp; Overview</a:t>
            </a:r>
            <a:endParaRPr lang="en-US" sz="1100" dirty="0"/>
          </a:p>
        </p:txBody>
      </p:sp>
      <p:sp>
        <p:nvSpPr>
          <p:cNvPr id="6" name="Text 4"/>
          <p:cNvSpPr/>
          <p:nvPr/>
        </p:nvSpPr>
        <p:spPr>
          <a:xfrm>
            <a:off x="365760" y="1097280"/>
            <a:ext cx="5029200" cy="365760"/>
          </a:xfrm>
          <a:prstGeom prst="rect">
            <a:avLst/>
          </a:prstGeom>
          <a:noFill/>
          <a:ln/>
        </p:spPr>
        <p:txBody>
          <a:bodyPr wrap="square" lIns="0" tIns="0" rIns="0" bIns="0"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What is IoT?</a:t>
            </a:r>
            <a:endParaRPr lang="en-US" sz="1600" dirty="0"/>
          </a:p>
        </p:txBody>
      </p:sp>
      <p:sp>
        <p:nvSpPr>
          <p:cNvPr id="7" name="Text 5"/>
          <p:cNvSpPr/>
          <p:nvPr/>
        </p:nvSpPr>
        <p:spPr>
          <a:xfrm>
            <a:off x="365760" y="1508760"/>
            <a:ext cx="5029200" cy="1188720"/>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The Internet of Things (IoT) refers to a network of physical objects — "things" — embedded with sensors, software, and connectivity that enable them to collect and exchange data over the internet, without requiring human-to-human or human-to-computer interaction.</a:t>
            </a:r>
            <a:endParaRPr lang="en-US" sz="1300" dirty="0"/>
          </a:p>
        </p:txBody>
      </p:sp>
      <p:sp>
        <p:nvSpPr>
          <p:cNvPr id="8" name="Text 6"/>
          <p:cNvSpPr/>
          <p:nvPr/>
        </p:nvSpPr>
        <p:spPr>
          <a:xfrm>
            <a:off x="365760" y="2788920"/>
            <a:ext cx="5029200" cy="320040"/>
          </a:xfrm>
          <a:prstGeom prst="rect">
            <a:avLst/>
          </a:prstGeom>
          <a:noFill/>
          <a:ln/>
        </p:spPr>
        <p:txBody>
          <a:bodyPr wrap="square" lIns="0" tIns="0" rIns="0" bIns="0" rtlCol="0" anchor="ctr"/>
          <a:lstStyle/>
          <a:p>
            <a:pPr marL="0" indent="0">
              <a:buNone/>
            </a:pPr>
            <a:r>
              <a:rPr lang="en-US" sz="1500" b="1" dirty="0">
                <a:solidFill>
                  <a:srgbClr val="48CAE4"/>
                </a:solidFill>
                <a:latin typeface="Calibri" pitchFamily="34" charset="0"/>
                <a:ea typeface="Calibri" pitchFamily="34" charset="-122"/>
                <a:cs typeface="Calibri" pitchFamily="34" charset="-120"/>
              </a:rPr>
              <a:t>Key Areas of IoT:</a:t>
            </a:r>
            <a:endParaRPr lang="en-US" sz="1500" dirty="0"/>
          </a:p>
        </p:txBody>
      </p:sp>
      <p:sp>
        <p:nvSpPr>
          <p:cNvPr id="9" name="Text 7"/>
          <p:cNvSpPr/>
          <p:nvPr/>
        </p:nvSpPr>
        <p:spPr>
          <a:xfrm>
            <a:off x="365760" y="3154680"/>
            <a:ext cx="5029200" cy="1645920"/>
          </a:xfrm>
          <a:prstGeom prst="rect">
            <a:avLst/>
          </a:prstGeom>
          <a:noFill/>
          <a:ln/>
        </p:spPr>
        <p:txBody>
          <a:bodyPr wrap="square" rtlCol="0" anchor="ctr"/>
          <a:lstStyle/>
          <a:p>
            <a:pPr marL="342900" indent="-342900">
              <a:spcAft>
                <a:spcPts val="300"/>
              </a:spcAft>
              <a:buSzPct val="100000"/>
              <a:buChar char="•"/>
            </a:pPr>
            <a:r>
              <a:rPr lang="en-US" sz="1250" dirty="0">
                <a:solidFill>
                  <a:srgbClr val="E2E8F0"/>
                </a:solidFill>
                <a:latin typeface="Calibri" pitchFamily="34" charset="0"/>
                <a:ea typeface="Calibri" pitchFamily="34" charset="-122"/>
                <a:cs typeface="Calibri" pitchFamily="34" charset="-120"/>
              </a:rPr>
              <a:t>Smart Home</a:t>
            </a:r>
            <a:endParaRPr lang="en-US" sz="1250" dirty="0"/>
          </a:p>
          <a:p>
            <a:pPr marL="342900" indent="-342900">
              <a:spcAft>
                <a:spcPts val="300"/>
              </a:spcAft>
              <a:buSzPct val="100000"/>
              <a:buChar char="•"/>
            </a:pPr>
            <a:r>
              <a:rPr lang="en-US" sz="1250" dirty="0">
                <a:solidFill>
                  <a:srgbClr val="E2E8F0"/>
                </a:solidFill>
                <a:latin typeface="Calibri" pitchFamily="34" charset="0"/>
                <a:ea typeface="Calibri" pitchFamily="34" charset="-122"/>
                <a:cs typeface="Calibri" pitchFamily="34" charset="-120"/>
              </a:rPr>
              <a:t>Industrial IoT (IIoT)</a:t>
            </a:r>
            <a:endParaRPr lang="en-US" sz="1250" dirty="0"/>
          </a:p>
          <a:p>
            <a:pPr marL="342900" indent="-342900">
              <a:spcAft>
                <a:spcPts val="300"/>
              </a:spcAft>
              <a:buSzPct val="100000"/>
              <a:buChar char="•"/>
            </a:pPr>
            <a:r>
              <a:rPr lang="en-US" sz="1250" dirty="0">
                <a:solidFill>
                  <a:srgbClr val="E2E8F0"/>
                </a:solidFill>
                <a:latin typeface="Calibri" pitchFamily="34" charset="0"/>
                <a:ea typeface="Calibri" pitchFamily="34" charset="-122"/>
                <a:cs typeface="Calibri" pitchFamily="34" charset="-120"/>
              </a:rPr>
              <a:t>Healthcare &amp; Wearables</a:t>
            </a:r>
            <a:endParaRPr lang="en-US" sz="1250" dirty="0"/>
          </a:p>
          <a:p>
            <a:pPr marL="342900" indent="-342900">
              <a:spcAft>
                <a:spcPts val="300"/>
              </a:spcAft>
              <a:buSzPct val="100000"/>
              <a:buChar char="•"/>
            </a:pPr>
            <a:r>
              <a:rPr lang="en-US" sz="1250" dirty="0">
                <a:solidFill>
                  <a:srgbClr val="E2E8F0"/>
                </a:solidFill>
                <a:latin typeface="Calibri" pitchFamily="34" charset="0"/>
                <a:ea typeface="Calibri" pitchFamily="34" charset="-122"/>
                <a:cs typeface="Calibri" pitchFamily="34" charset="-120"/>
              </a:rPr>
              <a:t>Smart Agriculture</a:t>
            </a:r>
            <a:endParaRPr lang="en-US" sz="1250" dirty="0"/>
          </a:p>
          <a:p>
            <a:pPr marL="342900" indent="-342900">
              <a:spcAft>
                <a:spcPts val="300"/>
              </a:spcAft>
              <a:buSzPct val="100000"/>
              <a:buChar char="•"/>
            </a:pPr>
            <a:r>
              <a:rPr lang="en-US" sz="1250" dirty="0">
                <a:solidFill>
                  <a:srgbClr val="E2E8F0"/>
                </a:solidFill>
                <a:latin typeface="Calibri" pitchFamily="34" charset="0"/>
                <a:ea typeface="Calibri" pitchFamily="34" charset="-122"/>
                <a:cs typeface="Calibri" pitchFamily="34" charset="-120"/>
              </a:rPr>
              <a:t>Smart Cities</a:t>
            </a:r>
            <a:endParaRPr lang="en-US" sz="1250" dirty="0"/>
          </a:p>
          <a:p>
            <a:pPr marL="342900" indent="-342900">
              <a:spcAft>
                <a:spcPts val="300"/>
              </a:spcAft>
              <a:buSzPct val="100000"/>
              <a:buChar char="•"/>
            </a:pPr>
            <a:r>
              <a:rPr lang="en-US" sz="1250" dirty="0">
                <a:solidFill>
                  <a:srgbClr val="E2E8F0"/>
                </a:solidFill>
                <a:latin typeface="Calibri" pitchFamily="34" charset="0"/>
                <a:ea typeface="Calibri" pitchFamily="34" charset="-122"/>
                <a:cs typeface="Calibri" pitchFamily="34" charset="-120"/>
              </a:rPr>
              <a:t>Retail &amp; Supply Chain</a:t>
            </a:r>
            <a:endParaRPr lang="en-US" sz="1250" dirty="0"/>
          </a:p>
        </p:txBody>
      </p:sp>
      <p:sp>
        <p:nvSpPr>
          <p:cNvPr id="11" name="Shape 8"/>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1.1.2 Applications:</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Internet of Things — Real-World Use Cases</a:t>
            </a:r>
            <a:endParaRPr lang="en-US" sz="1100" dirty="0"/>
          </a:p>
        </p:txBody>
      </p:sp>
      <p:pic>
        <p:nvPicPr>
          <p:cNvPr id="6" name="Image 0" descr="preencoded.png"/>
          <p:cNvPicPr>
            <a:picLocks noChangeAspect="1"/>
          </p:cNvPicPr>
          <p:nvPr/>
        </p:nvPicPr>
        <p:blipFill>
          <a:blip r:embed="rId3"/>
          <a:srcRect/>
          <a:stretch/>
        </p:blipFill>
        <p:spPr>
          <a:xfrm>
            <a:off x="274320" y="1005840"/>
            <a:ext cx="3931920" cy="3840480"/>
          </a:xfrm>
          <a:prstGeom prst="rect">
            <a:avLst/>
          </a:prstGeom>
        </p:spPr>
      </p:pic>
      <p:sp>
        <p:nvSpPr>
          <p:cNvPr id="7" name="Shape 4"/>
          <p:cNvSpPr/>
          <p:nvPr/>
        </p:nvSpPr>
        <p:spPr>
          <a:xfrm>
            <a:off x="4389120" y="1078992"/>
            <a:ext cx="2240280" cy="1143000"/>
          </a:xfrm>
          <a:prstGeom prst="rect">
            <a:avLst/>
          </a:prstGeom>
          <a:solidFill>
            <a:srgbClr val="142030"/>
          </a:solidFill>
          <a:ln w="12700">
            <a:solidFill>
              <a:srgbClr val="3A5070"/>
            </a:solidFill>
            <a:prstDash val="solid"/>
          </a:ln>
        </p:spPr>
      </p:sp>
      <p:sp>
        <p:nvSpPr>
          <p:cNvPr id="8" name="Shape 5"/>
          <p:cNvSpPr/>
          <p:nvPr/>
        </p:nvSpPr>
        <p:spPr>
          <a:xfrm>
            <a:off x="4389120" y="1078992"/>
            <a:ext cx="2240280" cy="201168"/>
          </a:xfrm>
          <a:prstGeom prst="rect">
            <a:avLst/>
          </a:prstGeom>
          <a:solidFill>
            <a:srgbClr val="00B4D8"/>
          </a:solidFill>
          <a:ln w="12700">
            <a:solidFill>
              <a:srgbClr val="00B4D8"/>
            </a:solidFill>
            <a:prstDash val="solid"/>
          </a:ln>
        </p:spPr>
      </p:sp>
      <p:sp>
        <p:nvSpPr>
          <p:cNvPr id="9" name="Text 6"/>
          <p:cNvSpPr/>
          <p:nvPr/>
        </p:nvSpPr>
        <p:spPr>
          <a:xfrm>
            <a:off x="4462272" y="1097280"/>
            <a:ext cx="2103120" cy="16459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Smart Home</a:t>
            </a:r>
            <a:endParaRPr lang="en-US" sz="950" dirty="0"/>
          </a:p>
        </p:txBody>
      </p:sp>
      <p:sp>
        <p:nvSpPr>
          <p:cNvPr id="10" name="Text 7"/>
          <p:cNvSpPr/>
          <p:nvPr/>
        </p:nvSpPr>
        <p:spPr>
          <a:xfrm>
            <a:off x="4462272" y="1316736"/>
            <a:ext cx="2103120" cy="77724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Automated lighting, security cameras, thermostats, voice assistants</a:t>
            </a:r>
            <a:endParaRPr lang="en-US" sz="1000" dirty="0"/>
          </a:p>
        </p:txBody>
      </p:sp>
      <p:sp>
        <p:nvSpPr>
          <p:cNvPr id="11" name="Shape 8"/>
          <p:cNvSpPr/>
          <p:nvPr/>
        </p:nvSpPr>
        <p:spPr>
          <a:xfrm>
            <a:off x="4389120" y="2359152"/>
            <a:ext cx="2240280" cy="1143000"/>
          </a:xfrm>
          <a:prstGeom prst="rect">
            <a:avLst/>
          </a:prstGeom>
          <a:solidFill>
            <a:srgbClr val="142030"/>
          </a:solidFill>
          <a:ln w="12700">
            <a:solidFill>
              <a:srgbClr val="3A5070"/>
            </a:solidFill>
            <a:prstDash val="solid"/>
          </a:ln>
        </p:spPr>
      </p:sp>
      <p:sp>
        <p:nvSpPr>
          <p:cNvPr id="12" name="Shape 9"/>
          <p:cNvSpPr/>
          <p:nvPr/>
        </p:nvSpPr>
        <p:spPr>
          <a:xfrm>
            <a:off x="4389120" y="2359152"/>
            <a:ext cx="2240280" cy="201168"/>
          </a:xfrm>
          <a:prstGeom prst="rect">
            <a:avLst/>
          </a:prstGeom>
          <a:solidFill>
            <a:srgbClr val="F77F00"/>
          </a:solidFill>
          <a:ln w="12700">
            <a:solidFill>
              <a:srgbClr val="F77F00"/>
            </a:solidFill>
            <a:prstDash val="solid"/>
          </a:ln>
        </p:spPr>
      </p:sp>
      <p:sp>
        <p:nvSpPr>
          <p:cNvPr id="13" name="Text 10"/>
          <p:cNvSpPr/>
          <p:nvPr/>
        </p:nvSpPr>
        <p:spPr>
          <a:xfrm>
            <a:off x="4462272" y="2377440"/>
            <a:ext cx="2103120" cy="16459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Industrial IoT</a:t>
            </a:r>
            <a:endParaRPr lang="en-US" sz="950" dirty="0"/>
          </a:p>
        </p:txBody>
      </p:sp>
      <p:sp>
        <p:nvSpPr>
          <p:cNvPr id="14" name="Text 11"/>
          <p:cNvSpPr/>
          <p:nvPr/>
        </p:nvSpPr>
        <p:spPr>
          <a:xfrm>
            <a:off x="4462272" y="2596896"/>
            <a:ext cx="2103120" cy="77724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Predictive maintenance, asset tracking, process automation</a:t>
            </a:r>
            <a:endParaRPr lang="en-US" sz="1000" dirty="0"/>
          </a:p>
        </p:txBody>
      </p:sp>
      <p:sp>
        <p:nvSpPr>
          <p:cNvPr id="15" name="Shape 12"/>
          <p:cNvSpPr/>
          <p:nvPr/>
        </p:nvSpPr>
        <p:spPr>
          <a:xfrm>
            <a:off x="4389120" y="3639312"/>
            <a:ext cx="2240280" cy="1143000"/>
          </a:xfrm>
          <a:prstGeom prst="rect">
            <a:avLst/>
          </a:prstGeom>
          <a:solidFill>
            <a:srgbClr val="142030"/>
          </a:solidFill>
          <a:ln w="12700">
            <a:solidFill>
              <a:srgbClr val="3A5070"/>
            </a:solidFill>
            <a:prstDash val="solid"/>
          </a:ln>
        </p:spPr>
      </p:sp>
      <p:sp>
        <p:nvSpPr>
          <p:cNvPr id="16" name="Shape 13"/>
          <p:cNvSpPr/>
          <p:nvPr/>
        </p:nvSpPr>
        <p:spPr>
          <a:xfrm>
            <a:off x="4389120" y="3639312"/>
            <a:ext cx="2240280" cy="201168"/>
          </a:xfrm>
          <a:prstGeom prst="rect">
            <a:avLst/>
          </a:prstGeom>
          <a:solidFill>
            <a:srgbClr val="00B4D8"/>
          </a:solidFill>
          <a:ln w="12700">
            <a:solidFill>
              <a:srgbClr val="00B4D8"/>
            </a:solidFill>
            <a:prstDash val="solid"/>
          </a:ln>
        </p:spPr>
      </p:sp>
      <p:sp>
        <p:nvSpPr>
          <p:cNvPr id="17" name="Text 14"/>
          <p:cNvSpPr/>
          <p:nvPr/>
        </p:nvSpPr>
        <p:spPr>
          <a:xfrm>
            <a:off x="4462272" y="3657600"/>
            <a:ext cx="2103120" cy="16459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Healthcare</a:t>
            </a:r>
            <a:endParaRPr lang="en-US" sz="950" dirty="0"/>
          </a:p>
        </p:txBody>
      </p:sp>
      <p:sp>
        <p:nvSpPr>
          <p:cNvPr id="18" name="Text 15"/>
          <p:cNvSpPr/>
          <p:nvPr/>
        </p:nvSpPr>
        <p:spPr>
          <a:xfrm>
            <a:off x="4462272" y="3877056"/>
            <a:ext cx="2103120" cy="77724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Patient monitoring, smart hospitals, wearable health trackers</a:t>
            </a:r>
            <a:endParaRPr lang="en-US" sz="1000" dirty="0"/>
          </a:p>
        </p:txBody>
      </p:sp>
      <p:sp>
        <p:nvSpPr>
          <p:cNvPr id="19" name="Shape 16"/>
          <p:cNvSpPr/>
          <p:nvPr/>
        </p:nvSpPr>
        <p:spPr>
          <a:xfrm>
            <a:off x="6766560" y="1078992"/>
            <a:ext cx="2240280" cy="1143000"/>
          </a:xfrm>
          <a:prstGeom prst="rect">
            <a:avLst/>
          </a:prstGeom>
          <a:solidFill>
            <a:srgbClr val="142030"/>
          </a:solidFill>
          <a:ln w="12700">
            <a:solidFill>
              <a:srgbClr val="3A5070"/>
            </a:solidFill>
            <a:prstDash val="solid"/>
          </a:ln>
        </p:spPr>
      </p:sp>
      <p:sp>
        <p:nvSpPr>
          <p:cNvPr id="20" name="Shape 17"/>
          <p:cNvSpPr/>
          <p:nvPr/>
        </p:nvSpPr>
        <p:spPr>
          <a:xfrm>
            <a:off x="6766560" y="1078992"/>
            <a:ext cx="2240280" cy="201168"/>
          </a:xfrm>
          <a:prstGeom prst="rect">
            <a:avLst/>
          </a:prstGeom>
          <a:solidFill>
            <a:srgbClr val="F77F00"/>
          </a:solidFill>
          <a:ln w="12700">
            <a:solidFill>
              <a:srgbClr val="F77F00"/>
            </a:solidFill>
            <a:prstDash val="solid"/>
          </a:ln>
        </p:spPr>
      </p:sp>
      <p:sp>
        <p:nvSpPr>
          <p:cNvPr id="21" name="Text 18"/>
          <p:cNvSpPr/>
          <p:nvPr/>
        </p:nvSpPr>
        <p:spPr>
          <a:xfrm>
            <a:off x="6839712" y="1097280"/>
            <a:ext cx="2103120" cy="16459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Smart Agri</a:t>
            </a:r>
            <a:endParaRPr lang="en-US" sz="950" dirty="0"/>
          </a:p>
        </p:txBody>
      </p:sp>
      <p:sp>
        <p:nvSpPr>
          <p:cNvPr id="22" name="Text 19"/>
          <p:cNvSpPr/>
          <p:nvPr/>
        </p:nvSpPr>
        <p:spPr>
          <a:xfrm>
            <a:off x="6839712" y="1316736"/>
            <a:ext cx="2103120" cy="77724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Soil monitoring, drone irrigation, smart greenhouses</a:t>
            </a:r>
            <a:endParaRPr lang="en-US" sz="1000" dirty="0"/>
          </a:p>
        </p:txBody>
      </p:sp>
      <p:sp>
        <p:nvSpPr>
          <p:cNvPr id="23" name="Shape 20"/>
          <p:cNvSpPr/>
          <p:nvPr/>
        </p:nvSpPr>
        <p:spPr>
          <a:xfrm>
            <a:off x="6766560" y="2359152"/>
            <a:ext cx="2240280" cy="1143000"/>
          </a:xfrm>
          <a:prstGeom prst="rect">
            <a:avLst/>
          </a:prstGeom>
          <a:solidFill>
            <a:srgbClr val="142030"/>
          </a:solidFill>
          <a:ln w="12700">
            <a:solidFill>
              <a:srgbClr val="3A5070"/>
            </a:solidFill>
            <a:prstDash val="solid"/>
          </a:ln>
        </p:spPr>
      </p:sp>
      <p:sp>
        <p:nvSpPr>
          <p:cNvPr id="24" name="Shape 21"/>
          <p:cNvSpPr/>
          <p:nvPr/>
        </p:nvSpPr>
        <p:spPr>
          <a:xfrm>
            <a:off x="6766560" y="2359152"/>
            <a:ext cx="2240280" cy="201168"/>
          </a:xfrm>
          <a:prstGeom prst="rect">
            <a:avLst/>
          </a:prstGeom>
          <a:solidFill>
            <a:srgbClr val="00B4D8"/>
          </a:solidFill>
          <a:ln w="12700">
            <a:solidFill>
              <a:srgbClr val="00B4D8"/>
            </a:solidFill>
            <a:prstDash val="solid"/>
          </a:ln>
        </p:spPr>
      </p:sp>
      <p:sp>
        <p:nvSpPr>
          <p:cNvPr id="25" name="Text 22"/>
          <p:cNvSpPr/>
          <p:nvPr/>
        </p:nvSpPr>
        <p:spPr>
          <a:xfrm>
            <a:off x="6839712" y="2377440"/>
            <a:ext cx="2103120" cy="16459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Smart Cities</a:t>
            </a:r>
            <a:endParaRPr lang="en-US" sz="950" dirty="0"/>
          </a:p>
        </p:txBody>
      </p:sp>
      <p:sp>
        <p:nvSpPr>
          <p:cNvPr id="26" name="Text 23"/>
          <p:cNvSpPr/>
          <p:nvPr/>
        </p:nvSpPr>
        <p:spPr>
          <a:xfrm>
            <a:off x="6839712" y="2596896"/>
            <a:ext cx="2103120" cy="77724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Traffic management, waste management, smart grids</a:t>
            </a:r>
            <a:endParaRPr lang="en-US" sz="1000" dirty="0"/>
          </a:p>
        </p:txBody>
      </p:sp>
      <p:sp>
        <p:nvSpPr>
          <p:cNvPr id="27" name="Shape 24"/>
          <p:cNvSpPr/>
          <p:nvPr/>
        </p:nvSpPr>
        <p:spPr>
          <a:xfrm>
            <a:off x="6766560" y="3639312"/>
            <a:ext cx="2240280" cy="1143000"/>
          </a:xfrm>
          <a:prstGeom prst="rect">
            <a:avLst/>
          </a:prstGeom>
          <a:solidFill>
            <a:srgbClr val="142030"/>
          </a:solidFill>
          <a:ln w="12700">
            <a:solidFill>
              <a:srgbClr val="3A5070"/>
            </a:solidFill>
            <a:prstDash val="solid"/>
          </a:ln>
        </p:spPr>
      </p:sp>
      <p:sp>
        <p:nvSpPr>
          <p:cNvPr id="28" name="Shape 25"/>
          <p:cNvSpPr/>
          <p:nvPr/>
        </p:nvSpPr>
        <p:spPr>
          <a:xfrm>
            <a:off x="6766560" y="3639312"/>
            <a:ext cx="2240280" cy="201168"/>
          </a:xfrm>
          <a:prstGeom prst="rect">
            <a:avLst/>
          </a:prstGeom>
          <a:solidFill>
            <a:srgbClr val="F77F00"/>
          </a:solidFill>
          <a:ln w="12700">
            <a:solidFill>
              <a:srgbClr val="F77F00"/>
            </a:solidFill>
            <a:prstDash val="solid"/>
          </a:ln>
        </p:spPr>
      </p:sp>
      <p:sp>
        <p:nvSpPr>
          <p:cNvPr id="29" name="Text 26"/>
          <p:cNvSpPr/>
          <p:nvPr/>
        </p:nvSpPr>
        <p:spPr>
          <a:xfrm>
            <a:off x="6839712" y="3657600"/>
            <a:ext cx="2103120" cy="16459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Retail &amp; Supply</a:t>
            </a:r>
            <a:endParaRPr lang="en-US" sz="950" dirty="0"/>
          </a:p>
        </p:txBody>
      </p:sp>
      <p:sp>
        <p:nvSpPr>
          <p:cNvPr id="30" name="Text 27"/>
          <p:cNvSpPr/>
          <p:nvPr/>
        </p:nvSpPr>
        <p:spPr>
          <a:xfrm>
            <a:off x="6839712" y="3877056"/>
            <a:ext cx="2103120" cy="77724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Inventory tracking, automated checkouts, cold chain</a:t>
            </a:r>
            <a:endParaRPr lang="en-US" sz="1000" dirty="0"/>
          </a:p>
        </p:txBody>
      </p:sp>
      <p:sp>
        <p:nvSpPr>
          <p:cNvPr id="31" name="Shape 28"/>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628"/>
        </a:solidFill>
        <a:effectLst/>
      </p:bgPr>
    </p:bg>
    <p:spTree>
      <p:nvGrpSpPr>
        <p:cNvPr id="1" name="">
          <a:extLst>
            <a:ext uri="{FF2B5EF4-FFF2-40B4-BE49-F238E27FC236}">
              <a16:creationId xmlns:a16="http://schemas.microsoft.com/office/drawing/2014/main" id="{FEF915EB-D4F8-6180-0BCA-9A4DB2ECF26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2ED605-FAFC-2C79-ACC9-19EC2036881F}"/>
              </a:ext>
            </a:extLst>
          </p:cNvPr>
          <p:cNvSpPr/>
          <p:nvPr/>
        </p:nvSpPr>
        <p:spPr>
          <a:xfrm>
            <a:off x="73152" y="0"/>
            <a:ext cx="9144000" cy="960120"/>
          </a:xfrm>
          <a:prstGeom prst="rect">
            <a:avLst/>
          </a:prstGeom>
          <a:solidFill>
            <a:srgbClr val="050C18"/>
          </a:solidFill>
          <a:ln w="12700">
            <a:solidFill>
              <a:srgbClr val="050C18"/>
            </a:solidFill>
            <a:prstDash val="solid"/>
          </a:ln>
        </p:spPr>
        <p:txBody>
          <a:bodyPr/>
          <a:lstStyle/>
          <a:p>
            <a:endParaRPr lang="en-US" dirty="0"/>
          </a:p>
        </p:txBody>
      </p:sp>
      <p:sp>
        <p:nvSpPr>
          <p:cNvPr id="3" name="Shape 1">
            <a:extLst>
              <a:ext uri="{FF2B5EF4-FFF2-40B4-BE49-F238E27FC236}">
                <a16:creationId xmlns:a16="http://schemas.microsoft.com/office/drawing/2014/main" id="{C1F10210-EDDA-0E49-F9F6-22CD976022DC}"/>
              </a:ext>
            </a:extLst>
          </p:cNvPr>
          <p:cNvSpPr/>
          <p:nvPr/>
        </p:nvSpPr>
        <p:spPr>
          <a:xfrm>
            <a:off x="0" y="0"/>
            <a:ext cx="201168" cy="960120"/>
          </a:xfrm>
          <a:prstGeom prst="rect">
            <a:avLst/>
          </a:prstGeom>
          <a:solidFill>
            <a:srgbClr val="00B4D8"/>
          </a:solidFill>
          <a:ln w="12700">
            <a:solidFill>
              <a:srgbClr val="00B4D8"/>
            </a:solidFill>
            <a:prstDash val="solid"/>
          </a:ln>
        </p:spPr>
      </p:sp>
      <p:sp>
        <p:nvSpPr>
          <p:cNvPr id="4" name="Text 2">
            <a:extLst>
              <a:ext uri="{FF2B5EF4-FFF2-40B4-BE49-F238E27FC236}">
                <a16:creationId xmlns:a16="http://schemas.microsoft.com/office/drawing/2014/main" id="{011E389D-9EB6-47A5-2AD1-D8F30AADB34A}"/>
              </a:ext>
            </a:extLst>
          </p:cNvPr>
          <p:cNvSpPr/>
          <p:nvPr/>
        </p:nvSpPr>
        <p:spPr>
          <a:xfrm>
            <a:off x="347472" y="91440"/>
            <a:ext cx="8309725" cy="384048"/>
          </a:xfrm>
          <a:prstGeom prst="rect">
            <a:avLst/>
          </a:prstGeom>
          <a:noFill/>
          <a:ln/>
        </p:spPr>
        <p:txBody>
          <a:bodyPr wrap="square" lIns="0" tIns="0" rIns="0" bIns="0" rtlCol="0" anchor="ctr"/>
          <a:lstStyle/>
          <a:p>
            <a:pPr marL="0" indent="0">
              <a:buNone/>
            </a:pPr>
            <a:endParaRPr lang="en-US" sz="2800" b="1" dirty="0">
              <a:solidFill>
                <a:srgbClr val="FFFFFF"/>
              </a:solidFill>
              <a:latin typeface="Calibri" pitchFamily="34" charset="0"/>
              <a:ea typeface="Calibri" pitchFamily="34" charset="-122"/>
              <a:cs typeface="Calibri" pitchFamily="34" charset="-120"/>
            </a:endParaRPr>
          </a:p>
        </p:txBody>
      </p:sp>
      <p:sp>
        <p:nvSpPr>
          <p:cNvPr id="5" name="Text 3">
            <a:extLst>
              <a:ext uri="{FF2B5EF4-FFF2-40B4-BE49-F238E27FC236}">
                <a16:creationId xmlns:a16="http://schemas.microsoft.com/office/drawing/2014/main" id="{6E4F7EDA-345C-02F9-C074-C7F317FA2E73}"/>
              </a:ext>
            </a:extLst>
          </p:cNvPr>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Section 1.2.1 — Definition &amp; Overview</a:t>
            </a:r>
            <a:endParaRPr lang="en-US" sz="1100" dirty="0"/>
          </a:p>
        </p:txBody>
      </p:sp>
      <p:sp>
        <p:nvSpPr>
          <p:cNvPr id="6" name="Text 4">
            <a:extLst>
              <a:ext uri="{FF2B5EF4-FFF2-40B4-BE49-F238E27FC236}">
                <a16:creationId xmlns:a16="http://schemas.microsoft.com/office/drawing/2014/main" id="{4D522A91-5067-0722-4195-DEFDAC8E7B8F}"/>
              </a:ext>
            </a:extLst>
          </p:cNvPr>
          <p:cNvSpPr/>
          <p:nvPr/>
        </p:nvSpPr>
        <p:spPr>
          <a:xfrm>
            <a:off x="2122197" y="868680"/>
            <a:ext cx="5653491" cy="891508"/>
          </a:xfrm>
          <a:prstGeom prst="rect">
            <a:avLst/>
          </a:prstGeom>
          <a:noFill/>
          <a:ln/>
        </p:spPr>
        <p:txBody>
          <a:bodyPr wrap="square" lIns="0" tIns="0" rIns="0" bIns="0" rtlCol="0" anchor="ctr"/>
          <a:lstStyle/>
          <a:p>
            <a:pPr marL="0" indent="0">
              <a:buNone/>
            </a:pPr>
            <a:r>
              <a:rPr lang="en-US" sz="3200" b="1" dirty="0">
                <a:solidFill>
                  <a:srgbClr val="00B4D8"/>
                </a:solidFill>
                <a:latin typeface="Calibri" pitchFamily="34" charset="0"/>
                <a:ea typeface="Calibri" pitchFamily="34" charset="-122"/>
                <a:cs typeface="Calibri" pitchFamily="34" charset="-120"/>
              </a:rPr>
              <a:t>What is Embedded System?</a:t>
            </a:r>
            <a:endParaRPr lang="en-US" sz="3200" dirty="0"/>
          </a:p>
        </p:txBody>
      </p:sp>
      <p:sp>
        <p:nvSpPr>
          <p:cNvPr id="7" name="Text 5">
            <a:extLst>
              <a:ext uri="{FF2B5EF4-FFF2-40B4-BE49-F238E27FC236}">
                <a16:creationId xmlns:a16="http://schemas.microsoft.com/office/drawing/2014/main" id="{C628AC8A-8C70-20C9-08B5-BF1849E1126E}"/>
              </a:ext>
            </a:extLst>
          </p:cNvPr>
          <p:cNvSpPr/>
          <p:nvPr/>
        </p:nvSpPr>
        <p:spPr>
          <a:xfrm>
            <a:off x="2465591" y="1807389"/>
            <a:ext cx="4212818" cy="1485900"/>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An embedded system is a small computer system designed to perform a specific task inside a larger system. It consists of a processor, memory, and input/output units. Embedded systems are used in devices with size, cost, power, or weight limitations. </a:t>
            </a:r>
            <a:endParaRPr lang="en-US" sz="1300" dirty="0"/>
          </a:p>
        </p:txBody>
      </p:sp>
      <p:sp>
        <p:nvSpPr>
          <p:cNvPr id="8" name="Text 6">
            <a:extLst>
              <a:ext uri="{FF2B5EF4-FFF2-40B4-BE49-F238E27FC236}">
                <a16:creationId xmlns:a16="http://schemas.microsoft.com/office/drawing/2014/main" id="{85D9CA44-BFFA-9AF0-04DE-57768B5DD3AA}"/>
              </a:ext>
            </a:extLst>
          </p:cNvPr>
          <p:cNvSpPr/>
          <p:nvPr/>
        </p:nvSpPr>
        <p:spPr>
          <a:xfrm>
            <a:off x="365760" y="1549940"/>
            <a:ext cx="5029200" cy="320040"/>
          </a:xfrm>
          <a:prstGeom prst="rect">
            <a:avLst/>
          </a:prstGeom>
          <a:noFill/>
          <a:ln/>
        </p:spPr>
        <p:txBody>
          <a:bodyPr wrap="square" lIns="0" tIns="0" rIns="0" bIns="0" rtlCol="0" anchor="ctr"/>
          <a:lstStyle/>
          <a:p>
            <a:pPr marL="0" indent="0">
              <a:buNone/>
            </a:pPr>
            <a:endParaRPr lang="en-US" sz="1500" dirty="0"/>
          </a:p>
        </p:txBody>
      </p:sp>
      <p:sp>
        <p:nvSpPr>
          <p:cNvPr id="9" name="Text 7">
            <a:extLst>
              <a:ext uri="{FF2B5EF4-FFF2-40B4-BE49-F238E27FC236}">
                <a16:creationId xmlns:a16="http://schemas.microsoft.com/office/drawing/2014/main" id="{6FF6E216-29EF-6670-4EDF-2B8E84398D37}"/>
              </a:ext>
            </a:extLst>
          </p:cNvPr>
          <p:cNvSpPr/>
          <p:nvPr/>
        </p:nvSpPr>
        <p:spPr>
          <a:xfrm>
            <a:off x="365760" y="3154680"/>
            <a:ext cx="5029200" cy="1645920"/>
          </a:xfrm>
          <a:prstGeom prst="rect">
            <a:avLst/>
          </a:prstGeom>
          <a:noFill/>
          <a:ln/>
        </p:spPr>
        <p:txBody>
          <a:bodyPr wrap="square" rtlCol="0" anchor="ctr"/>
          <a:lstStyle/>
          <a:p>
            <a:pPr>
              <a:spcAft>
                <a:spcPts val="300"/>
              </a:spcAft>
              <a:buSzPct val="100000"/>
            </a:pPr>
            <a:endParaRPr lang="en-US" sz="1250" dirty="0"/>
          </a:p>
        </p:txBody>
      </p:sp>
      <p:sp>
        <p:nvSpPr>
          <p:cNvPr id="11" name="Shape 8">
            <a:extLst>
              <a:ext uri="{FF2B5EF4-FFF2-40B4-BE49-F238E27FC236}">
                <a16:creationId xmlns:a16="http://schemas.microsoft.com/office/drawing/2014/main" id="{A7CB244B-79F3-11C8-8785-240EE8A3CA36}"/>
              </a:ext>
            </a:extLst>
          </p:cNvPr>
          <p:cNvSpPr/>
          <p:nvPr/>
        </p:nvSpPr>
        <p:spPr>
          <a:xfrm>
            <a:off x="0" y="4983480"/>
            <a:ext cx="9144000" cy="160020"/>
          </a:xfrm>
          <a:prstGeom prst="rect">
            <a:avLst/>
          </a:prstGeom>
          <a:solidFill>
            <a:srgbClr val="050C18"/>
          </a:solidFill>
          <a:ln w="12700">
            <a:solidFill>
              <a:srgbClr val="050C18"/>
            </a:solidFill>
            <a:prstDash val="solid"/>
          </a:ln>
        </p:spPr>
      </p:sp>
      <p:sp>
        <p:nvSpPr>
          <p:cNvPr id="12" name="Text 2">
            <a:extLst>
              <a:ext uri="{FF2B5EF4-FFF2-40B4-BE49-F238E27FC236}">
                <a16:creationId xmlns:a16="http://schemas.microsoft.com/office/drawing/2014/main" id="{2DB4E313-A096-A67D-854E-FC1BA0DEE51A}"/>
              </a:ext>
            </a:extLst>
          </p:cNvPr>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Embedded System</a:t>
            </a:r>
            <a:endParaRPr lang="en-US" sz="2800" dirty="0"/>
          </a:p>
        </p:txBody>
      </p:sp>
    </p:spTree>
    <p:extLst>
      <p:ext uri="{BB962C8B-B14F-4D97-AF65-F5344CB8AC3E}">
        <p14:creationId xmlns:p14="http://schemas.microsoft.com/office/powerpoint/2010/main" val="1619523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1.2.2 Applications:</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Embedded Systems — Use Cases</a:t>
            </a:r>
            <a:endParaRPr lang="en-US" sz="1100" dirty="0"/>
          </a:p>
        </p:txBody>
      </p:sp>
      <p:pic>
        <p:nvPicPr>
          <p:cNvPr id="6" name="Image 0" descr="preencoded.png"/>
          <p:cNvPicPr>
            <a:picLocks noChangeAspect="1"/>
          </p:cNvPicPr>
          <p:nvPr/>
        </p:nvPicPr>
        <p:blipFill>
          <a:blip r:embed="rId3"/>
          <a:srcRect/>
          <a:stretch/>
        </p:blipFill>
        <p:spPr>
          <a:xfrm>
            <a:off x="347472" y="1527048"/>
            <a:ext cx="4754880" cy="2651760"/>
          </a:xfrm>
          <a:prstGeom prst="rect">
            <a:avLst/>
          </a:prstGeom>
        </p:spPr>
      </p:pic>
      <p:graphicFrame>
        <p:nvGraphicFramePr>
          <p:cNvPr id="9" name="Diagram 8">
            <a:extLst>
              <a:ext uri="{FF2B5EF4-FFF2-40B4-BE49-F238E27FC236}">
                <a16:creationId xmlns:a16="http://schemas.microsoft.com/office/drawing/2014/main" id="{185C4268-8F31-4526-FAF4-39F577871C4B}"/>
              </a:ext>
            </a:extLst>
          </p:cNvPr>
          <p:cNvGraphicFramePr/>
          <p:nvPr>
            <p:extLst>
              <p:ext uri="{D42A27DB-BD31-4B8C-83A1-F6EECF244321}">
                <p14:modId xmlns:p14="http://schemas.microsoft.com/office/powerpoint/2010/main" val="997177089"/>
              </p:ext>
            </p:extLst>
          </p:nvPr>
        </p:nvGraphicFramePr>
        <p:xfrm>
          <a:off x="5212080" y="900585"/>
          <a:ext cx="3749040" cy="38404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Shape 5"/>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Robotics</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Section 1.3.1 — Definition &amp; Overview</a:t>
            </a:r>
            <a:endParaRPr lang="en-US" sz="1100" dirty="0"/>
          </a:p>
        </p:txBody>
      </p:sp>
      <p:sp>
        <p:nvSpPr>
          <p:cNvPr id="6" name="Text 4"/>
          <p:cNvSpPr/>
          <p:nvPr/>
        </p:nvSpPr>
        <p:spPr>
          <a:xfrm>
            <a:off x="365760" y="1097280"/>
            <a:ext cx="4846320" cy="347472"/>
          </a:xfrm>
          <a:prstGeom prst="rect">
            <a:avLst/>
          </a:prstGeom>
          <a:noFill/>
          <a:ln/>
        </p:spPr>
        <p:txBody>
          <a:bodyPr wrap="square" lIns="0" tIns="0" rIns="0" bIns="0"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What is Robotics?</a:t>
            </a:r>
            <a:endParaRPr lang="en-US" sz="1600" dirty="0"/>
          </a:p>
        </p:txBody>
      </p:sp>
      <p:sp>
        <p:nvSpPr>
          <p:cNvPr id="7" name="Text 5"/>
          <p:cNvSpPr/>
          <p:nvPr/>
        </p:nvSpPr>
        <p:spPr>
          <a:xfrm>
            <a:off x="365760" y="1481328"/>
            <a:ext cx="4846320" cy="1005840"/>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Robotics is the branch of engineering that involves the design, construction, operation, and use of robots. These are machines capable of carrying out complex tasks automatically. Robots sense their environment, process information, and perform physical actions.</a:t>
            </a:r>
            <a:endParaRPr lang="en-US" sz="1300" dirty="0"/>
          </a:p>
        </p:txBody>
      </p:sp>
      <p:sp>
        <p:nvSpPr>
          <p:cNvPr id="8" name="Text 6"/>
          <p:cNvSpPr/>
          <p:nvPr/>
        </p:nvSpPr>
        <p:spPr>
          <a:xfrm>
            <a:off x="365760" y="2606040"/>
            <a:ext cx="4846320" cy="320040"/>
          </a:xfrm>
          <a:prstGeom prst="rect">
            <a:avLst/>
          </a:prstGeom>
          <a:noFill/>
          <a:ln/>
        </p:spPr>
        <p:txBody>
          <a:bodyPr wrap="square" lIns="0" tIns="0" rIns="0" bIns="0" rtlCol="0" anchor="ctr"/>
          <a:lstStyle/>
          <a:p>
            <a:pPr marL="0" indent="0">
              <a:buNone/>
            </a:pPr>
            <a:r>
              <a:rPr lang="en-US" sz="1400" b="1" dirty="0">
                <a:solidFill>
                  <a:srgbClr val="48CAE4"/>
                </a:solidFill>
                <a:latin typeface="Calibri" pitchFamily="34" charset="0"/>
                <a:ea typeface="Calibri" pitchFamily="34" charset="-122"/>
                <a:cs typeface="Calibri" pitchFamily="34" charset="-120"/>
              </a:rPr>
              <a:t>Types of Robots:</a:t>
            </a:r>
            <a:endParaRPr lang="en-US" sz="1400" dirty="0"/>
          </a:p>
        </p:txBody>
      </p:sp>
      <p:sp>
        <p:nvSpPr>
          <p:cNvPr id="9" name="Text 7"/>
          <p:cNvSpPr/>
          <p:nvPr/>
        </p:nvSpPr>
        <p:spPr>
          <a:xfrm>
            <a:off x="365760" y="2944368"/>
            <a:ext cx="4846320" cy="1920240"/>
          </a:xfrm>
          <a:prstGeom prst="rect">
            <a:avLst/>
          </a:prstGeom>
          <a:noFill/>
          <a:ln/>
        </p:spPr>
        <p:txBody>
          <a:bodyPr wrap="square" rtlCol="0" anchor="ctr"/>
          <a:lstStyle/>
          <a:p>
            <a:pPr marL="342900" indent="-342900">
              <a:spcAft>
                <a:spcPts val="200"/>
              </a:spcAft>
              <a:buSzPct val="100000"/>
              <a:buChar char="•"/>
            </a:pPr>
            <a:r>
              <a:rPr lang="en-US" sz="1200" dirty="0">
                <a:solidFill>
                  <a:srgbClr val="E2E8F0"/>
                </a:solidFill>
                <a:latin typeface="Calibri" pitchFamily="34" charset="0"/>
                <a:ea typeface="Calibri" pitchFamily="34" charset="-122"/>
                <a:cs typeface="Calibri" pitchFamily="34" charset="-120"/>
              </a:rPr>
              <a:t>Assembly Robots</a:t>
            </a:r>
            <a:endParaRPr lang="en-US" sz="1200" dirty="0"/>
          </a:p>
          <a:p>
            <a:pPr marL="342900" indent="-342900">
              <a:spcAft>
                <a:spcPts val="200"/>
              </a:spcAft>
              <a:buSzPct val="100000"/>
              <a:buChar char="•"/>
            </a:pPr>
            <a:r>
              <a:rPr lang="en-US" sz="1200" dirty="0">
                <a:solidFill>
                  <a:srgbClr val="E2E8F0"/>
                </a:solidFill>
                <a:latin typeface="Calibri" pitchFamily="34" charset="0"/>
                <a:ea typeface="Calibri" pitchFamily="34" charset="-122"/>
                <a:cs typeface="Calibri" pitchFamily="34" charset="-120"/>
              </a:rPr>
              <a:t>Welding Robots</a:t>
            </a:r>
            <a:endParaRPr lang="en-US" sz="1200" dirty="0"/>
          </a:p>
          <a:p>
            <a:pPr marL="342900" indent="-342900">
              <a:spcAft>
                <a:spcPts val="200"/>
              </a:spcAft>
              <a:buSzPct val="100000"/>
              <a:buChar char="•"/>
            </a:pPr>
            <a:r>
              <a:rPr lang="en-US" sz="1200" dirty="0">
                <a:solidFill>
                  <a:srgbClr val="E2E8F0"/>
                </a:solidFill>
                <a:latin typeface="Calibri" pitchFamily="34" charset="0"/>
                <a:ea typeface="Calibri" pitchFamily="34" charset="-122"/>
                <a:cs typeface="Calibri" pitchFamily="34" charset="-120"/>
              </a:rPr>
              <a:t>Manufacturing Robots</a:t>
            </a:r>
            <a:endParaRPr lang="en-US" sz="1200" dirty="0"/>
          </a:p>
          <a:p>
            <a:pPr marL="342900" indent="-342900">
              <a:spcAft>
                <a:spcPts val="200"/>
              </a:spcAft>
              <a:buSzPct val="100000"/>
              <a:buChar char="•"/>
            </a:pPr>
            <a:r>
              <a:rPr lang="en-US" sz="1200" dirty="0">
                <a:solidFill>
                  <a:srgbClr val="E2E8F0"/>
                </a:solidFill>
                <a:latin typeface="Calibri" pitchFamily="34" charset="0"/>
                <a:ea typeface="Calibri" pitchFamily="34" charset="-122"/>
                <a:cs typeface="Calibri" pitchFamily="34" charset="-120"/>
              </a:rPr>
              <a:t>Military Robots</a:t>
            </a:r>
            <a:endParaRPr lang="en-US" sz="1200" dirty="0"/>
          </a:p>
          <a:p>
            <a:pPr marL="342900" indent="-342900">
              <a:spcAft>
                <a:spcPts val="200"/>
              </a:spcAft>
              <a:buSzPct val="100000"/>
              <a:buChar char="•"/>
            </a:pPr>
            <a:r>
              <a:rPr lang="en-US" sz="1200" dirty="0">
                <a:solidFill>
                  <a:srgbClr val="E2E8F0"/>
                </a:solidFill>
                <a:latin typeface="Calibri" pitchFamily="34" charset="0"/>
                <a:ea typeface="Calibri" pitchFamily="34" charset="-122"/>
                <a:cs typeface="Calibri" pitchFamily="34" charset="-120"/>
              </a:rPr>
              <a:t>Cleaning Robots</a:t>
            </a:r>
            <a:endParaRPr lang="en-US" sz="1200" dirty="0"/>
          </a:p>
          <a:p>
            <a:pPr marL="342900" indent="-342900">
              <a:spcAft>
                <a:spcPts val="200"/>
              </a:spcAft>
              <a:buSzPct val="100000"/>
              <a:buChar char="•"/>
            </a:pPr>
            <a:r>
              <a:rPr lang="en-US" sz="1200" dirty="0">
                <a:solidFill>
                  <a:srgbClr val="E2E8F0"/>
                </a:solidFill>
                <a:latin typeface="Calibri" pitchFamily="34" charset="0"/>
                <a:ea typeface="Calibri" pitchFamily="34" charset="-122"/>
                <a:cs typeface="Calibri" pitchFamily="34" charset="-120"/>
              </a:rPr>
              <a:t>Agricultural Robots</a:t>
            </a:r>
            <a:endParaRPr lang="en-US" sz="1200" dirty="0"/>
          </a:p>
          <a:p>
            <a:pPr marL="342900" indent="-342900">
              <a:spcAft>
                <a:spcPts val="200"/>
              </a:spcAft>
              <a:buSzPct val="100000"/>
              <a:buChar char="•"/>
            </a:pPr>
            <a:r>
              <a:rPr lang="en-US" sz="1200" dirty="0">
                <a:solidFill>
                  <a:srgbClr val="E2E8F0"/>
                </a:solidFill>
                <a:latin typeface="Calibri" pitchFamily="34" charset="0"/>
                <a:ea typeface="Calibri" pitchFamily="34" charset="-122"/>
                <a:cs typeface="Calibri" pitchFamily="34" charset="-120"/>
              </a:rPr>
              <a:t>Household &amp; Domestic Robots</a:t>
            </a:r>
            <a:endParaRPr lang="en-US" sz="1200" dirty="0"/>
          </a:p>
          <a:p>
            <a:pPr marL="342900" indent="-342900">
              <a:spcAft>
                <a:spcPts val="200"/>
              </a:spcAft>
              <a:buSzPct val="100000"/>
              <a:buChar char="•"/>
            </a:pPr>
            <a:r>
              <a:rPr lang="en-US" sz="1200" dirty="0">
                <a:solidFill>
                  <a:srgbClr val="E2E8F0"/>
                </a:solidFill>
                <a:latin typeface="Calibri" pitchFamily="34" charset="0"/>
                <a:ea typeface="Calibri" pitchFamily="34" charset="-122"/>
                <a:cs typeface="Calibri" pitchFamily="34" charset="-120"/>
              </a:rPr>
              <a:t>Nano Robots</a:t>
            </a:r>
            <a:endParaRPr lang="en-US" sz="1200" dirty="0"/>
          </a:p>
          <a:p>
            <a:pPr marL="342900" indent="-342900">
              <a:spcAft>
                <a:spcPts val="200"/>
              </a:spcAft>
              <a:buSzPct val="100000"/>
              <a:buChar char="•"/>
            </a:pPr>
            <a:r>
              <a:rPr lang="en-US" sz="1200" dirty="0">
                <a:solidFill>
                  <a:srgbClr val="E2E8F0"/>
                </a:solidFill>
                <a:latin typeface="Calibri" pitchFamily="34" charset="0"/>
                <a:ea typeface="Calibri" pitchFamily="34" charset="-122"/>
                <a:cs typeface="Calibri" pitchFamily="34" charset="-120"/>
              </a:rPr>
              <a:t>Swarm Robots</a:t>
            </a:r>
            <a:endParaRPr lang="en-US" sz="1200" dirty="0"/>
          </a:p>
        </p:txBody>
      </p:sp>
      <p:pic>
        <p:nvPicPr>
          <p:cNvPr id="10" name="Image 0" descr="preencoded.png"/>
          <p:cNvPicPr>
            <a:picLocks noChangeAspect="1"/>
          </p:cNvPicPr>
          <p:nvPr/>
        </p:nvPicPr>
        <p:blipFill>
          <a:blip r:embed="rId3"/>
          <a:srcRect/>
          <a:stretch/>
        </p:blipFill>
        <p:spPr>
          <a:xfrm>
            <a:off x="5394960" y="1051560"/>
            <a:ext cx="3474720" cy="2011680"/>
          </a:xfrm>
          <a:prstGeom prst="rect">
            <a:avLst/>
          </a:prstGeom>
        </p:spPr>
      </p:pic>
      <p:pic>
        <p:nvPicPr>
          <p:cNvPr id="11" name="Image 1" descr="preencoded.png"/>
          <p:cNvPicPr>
            <a:picLocks noChangeAspect="1"/>
          </p:cNvPicPr>
          <p:nvPr/>
        </p:nvPicPr>
        <p:blipFill>
          <a:blip r:embed="rId4"/>
          <a:srcRect/>
          <a:stretch/>
        </p:blipFill>
        <p:spPr>
          <a:xfrm>
            <a:off x="5394960" y="3108960"/>
            <a:ext cx="3474720" cy="1691640"/>
          </a:xfrm>
          <a:prstGeom prst="rect">
            <a:avLst/>
          </a:prstGeom>
        </p:spPr>
      </p:pic>
      <p:sp>
        <p:nvSpPr>
          <p:cNvPr id="12" name="Shape 8"/>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1.3.2 Applications:</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Robotics — Use Cases Across Industries</a:t>
            </a:r>
            <a:endParaRPr lang="en-US" sz="1100" dirty="0"/>
          </a:p>
        </p:txBody>
      </p:sp>
      <p:sp>
        <p:nvSpPr>
          <p:cNvPr id="14" name="Text 11"/>
          <p:cNvSpPr/>
          <p:nvPr/>
        </p:nvSpPr>
        <p:spPr>
          <a:xfrm>
            <a:off x="3154680" y="4773168"/>
            <a:ext cx="822960" cy="182880"/>
          </a:xfrm>
          <a:prstGeom prst="rect">
            <a:avLst/>
          </a:prstGeom>
          <a:noFill/>
          <a:ln/>
        </p:spPr>
        <p:txBody>
          <a:bodyPr wrap="square" rtlCol="0" anchor="ctr"/>
          <a:lstStyle/>
          <a:p>
            <a:pPr marL="0" indent="0" algn="ctr">
              <a:buNone/>
            </a:pPr>
            <a:endParaRPr lang="en-US" sz="700" dirty="0"/>
          </a:p>
        </p:txBody>
      </p:sp>
      <p:sp>
        <p:nvSpPr>
          <p:cNvPr id="25" name="Shape 22"/>
          <p:cNvSpPr/>
          <p:nvPr/>
        </p:nvSpPr>
        <p:spPr>
          <a:xfrm>
            <a:off x="0" y="4983480"/>
            <a:ext cx="9144000" cy="160020"/>
          </a:xfrm>
          <a:prstGeom prst="rect">
            <a:avLst/>
          </a:prstGeom>
          <a:solidFill>
            <a:srgbClr val="050C18"/>
          </a:solidFill>
          <a:ln w="12700">
            <a:solidFill>
              <a:srgbClr val="050C18"/>
            </a:solidFill>
            <a:prstDash val="solid"/>
          </a:ln>
        </p:spPr>
      </p:sp>
      <p:sp>
        <p:nvSpPr>
          <p:cNvPr id="27" name="Rectangle 3">
            <a:extLst>
              <a:ext uri="{FF2B5EF4-FFF2-40B4-BE49-F238E27FC236}">
                <a16:creationId xmlns:a16="http://schemas.microsoft.com/office/drawing/2014/main" id="{F763729A-EC71-593F-B9ED-DE224EC30945}"/>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31" name="Diagram 30">
            <a:extLst>
              <a:ext uri="{FF2B5EF4-FFF2-40B4-BE49-F238E27FC236}">
                <a16:creationId xmlns:a16="http://schemas.microsoft.com/office/drawing/2014/main" id="{1935F238-C745-57FC-883F-CB15FB3B3340}"/>
              </a:ext>
            </a:extLst>
          </p:cNvPr>
          <p:cNvGraphicFramePr/>
          <p:nvPr>
            <p:extLst>
              <p:ext uri="{D42A27DB-BD31-4B8C-83A1-F6EECF244321}">
                <p14:modId xmlns:p14="http://schemas.microsoft.com/office/powerpoint/2010/main" val="2512973065"/>
              </p:ext>
            </p:extLst>
          </p:nvPr>
        </p:nvGraphicFramePr>
        <p:xfrm>
          <a:off x="225837" y="1106047"/>
          <a:ext cx="4009019" cy="31393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2" name="Diagram 31">
            <a:extLst>
              <a:ext uri="{FF2B5EF4-FFF2-40B4-BE49-F238E27FC236}">
                <a16:creationId xmlns:a16="http://schemas.microsoft.com/office/drawing/2014/main" id="{DF5639ED-41C1-8142-40E6-6648A9A039C9}"/>
              </a:ext>
            </a:extLst>
          </p:cNvPr>
          <p:cNvGraphicFramePr/>
          <p:nvPr>
            <p:extLst>
              <p:ext uri="{D42A27DB-BD31-4B8C-83A1-F6EECF244321}">
                <p14:modId xmlns:p14="http://schemas.microsoft.com/office/powerpoint/2010/main" val="1066491078"/>
              </p:ext>
            </p:extLst>
          </p:nvPr>
        </p:nvGraphicFramePr>
        <p:xfrm>
          <a:off x="4670676" y="1051560"/>
          <a:ext cx="4107564" cy="319380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Difference between IoT, Embedded System, and Robotics</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1.4 Comparative Overview</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1051560"/>
          <a:ext cx="8595360" cy="3803904"/>
        </p:xfrm>
        <a:graphic>
          <a:graphicData uri="http://schemas.openxmlformats.org/drawingml/2006/table">
            <a:tbl>
              <a:tblPr/>
              <a:tblGrid>
                <a:gridCol w="1828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00B4D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IoT</a:t>
                      </a:r>
                      <a:endParaRPr lang="en-US" sz="120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006E8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Embedded System</a:t>
                      </a:r>
                      <a:endParaRPr lang="en-US" sz="120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006E8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Robotics</a:t>
                      </a:r>
                      <a:endParaRPr lang="en-US" sz="120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006E8A"/>
                    </a:solidFill>
                  </a:tcPr>
                </a:tc>
                <a:extLst>
                  <a:ext uri="{0D108BD9-81ED-4DB2-BD59-A6C34878D82A}">
                    <a16:rowId xmlns:a16="http://schemas.microsoft.com/office/drawing/2014/main" val="10000"/>
                  </a:ext>
                </a:extLst>
              </a:tr>
              <a:tr h="475488">
                <a:tc>
                  <a:txBody>
                    <a:bodyPr/>
                    <a:lstStyle/>
                    <a:p>
                      <a:pPr marL="0" indent="0">
                        <a:buNone/>
                      </a:pPr>
                      <a:r>
                        <a:rPr lang="en-US" sz="1150" b="1" dirty="0">
                          <a:solidFill>
                            <a:srgbClr val="90E0EF"/>
                          </a:solidFill>
                          <a:latin typeface="Calibri" pitchFamily="34" charset="0"/>
                          <a:ea typeface="Calibri" pitchFamily="34" charset="-122"/>
                          <a:cs typeface="Calibri" pitchFamily="34" charset="-120"/>
                        </a:rPr>
                        <a:t>Definition</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Network of connected objects</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Dedicated computer in a product</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Machines that perform tasks automatically</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1"/>
                  </a:ext>
                </a:extLst>
              </a:tr>
              <a:tr h="475488">
                <a:tc>
                  <a:txBody>
                    <a:bodyPr/>
                    <a:lstStyle/>
                    <a:p>
                      <a:pPr marL="0" indent="0">
                        <a:buNone/>
                      </a:pPr>
                      <a:r>
                        <a:rPr lang="en-US" sz="1150" b="1" dirty="0">
                          <a:solidFill>
                            <a:srgbClr val="90E0EF"/>
                          </a:solidFill>
                          <a:latin typeface="Calibri" pitchFamily="34" charset="0"/>
                          <a:ea typeface="Calibri" pitchFamily="34" charset="-122"/>
                          <a:cs typeface="Calibri" pitchFamily="34" charset="-120"/>
                        </a:rPr>
                        <a:t>Main Focus</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Connectivity &amp; data exchange</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Specific task execution</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Physical action &amp; motion</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2"/>
                  </a:ext>
                </a:extLst>
              </a:tr>
              <a:tr h="475488">
                <a:tc>
                  <a:txBody>
                    <a:bodyPr/>
                    <a:lstStyle/>
                    <a:p>
                      <a:pPr marL="0" indent="0">
                        <a:buNone/>
                      </a:pPr>
                      <a:r>
                        <a:rPr lang="en-US" sz="1150" b="1" dirty="0">
                          <a:solidFill>
                            <a:srgbClr val="90E0EF"/>
                          </a:solidFill>
                          <a:latin typeface="Calibri" pitchFamily="34" charset="0"/>
                          <a:ea typeface="Calibri" pitchFamily="34" charset="-122"/>
                          <a:cs typeface="Calibri" pitchFamily="34" charset="-120"/>
                        </a:rPr>
                        <a:t>Internet</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Essential ✅</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Not required ❌</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Optional ⚡</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3"/>
                  </a:ext>
                </a:extLst>
              </a:tr>
              <a:tr h="475488">
                <a:tc>
                  <a:txBody>
                    <a:bodyPr/>
                    <a:lstStyle/>
                    <a:p>
                      <a:pPr marL="0" indent="0">
                        <a:buNone/>
                      </a:pPr>
                      <a:r>
                        <a:rPr lang="en-US" sz="1150" b="1" dirty="0">
                          <a:solidFill>
                            <a:srgbClr val="90E0EF"/>
                          </a:solidFill>
                          <a:latin typeface="Calibri" pitchFamily="34" charset="0"/>
                          <a:ea typeface="Calibri" pitchFamily="34" charset="-122"/>
                          <a:cs typeface="Calibri" pitchFamily="34" charset="-120"/>
                        </a:rPr>
                        <a:t>Physical Action</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Indirect</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Often limited</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Core requirement ✅</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4"/>
                  </a:ext>
                </a:extLst>
              </a:tr>
              <a:tr h="475488">
                <a:tc>
                  <a:txBody>
                    <a:bodyPr/>
                    <a:lstStyle/>
                    <a:p>
                      <a:pPr marL="0" indent="0">
                        <a:buNone/>
                      </a:pPr>
                      <a:r>
                        <a:rPr lang="en-US" sz="1150" b="1" dirty="0">
                          <a:solidFill>
                            <a:srgbClr val="90E0EF"/>
                          </a:solidFill>
                          <a:latin typeface="Calibri" pitchFamily="34" charset="0"/>
                          <a:ea typeface="Calibri" pitchFamily="34" charset="-122"/>
                          <a:cs typeface="Calibri" pitchFamily="34" charset="-120"/>
                        </a:rPr>
                        <a:t>Human Interact.</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Minimal</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Minimal</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Can be autonomous</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5"/>
                  </a:ext>
                </a:extLst>
              </a:tr>
              <a:tr h="475488">
                <a:tc>
                  <a:txBody>
                    <a:bodyPr/>
                    <a:lstStyle/>
                    <a:p>
                      <a:pPr marL="0" indent="0">
                        <a:buNone/>
                      </a:pPr>
                      <a:r>
                        <a:rPr lang="en-US" sz="1150" b="1" dirty="0">
                          <a:solidFill>
                            <a:srgbClr val="90E0EF"/>
                          </a:solidFill>
                          <a:latin typeface="Calibri" pitchFamily="34" charset="0"/>
                          <a:ea typeface="Calibri" pitchFamily="34" charset="-122"/>
                          <a:cs typeface="Calibri" pitchFamily="34" charset="-120"/>
                        </a:rPr>
                        <a:t>Examples</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Smart thermostat, GPS tracker</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Washing machine, ABS</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Surgical robot, drone, arm</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6"/>
                  </a:ext>
                </a:extLst>
              </a:tr>
              <a:tr h="475488">
                <a:tc>
                  <a:txBody>
                    <a:bodyPr/>
                    <a:lstStyle/>
                    <a:p>
                      <a:pPr marL="0" indent="0">
                        <a:buNone/>
                      </a:pPr>
                      <a:r>
                        <a:rPr lang="en-US" sz="1150" b="1" dirty="0">
                          <a:solidFill>
                            <a:srgbClr val="90E0EF"/>
                          </a:solidFill>
                          <a:latin typeface="Calibri" pitchFamily="34" charset="0"/>
                          <a:ea typeface="Calibri" pitchFamily="34" charset="-122"/>
                          <a:cs typeface="Calibri" pitchFamily="34" charset="-120"/>
                        </a:rPr>
                        <a:t>Uses Embedded?</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Yes — as backbone</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Is the core</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50" dirty="0">
                          <a:solidFill>
                            <a:srgbClr val="E2E8F0"/>
                          </a:solidFill>
                          <a:latin typeface="Calibri" pitchFamily="34" charset="0"/>
                          <a:ea typeface="Calibri" pitchFamily="34" charset="-122"/>
                          <a:cs typeface="Calibri" pitchFamily="34" charset="-120"/>
                        </a:rPr>
                        <a:t>Yes — embedded inside</a:t>
                      </a:r>
                      <a:endParaRPr lang="en-US" sz="1150" dirty="0">
                        <a:latin typeface="Calibri" charset="0"/>
                        <a:ea typeface="Calibri" charset="0"/>
                        <a:cs typeface="Calibri" charset="0"/>
                      </a:endParaRPr>
                    </a:p>
                  </a:txBody>
                  <a:tcPr>
                    <a:lnL w="6350" cap="flat" cmpd="sng" algn="ctr">
                      <a:solidFill>
                        <a:srgbClr val="3A5070"/>
                      </a:solidFill>
                      <a:prstDash val="solid"/>
                      <a:round/>
                      <a:headEnd type="none" w="med" len="med"/>
                      <a:tailEnd type="none" w="med" len="med"/>
                    </a:lnL>
                    <a:lnR w="6350" cap="flat" cmpd="sng" algn="ctr">
                      <a:solidFill>
                        <a:srgbClr val="3A5070"/>
                      </a:solidFill>
                      <a:prstDash val="solid"/>
                      <a:round/>
                      <a:headEnd type="none" w="med" len="med"/>
                      <a:tailEnd type="none" w="med" len="med"/>
                    </a:lnR>
                    <a:lnT w="6350" cap="flat" cmpd="sng" algn="ctr">
                      <a:solidFill>
                        <a:srgbClr val="3A5070"/>
                      </a:solidFill>
                      <a:prstDash val="solid"/>
                      <a:round/>
                      <a:headEnd type="none" w="med" len="med"/>
                      <a:tailEnd type="none" w="med" len="med"/>
                    </a:lnT>
                    <a:lnB w="635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7"/>
                  </a:ext>
                </a:extLst>
              </a:tr>
            </a:tbl>
          </a:graphicData>
        </a:graphic>
      </p:graphicFrame>
      <p:sp>
        <p:nvSpPr>
          <p:cNvPr id="7" name="Shape 4"/>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is CNC?</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Computer Numerical Control — Section 2</a:t>
            </a:r>
            <a:endParaRPr lang="en-US" sz="1100" dirty="0"/>
          </a:p>
        </p:txBody>
      </p:sp>
      <p:sp>
        <p:nvSpPr>
          <p:cNvPr id="6" name="Text 4"/>
          <p:cNvSpPr/>
          <p:nvPr/>
        </p:nvSpPr>
        <p:spPr>
          <a:xfrm>
            <a:off x="365760" y="1097280"/>
            <a:ext cx="5029200" cy="1371600"/>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CNC (Computer Numerical Control) is the automated control of machining tools — such as drills, mills, lathes, routers, and laser cutters — using pre-programmed software and numerical codes. Rather than manual operation, a computer reads instructions and precisely moves cutting tools across multiple axes (X, Y, Z) to shape raw material into finished parts.</a:t>
            </a:r>
            <a:endParaRPr lang="en-US" sz="1300" dirty="0"/>
          </a:p>
        </p:txBody>
      </p:sp>
      <p:sp>
        <p:nvSpPr>
          <p:cNvPr id="7" name="Text 5"/>
          <p:cNvSpPr/>
          <p:nvPr/>
        </p:nvSpPr>
        <p:spPr>
          <a:xfrm>
            <a:off x="365760" y="2560320"/>
            <a:ext cx="5029200" cy="320040"/>
          </a:xfrm>
          <a:prstGeom prst="rect">
            <a:avLst/>
          </a:prstGeom>
          <a:noFill/>
          <a:ln/>
        </p:spPr>
        <p:txBody>
          <a:bodyPr wrap="square" lIns="0" tIns="0" rIns="0" bIns="0"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Key Advantages:</a:t>
            </a:r>
            <a:endParaRPr lang="en-US" sz="1400" dirty="0"/>
          </a:p>
        </p:txBody>
      </p:sp>
      <p:sp>
        <p:nvSpPr>
          <p:cNvPr id="8" name="Text 6"/>
          <p:cNvSpPr/>
          <p:nvPr/>
        </p:nvSpPr>
        <p:spPr>
          <a:xfrm>
            <a:off x="365760" y="2907792"/>
            <a:ext cx="5029200" cy="1828800"/>
          </a:xfrm>
          <a:prstGeom prst="rect">
            <a:avLst/>
          </a:prstGeom>
          <a:noFill/>
          <a:ln/>
        </p:spPr>
        <p:txBody>
          <a:bodyPr wrap="square" rtlCol="0" anchor="ctr"/>
          <a:lstStyle/>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Precision — sub-millimeter accuracy</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Repeatability — identical parts every run</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Speed — faster than manual machining</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Complexity — intricate shapes impossible by hand</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Safety — reduces operator exposure to danger</a:t>
            </a:r>
            <a:endParaRPr lang="en-US" sz="1250" dirty="0"/>
          </a:p>
        </p:txBody>
      </p:sp>
      <p:pic>
        <p:nvPicPr>
          <p:cNvPr id="9" name="Image 0"/>
          <p:cNvPicPr>
            <a:picLocks noChangeAspect="1"/>
          </p:cNvPicPr>
          <p:nvPr/>
        </p:nvPicPr>
        <p:blipFill>
          <a:blip r:embed="rId3"/>
          <a:srcRect/>
          <a:stretch/>
        </p:blipFill>
        <p:spPr>
          <a:xfrm>
            <a:off x="5577840" y="1847454"/>
            <a:ext cx="3291840" cy="1882932"/>
          </a:xfrm>
          <a:prstGeom prst="rect">
            <a:avLst/>
          </a:prstGeom>
        </p:spPr>
      </p:pic>
      <p:sp>
        <p:nvSpPr>
          <p:cNvPr id="10" name="Shape 7"/>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Role of CNC Machines in PCB Fabrication</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How CNC is used in circuit board manufacturing</a:t>
            </a:r>
            <a:endParaRPr lang="en-US" sz="1100" dirty="0"/>
          </a:p>
        </p:txBody>
      </p:sp>
      <p:sp>
        <p:nvSpPr>
          <p:cNvPr id="6" name="Shape 4"/>
          <p:cNvSpPr/>
          <p:nvPr/>
        </p:nvSpPr>
        <p:spPr>
          <a:xfrm>
            <a:off x="320040" y="1115568"/>
            <a:ext cx="4206240" cy="1737360"/>
          </a:xfrm>
          <a:prstGeom prst="rect">
            <a:avLst/>
          </a:prstGeom>
          <a:solidFill>
            <a:srgbClr val="142030"/>
          </a:solidFill>
          <a:ln w="12700">
            <a:solidFill>
              <a:srgbClr val="3A5070"/>
            </a:solidFill>
            <a:prstDash val="solid"/>
          </a:ln>
        </p:spPr>
      </p:sp>
      <p:sp>
        <p:nvSpPr>
          <p:cNvPr id="7" name="Shape 5"/>
          <p:cNvSpPr/>
          <p:nvPr/>
        </p:nvSpPr>
        <p:spPr>
          <a:xfrm>
            <a:off x="320040" y="1115568"/>
            <a:ext cx="502920" cy="1737360"/>
          </a:xfrm>
          <a:prstGeom prst="rect">
            <a:avLst/>
          </a:prstGeom>
          <a:solidFill>
            <a:srgbClr val="00B4D8"/>
          </a:solidFill>
          <a:ln w="12700">
            <a:solidFill>
              <a:srgbClr val="00B4D8"/>
            </a:solidFill>
            <a:prstDash val="solid"/>
          </a:ln>
        </p:spPr>
      </p:sp>
      <p:sp>
        <p:nvSpPr>
          <p:cNvPr id="8" name="Text 6"/>
          <p:cNvSpPr/>
          <p:nvPr/>
        </p:nvSpPr>
        <p:spPr>
          <a:xfrm>
            <a:off x="365760" y="1618488"/>
            <a:ext cx="411480" cy="64008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914400" y="1225296"/>
            <a:ext cx="347472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Drilling Via Holes</a:t>
            </a:r>
            <a:endParaRPr lang="en-US" sz="1400" dirty="0"/>
          </a:p>
        </p:txBody>
      </p:sp>
      <p:sp>
        <p:nvSpPr>
          <p:cNvPr id="10" name="Text 8"/>
          <p:cNvSpPr/>
          <p:nvPr/>
        </p:nvSpPr>
        <p:spPr>
          <a:xfrm>
            <a:off x="914400" y="1536192"/>
            <a:ext cx="3474720" cy="1188720"/>
          </a:xfrm>
          <a:prstGeom prst="rect">
            <a:avLst/>
          </a:prstGeom>
          <a:noFill/>
          <a:ln/>
        </p:spPr>
        <p:txBody>
          <a:bodyPr wrap="square" lIns="0" tIns="0" rIns="0" bIns="0" rtlCol="0" anchor="ctr"/>
          <a:lstStyle/>
          <a:p>
            <a:pPr marL="0" indent="0">
              <a:buNone/>
            </a:pPr>
            <a:r>
              <a:rPr lang="en-US" sz="1200" dirty="0">
                <a:solidFill>
                  <a:srgbClr val="7A90A8"/>
                </a:solidFill>
                <a:latin typeface="Calibri" pitchFamily="34" charset="0"/>
                <a:ea typeface="Calibri" pitchFamily="34" charset="-122"/>
                <a:cs typeface="Calibri" pitchFamily="34" charset="-120"/>
              </a:rPr>
              <a:t>CNC drill machines bore hundreds of tiny holes (vias, through-holes) into PCB blanks with ±0.05mm or better positional accuracy — impossible to achieve by hand.</a:t>
            </a:r>
            <a:endParaRPr lang="en-US" sz="1200" dirty="0"/>
          </a:p>
        </p:txBody>
      </p:sp>
      <p:sp>
        <p:nvSpPr>
          <p:cNvPr id="11" name="Shape 9"/>
          <p:cNvSpPr/>
          <p:nvPr/>
        </p:nvSpPr>
        <p:spPr>
          <a:xfrm>
            <a:off x="320040" y="2990088"/>
            <a:ext cx="4206240" cy="1737360"/>
          </a:xfrm>
          <a:prstGeom prst="rect">
            <a:avLst/>
          </a:prstGeom>
          <a:solidFill>
            <a:srgbClr val="142030"/>
          </a:solidFill>
          <a:ln w="12700">
            <a:solidFill>
              <a:srgbClr val="3A5070"/>
            </a:solidFill>
            <a:prstDash val="solid"/>
          </a:ln>
        </p:spPr>
      </p:sp>
      <p:sp>
        <p:nvSpPr>
          <p:cNvPr id="12" name="Shape 10"/>
          <p:cNvSpPr/>
          <p:nvPr/>
        </p:nvSpPr>
        <p:spPr>
          <a:xfrm>
            <a:off x="320040" y="2990088"/>
            <a:ext cx="502920" cy="1737360"/>
          </a:xfrm>
          <a:prstGeom prst="rect">
            <a:avLst/>
          </a:prstGeom>
          <a:solidFill>
            <a:srgbClr val="F77F00"/>
          </a:solidFill>
          <a:ln w="12700">
            <a:solidFill>
              <a:srgbClr val="F77F00"/>
            </a:solidFill>
            <a:prstDash val="solid"/>
          </a:ln>
        </p:spPr>
      </p:sp>
      <p:sp>
        <p:nvSpPr>
          <p:cNvPr id="13" name="Text 11"/>
          <p:cNvSpPr/>
          <p:nvPr/>
        </p:nvSpPr>
        <p:spPr>
          <a:xfrm>
            <a:off x="365760" y="3493008"/>
            <a:ext cx="411480" cy="64008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914400" y="3099816"/>
            <a:ext cx="347472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Board Routing &amp; Depaneling</a:t>
            </a:r>
            <a:endParaRPr lang="en-US" sz="1400" dirty="0"/>
          </a:p>
        </p:txBody>
      </p:sp>
      <p:sp>
        <p:nvSpPr>
          <p:cNvPr id="15" name="Text 13"/>
          <p:cNvSpPr/>
          <p:nvPr/>
        </p:nvSpPr>
        <p:spPr>
          <a:xfrm>
            <a:off x="914400" y="3410712"/>
            <a:ext cx="3474720" cy="1188720"/>
          </a:xfrm>
          <a:prstGeom prst="rect">
            <a:avLst/>
          </a:prstGeom>
          <a:noFill/>
          <a:ln/>
        </p:spPr>
        <p:txBody>
          <a:bodyPr wrap="square" lIns="0" tIns="0" rIns="0" bIns="0" rtlCol="0" anchor="ctr"/>
          <a:lstStyle/>
          <a:p>
            <a:pPr marL="0" indent="0">
              <a:buNone/>
            </a:pPr>
            <a:r>
              <a:rPr lang="en-US" sz="1200" dirty="0">
                <a:solidFill>
                  <a:srgbClr val="7A90A8"/>
                </a:solidFill>
                <a:latin typeface="Calibri" pitchFamily="34" charset="0"/>
                <a:ea typeface="Calibri" pitchFamily="34" charset="-122"/>
                <a:cs typeface="Calibri" pitchFamily="34" charset="-120"/>
              </a:rPr>
              <a:t>CNC routers cut individual PCBs from large panels along exact outlines defined in Gerber/CAM files, producing clean edges and consistent board dimensions.</a:t>
            </a:r>
            <a:endParaRPr lang="en-US" sz="1200" dirty="0"/>
          </a:p>
        </p:txBody>
      </p:sp>
      <p:sp>
        <p:nvSpPr>
          <p:cNvPr id="16" name="Shape 14"/>
          <p:cNvSpPr/>
          <p:nvPr/>
        </p:nvSpPr>
        <p:spPr>
          <a:xfrm>
            <a:off x="4754880" y="1115568"/>
            <a:ext cx="4206240" cy="1737360"/>
          </a:xfrm>
          <a:prstGeom prst="rect">
            <a:avLst/>
          </a:prstGeom>
          <a:solidFill>
            <a:srgbClr val="142030"/>
          </a:solidFill>
          <a:ln w="12700">
            <a:solidFill>
              <a:srgbClr val="3A5070"/>
            </a:solidFill>
            <a:prstDash val="solid"/>
          </a:ln>
        </p:spPr>
      </p:sp>
      <p:sp>
        <p:nvSpPr>
          <p:cNvPr id="17" name="Shape 15"/>
          <p:cNvSpPr/>
          <p:nvPr/>
        </p:nvSpPr>
        <p:spPr>
          <a:xfrm>
            <a:off x="4754880" y="1115568"/>
            <a:ext cx="502920" cy="1737360"/>
          </a:xfrm>
          <a:prstGeom prst="rect">
            <a:avLst/>
          </a:prstGeom>
          <a:solidFill>
            <a:srgbClr val="00B4D8"/>
          </a:solidFill>
          <a:ln w="12700">
            <a:solidFill>
              <a:srgbClr val="00B4D8"/>
            </a:solidFill>
            <a:prstDash val="solid"/>
          </a:ln>
        </p:spPr>
      </p:sp>
      <p:sp>
        <p:nvSpPr>
          <p:cNvPr id="18" name="Text 16"/>
          <p:cNvSpPr/>
          <p:nvPr/>
        </p:nvSpPr>
        <p:spPr>
          <a:xfrm>
            <a:off x="4800600" y="1618488"/>
            <a:ext cx="411480" cy="64008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9" name="Text 17"/>
          <p:cNvSpPr/>
          <p:nvPr/>
        </p:nvSpPr>
        <p:spPr>
          <a:xfrm>
            <a:off x="5349240" y="1225296"/>
            <a:ext cx="347472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Copper Trace Milling</a:t>
            </a:r>
            <a:endParaRPr lang="en-US" sz="1400" dirty="0"/>
          </a:p>
        </p:txBody>
      </p:sp>
      <p:sp>
        <p:nvSpPr>
          <p:cNvPr id="20" name="Text 18"/>
          <p:cNvSpPr/>
          <p:nvPr/>
        </p:nvSpPr>
        <p:spPr>
          <a:xfrm>
            <a:off x="5349240" y="1536192"/>
            <a:ext cx="3474720" cy="1188720"/>
          </a:xfrm>
          <a:prstGeom prst="rect">
            <a:avLst/>
          </a:prstGeom>
          <a:noFill/>
          <a:ln/>
        </p:spPr>
        <p:txBody>
          <a:bodyPr wrap="square" lIns="0" tIns="0" rIns="0" bIns="0" rtlCol="0" anchor="ctr"/>
          <a:lstStyle/>
          <a:p>
            <a:pPr marL="0" indent="0">
              <a:buNone/>
            </a:pPr>
            <a:r>
              <a:rPr lang="en-US" sz="1200" dirty="0">
                <a:solidFill>
                  <a:srgbClr val="7A90A8"/>
                </a:solidFill>
                <a:latin typeface="Calibri" pitchFamily="34" charset="0"/>
                <a:ea typeface="Calibri" pitchFamily="34" charset="-122"/>
                <a:cs typeface="Calibri" pitchFamily="34" charset="-120"/>
              </a:rPr>
              <a:t>CNC milling machines remove copper layers to create isolation channels and traces, making chemical-free single-layer circuit boards (ideal for prototyping).</a:t>
            </a:r>
            <a:endParaRPr lang="en-US" sz="1200" dirty="0"/>
          </a:p>
        </p:txBody>
      </p:sp>
      <p:sp>
        <p:nvSpPr>
          <p:cNvPr id="21" name="Shape 19"/>
          <p:cNvSpPr/>
          <p:nvPr/>
        </p:nvSpPr>
        <p:spPr>
          <a:xfrm>
            <a:off x="4754880" y="2990088"/>
            <a:ext cx="4206240" cy="1737360"/>
          </a:xfrm>
          <a:prstGeom prst="rect">
            <a:avLst/>
          </a:prstGeom>
          <a:solidFill>
            <a:srgbClr val="142030"/>
          </a:solidFill>
          <a:ln w="12700">
            <a:solidFill>
              <a:srgbClr val="3A5070"/>
            </a:solidFill>
            <a:prstDash val="solid"/>
          </a:ln>
        </p:spPr>
      </p:sp>
      <p:sp>
        <p:nvSpPr>
          <p:cNvPr id="22" name="Shape 20"/>
          <p:cNvSpPr/>
          <p:nvPr/>
        </p:nvSpPr>
        <p:spPr>
          <a:xfrm>
            <a:off x="4754880" y="2990088"/>
            <a:ext cx="502920" cy="1737360"/>
          </a:xfrm>
          <a:prstGeom prst="rect">
            <a:avLst/>
          </a:prstGeom>
          <a:solidFill>
            <a:srgbClr val="F77F00"/>
          </a:solidFill>
          <a:ln w="12700">
            <a:solidFill>
              <a:srgbClr val="F77F00"/>
            </a:solidFill>
            <a:prstDash val="solid"/>
          </a:ln>
        </p:spPr>
      </p:sp>
      <p:sp>
        <p:nvSpPr>
          <p:cNvPr id="23" name="Text 21"/>
          <p:cNvSpPr/>
          <p:nvPr/>
        </p:nvSpPr>
        <p:spPr>
          <a:xfrm>
            <a:off x="4800600" y="3493008"/>
            <a:ext cx="411480" cy="64008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4" name="Text 22"/>
          <p:cNvSpPr/>
          <p:nvPr/>
        </p:nvSpPr>
        <p:spPr>
          <a:xfrm>
            <a:off x="5349240" y="3099816"/>
            <a:ext cx="347472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Speed &amp; Quality Control</a:t>
            </a:r>
            <a:endParaRPr lang="en-US" sz="1400" dirty="0"/>
          </a:p>
        </p:txBody>
      </p:sp>
      <p:sp>
        <p:nvSpPr>
          <p:cNvPr id="25" name="Text 23"/>
          <p:cNvSpPr/>
          <p:nvPr/>
        </p:nvSpPr>
        <p:spPr>
          <a:xfrm>
            <a:off x="5349240" y="3410712"/>
            <a:ext cx="3474720" cy="1188720"/>
          </a:xfrm>
          <a:prstGeom prst="rect">
            <a:avLst/>
          </a:prstGeom>
          <a:noFill/>
          <a:ln/>
        </p:spPr>
        <p:txBody>
          <a:bodyPr wrap="square" lIns="0" tIns="0" rIns="0" bIns="0" rtlCol="0" anchor="ctr"/>
          <a:lstStyle/>
          <a:p>
            <a:pPr marL="0" indent="0">
              <a:buNone/>
            </a:pPr>
            <a:r>
              <a:rPr lang="en-US" sz="1200" dirty="0">
                <a:solidFill>
                  <a:srgbClr val="7A90A8"/>
                </a:solidFill>
                <a:latin typeface="Calibri" pitchFamily="34" charset="0"/>
                <a:ea typeface="Calibri" pitchFamily="34" charset="-122"/>
                <a:cs typeface="Calibri" pitchFamily="34" charset="-120"/>
              </a:rPr>
              <a:t>CNC automation dramatically increases throughput, reduces human error, ensures batch-to-batch consistency, and enables rapid design iteration.</a:t>
            </a:r>
            <a:endParaRPr lang="en-US" sz="1200" dirty="0"/>
          </a:p>
        </p:txBody>
      </p:sp>
      <p:sp>
        <p:nvSpPr>
          <p:cNvPr id="26" name="Shape 24"/>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Basic Idea of G-code</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The language of CNC machines</a:t>
            </a:r>
            <a:endParaRPr lang="en-US" sz="1100" dirty="0"/>
          </a:p>
        </p:txBody>
      </p:sp>
      <p:sp>
        <p:nvSpPr>
          <p:cNvPr id="6" name="Text 4"/>
          <p:cNvSpPr/>
          <p:nvPr/>
        </p:nvSpPr>
        <p:spPr>
          <a:xfrm>
            <a:off x="365760" y="1097280"/>
            <a:ext cx="5029200" cy="868680"/>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G-code (Geometric Code) is the most widely used numerical control (NC) programming language. It tells a CNC machine what to do — where to move, how fast to move, and along what path — using simple alphanumeric commands.</a:t>
            </a:r>
            <a:endParaRPr lang="en-US" sz="1300" dirty="0"/>
          </a:p>
        </p:txBody>
      </p:sp>
      <p:sp>
        <p:nvSpPr>
          <p:cNvPr id="7" name="Text 5"/>
          <p:cNvSpPr/>
          <p:nvPr/>
        </p:nvSpPr>
        <p:spPr>
          <a:xfrm>
            <a:off x="365760" y="2084832"/>
            <a:ext cx="5029200" cy="320040"/>
          </a:xfrm>
          <a:prstGeom prst="rect">
            <a:avLst/>
          </a:prstGeom>
          <a:noFill/>
          <a:ln/>
        </p:spPr>
        <p:txBody>
          <a:bodyPr wrap="square" lIns="0" tIns="0" rIns="0" bIns="0"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G-code Building Blocks:</a:t>
            </a:r>
            <a:endParaRPr lang="en-US" sz="1400" dirty="0"/>
          </a:p>
        </p:txBody>
      </p:sp>
      <p:sp>
        <p:nvSpPr>
          <p:cNvPr id="8" name="Shape 6"/>
          <p:cNvSpPr/>
          <p:nvPr/>
        </p:nvSpPr>
        <p:spPr>
          <a:xfrm>
            <a:off x="365760" y="2468880"/>
            <a:ext cx="5029200" cy="411480"/>
          </a:xfrm>
          <a:prstGeom prst="rect">
            <a:avLst/>
          </a:prstGeom>
          <a:solidFill>
            <a:srgbClr val="142030"/>
          </a:solidFill>
          <a:ln w="12700">
            <a:solidFill>
              <a:srgbClr val="3A5070"/>
            </a:solidFill>
            <a:prstDash val="solid"/>
          </a:ln>
        </p:spPr>
      </p:sp>
      <p:sp>
        <p:nvSpPr>
          <p:cNvPr id="9" name="Shape 7"/>
          <p:cNvSpPr/>
          <p:nvPr/>
        </p:nvSpPr>
        <p:spPr>
          <a:xfrm>
            <a:off x="365760" y="2468880"/>
            <a:ext cx="1005840" cy="411480"/>
          </a:xfrm>
          <a:prstGeom prst="rect">
            <a:avLst/>
          </a:prstGeom>
          <a:solidFill>
            <a:srgbClr val="3A5070"/>
          </a:solidFill>
          <a:ln w="12700">
            <a:solidFill>
              <a:srgbClr val="3A5070"/>
            </a:solidFill>
            <a:prstDash val="solid"/>
          </a:ln>
        </p:spPr>
      </p:sp>
      <p:sp>
        <p:nvSpPr>
          <p:cNvPr id="10" name="Text 8"/>
          <p:cNvSpPr/>
          <p:nvPr/>
        </p:nvSpPr>
        <p:spPr>
          <a:xfrm>
            <a:off x="384048" y="2468880"/>
            <a:ext cx="969264" cy="411480"/>
          </a:xfrm>
          <a:prstGeom prst="rect">
            <a:avLst/>
          </a:prstGeom>
          <a:noFill/>
          <a:ln/>
        </p:spPr>
        <p:txBody>
          <a:bodyPr wrap="square" rtlCol="0" anchor="ctr"/>
          <a:lstStyle/>
          <a:p>
            <a:pPr marL="0" indent="0" algn="ctr">
              <a:buNone/>
            </a:pPr>
            <a:r>
              <a:rPr lang="en-US" sz="1200" b="1" dirty="0">
                <a:solidFill>
                  <a:srgbClr val="90E0EF"/>
                </a:solidFill>
                <a:latin typeface="Calibri" pitchFamily="34" charset="0"/>
                <a:ea typeface="Calibri" pitchFamily="34" charset="-122"/>
                <a:cs typeface="Calibri" pitchFamily="34" charset="-120"/>
              </a:rPr>
              <a:t>G words</a:t>
            </a:r>
            <a:endParaRPr lang="en-US" sz="1200" dirty="0"/>
          </a:p>
        </p:txBody>
      </p:sp>
      <p:sp>
        <p:nvSpPr>
          <p:cNvPr id="11" name="Text 9"/>
          <p:cNvSpPr/>
          <p:nvPr/>
        </p:nvSpPr>
        <p:spPr>
          <a:xfrm>
            <a:off x="1463040" y="2514600"/>
            <a:ext cx="3840480" cy="320040"/>
          </a:xfrm>
          <a:prstGeom prst="rect">
            <a:avLst/>
          </a:prstGeom>
          <a:noFill/>
          <a:ln/>
        </p:spPr>
        <p:txBody>
          <a:bodyPr wrap="square" lIns="0" tIns="0" rIns="0" bIns="0" rtlCol="0" anchor="ctr"/>
          <a:lstStyle/>
          <a:p>
            <a:pPr marL="0" indent="0">
              <a:buNone/>
            </a:pPr>
            <a:r>
              <a:rPr lang="en-US" sz="1150" dirty="0">
                <a:solidFill>
                  <a:srgbClr val="E2E8F0"/>
                </a:solidFill>
                <a:latin typeface="Calibri" pitchFamily="34" charset="0"/>
                <a:ea typeface="Calibri" pitchFamily="34" charset="-122"/>
                <a:cs typeface="Calibri" pitchFamily="34" charset="-120"/>
              </a:rPr>
              <a:t>Preparatory commands that set motion modes (e.g., G00 rapid move, G01 linear cut, G02 arc CW)</a:t>
            </a:r>
            <a:endParaRPr lang="en-US" sz="1150" dirty="0"/>
          </a:p>
        </p:txBody>
      </p:sp>
      <p:sp>
        <p:nvSpPr>
          <p:cNvPr id="12" name="Shape 10"/>
          <p:cNvSpPr/>
          <p:nvPr/>
        </p:nvSpPr>
        <p:spPr>
          <a:xfrm>
            <a:off x="365760" y="2944368"/>
            <a:ext cx="5029200" cy="411480"/>
          </a:xfrm>
          <a:prstGeom prst="rect">
            <a:avLst/>
          </a:prstGeom>
          <a:solidFill>
            <a:srgbClr val="142030"/>
          </a:solidFill>
          <a:ln w="12700">
            <a:solidFill>
              <a:srgbClr val="3A5070"/>
            </a:solidFill>
            <a:prstDash val="solid"/>
          </a:ln>
        </p:spPr>
      </p:sp>
      <p:sp>
        <p:nvSpPr>
          <p:cNvPr id="13" name="Shape 11"/>
          <p:cNvSpPr/>
          <p:nvPr/>
        </p:nvSpPr>
        <p:spPr>
          <a:xfrm>
            <a:off x="365760" y="2944368"/>
            <a:ext cx="1005840" cy="411480"/>
          </a:xfrm>
          <a:prstGeom prst="rect">
            <a:avLst/>
          </a:prstGeom>
          <a:solidFill>
            <a:srgbClr val="3A5070"/>
          </a:solidFill>
          <a:ln w="12700">
            <a:solidFill>
              <a:srgbClr val="3A5070"/>
            </a:solidFill>
            <a:prstDash val="solid"/>
          </a:ln>
        </p:spPr>
      </p:sp>
      <p:sp>
        <p:nvSpPr>
          <p:cNvPr id="14" name="Text 12"/>
          <p:cNvSpPr/>
          <p:nvPr/>
        </p:nvSpPr>
        <p:spPr>
          <a:xfrm>
            <a:off x="384048" y="2944368"/>
            <a:ext cx="969264" cy="411480"/>
          </a:xfrm>
          <a:prstGeom prst="rect">
            <a:avLst/>
          </a:prstGeom>
          <a:noFill/>
          <a:ln/>
        </p:spPr>
        <p:txBody>
          <a:bodyPr wrap="square" rtlCol="0" anchor="ctr"/>
          <a:lstStyle/>
          <a:p>
            <a:pPr marL="0" indent="0" algn="ctr">
              <a:buNone/>
            </a:pPr>
            <a:r>
              <a:rPr lang="en-US" sz="1200" b="1" dirty="0">
                <a:solidFill>
                  <a:srgbClr val="90E0EF"/>
                </a:solidFill>
                <a:latin typeface="Calibri" pitchFamily="34" charset="0"/>
                <a:ea typeface="Calibri" pitchFamily="34" charset="-122"/>
                <a:cs typeface="Calibri" pitchFamily="34" charset="-120"/>
              </a:rPr>
              <a:t>M words</a:t>
            </a:r>
            <a:endParaRPr lang="en-US" sz="1200" dirty="0"/>
          </a:p>
        </p:txBody>
      </p:sp>
      <p:sp>
        <p:nvSpPr>
          <p:cNvPr id="15" name="Text 13"/>
          <p:cNvSpPr/>
          <p:nvPr/>
        </p:nvSpPr>
        <p:spPr>
          <a:xfrm>
            <a:off x="1463040" y="2990088"/>
            <a:ext cx="3840480" cy="320040"/>
          </a:xfrm>
          <a:prstGeom prst="rect">
            <a:avLst/>
          </a:prstGeom>
          <a:noFill/>
          <a:ln/>
        </p:spPr>
        <p:txBody>
          <a:bodyPr wrap="square" lIns="0" tIns="0" rIns="0" bIns="0" rtlCol="0" anchor="ctr"/>
          <a:lstStyle/>
          <a:p>
            <a:pPr marL="0" indent="0">
              <a:buNone/>
            </a:pPr>
            <a:r>
              <a:rPr lang="en-US" sz="1150" dirty="0">
                <a:solidFill>
                  <a:srgbClr val="E2E8F0"/>
                </a:solidFill>
                <a:latin typeface="Calibri" pitchFamily="34" charset="0"/>
                <a:ea typeface="Calibri" pitchFamily="34" charset="-122"/>
                <a:cs typeface="Calibri" pitchFamily="34" charset="-120"/>
              </a:rPr>
              <a:t>Miscellaneous machine functions — spindle on/off, coolant, program stop/end</a:t>
            </a:r>
            <a:endParaRPr lang="en-US" sz="1150" dirty="0"/>
          </a:p>
        </p:txBody>
      </p:sp>
      <p:sp>
        <p:nvSpPr>
          <p:cNvPr id="16" name="Shape 14"/>
          <p:cNvSpPr/>
          <p:nvPr/>
        </p:nvSpPr>
        <p:spPr>
          <a:xfrm>
            <a:off x="365760" y="3419856"/>
            <a:ext cx="5029200" cy="411480"/>
          </a:xfrm>
          <a:prstGeom prst="rect">
            <a:avLst/>
          </a:prstGeom>
          <a:solidFill>
            <a:srgbClr val="142030"/>
          </a:solidFill>
          <a:ln w="12700">
            <a:solidFill>
              <a:srgbClr val="3A5070"/>
            </a:solidFill>
            <a:prstDash val="solid"/>
          </a:ln>
        </p:spPr>
      </p:sp>
      <p:sp>
        <p:nvSpPr>
          <p:cNvPr id="17" name="Shape 15"/>
          <p:cNvSpPr/>
          <p:nvPr/>
        </p:nvSpPr>
        <p:spPr>
          <a:xfrm>
            <a:off x="365760" y="3419856"/>
            <a:ext cx="1005840" cy="411480"/>
          </a:xfrm>
          <a:prstGeom prst="rect">
            <a:avLst/>
          </a:prstGeom>
          <a:solidFill>
            <a:srgbClr val="3A5070"/>
          </a:solidFill>
          <a:ln w="12700">
            <a:solidFill>
              <a:srgbClr val="3A5070"/>
            </a:solidFill>
            <a:prstDash val="solid"/>
          </a:ln>
        </p:spPr>
      </p:sp>
      <p:sp>
        <p:nvSpPr>
          <p:cNvPr id="18" name="Text 16"/>
          <p:cNvSpPr/>
          <p:nvPr/>
        </p:nvSpPr>
        <p:spPr>
          <a:xfrm>
            <a:off x="384048" y="3419856"/>
            <a:ext cx="969264" cy="411480"/>
          </a:xfrm>
          <a:prstGeom prst="rect">
            <a:avLst/>
          </a:prstGeom>
          <a:noFill/>
          <a:ln/>
        </p:spPr>
        <p:txBody>
          <a:bodyPr wrap="square" rtlCol="0" anchor="ctr"/>
          <a:lstStyle/>
          <a:p>
            <a:pPr marL="0" indent="0" algn="ctr">
              <a:buNone/>
            </a:pPr>
            <a:r>
              <a:rPr lang="en-US" sz="1200" b="1" dirty="0">
                <a:solidFill>
                  <a:srgbClr val="90E0EF"/>
                </a:solidFill>
                <a:latin typeface="Calibri" pitchFamily="34" charset="0"/>
                <a:ea typeface="Calibri" pitchFamily="34" charset="-122"/>
                <a:cs typeface="Calibri" pitchFamily="34" charset="-120"/>
              </a:rPr>
              <a:t>F word</a:t>
            </a:r>
            <a:endParaRPr lang="en-US" sz="1200" dirty="0"/>
          </a:p>
        </p:txBody>
      </p:sp>
      <p:sp>
        <p:nvSpPr>
          <p:cNvPr id="19" name="Text 17"/>
          <p:cNvSpPr/>
          <p:nvPr/>
        </p:nvSpPr>
        <p:spPr>
          <a:xfrm>
            <a:off x="1463040" y="3465576"/>
            <a:ext cx="3840480" cy="320040"/>
          </a:xfrm>
          <a:prstGeom prst="rect">
            <a:avLst/>
          </a:prstGeom>
          <a:noFill/>
          <a:ln/>
        </p:spPr>
        <p:txBody>
          <a:bodyPr wrap="square" lIns="0" tIns="0" rIns="0" bIns="0" rtlCol="0" anchor="ctr"/>
          <a:lstStyle/>
          <a:p>
            <a:pPr marL="0" indent="0">
              <a:buNone/>
            </a:pPr>
            <a:r>
              <a:rPr lang="en-US" sz="1150" dirty="0">
                <a:solidFill>
                  <a:srgbClr val="E2E8F0"/>
                </a:solidFill>
                <a:latin typeface="Calibri" pitchFamily="34" charset="0"/>
                <a:ea typeface="Calibri" pitchFamily="34" charset="-122"/>
                <a:cs typeface="Calibri" pitchFamily="34" charset="-120"/>
              </a:rPr>
              <a:t>Feed rate — controls how fast the tool moves during cutting operations</a:t>
            </a:r>
            <a:endParaRPr lang="en-US" sz="1150" dirty="0"/>
          </a:p>
        </p:txBody>
      </p:sp>
      <p:sp>
        <p:nvSpPr>
          <p:cNvPr id="20" name="Shape 18"/>
          <p:cNvSpPr/>
          <p:nvPr/>
        </p:nvSpPr>
        <p:spPr>
          <a:xfrm>
            <a:off x="365760" y="3895344"/>
            <a:ext cx="5029200" cy="411480"/>
          </a:xfrm>
          <a:prstGeom prst="rect">
            <a:avLst/>
          </a:prstGeom>
          <a:solidFill>
            <a:srgbClr val="142030"/>
          </a:solidFill>
          <a:ln w="12700">
            <a:solidFill>
              <a:srgbClr val="3A5070"/>
            </a:solidFill>
            <a:prstDash val="solid"/>
          </a:ln>
        </p:spPr>
      </p:sp>
      <p:sp>
        <p:nvSpPr>
          <p:cNvPr id="21" name="Shape 19"/>
          <p:cNvSpPr/>
          <p:nvPr/>
        </p:nvSpPr>
        <p:spPr>
          <a:xfrm>
            <a:off x="365760" y="3895344"/>
            <a:ext cx="1005840" cy="411480"/>
          </a:xfrm>
          <a:prstGeom prst="rect">
            <a:avLst/>
          </a:prstGeom>
          <a:solidFill>
            <a:srgbClr val="3A5070"/>
          </a:solidFill>
          <a:ln w="12700">
            <a:solidFill>
              <a:srgbClr val="3A5070"/>
            </a:solidFill>
            <a:prstDash val="solid"/>
          </a:ln>
        </p:spPr>
      </p:sp>
      <p:sp>
        <p:nvSpPr>
          <p:cNvPr id="22" name="Text 20"/>
          <p:cNvSpPr/>
          <p:nvPr/>
        </p:nvSpPr>
        <p:spPr>
          <a:xfrm>
            <a:off x="384048" y="3895344"/>
            <a:ext cx="969264" cy="411480"/>
          </a:xfrm>
          <a:prstGeom prst="rect">
            <a:avLst/>
          </a:prstGeom>
          <a:noFill/>
          <a:ln/>
        </p:spPr>
        <p:txBody>
          <a:bodyPr wrap="square" rtlCol="0" anchor="ctr"/>
          <a:lstStyle/>
          <a:p>
            <a:pPr marL="0" indent="0" algn="ctr">
              <a:buNone/>
            </a:pPr>
            <a:r>
              <a:rPr lang="en-US" sz="1200" b="1" dirty="0">
                <a:solidFill>
                  <a:srgbClr val="90E0EF"/>
                </a:solidFill>
                <a:latin typeface="Calibri" pitchFamily="34" charset="0"/>
                <a:ea typeface="Calibri" pitchFamily="34" charset="-122"/>
                <a:cs typeface="Calibri" pitchFamily="34" charset="-120"/>
              </a:rPr>
              <a:t>T word</a:t>
            </a:r>
            <a:endParaRPr lang="en-US" sz="1200" dirty="0"/>
          </a:p>
        </p:txBody>
      </p:sp>
      <p:sp>
        <p:nvSpPr>
          <p:cNvPr id="23" name="Text 21"/>
          <p:cNvSpPr/>
          <p:nvPr/>
        </p:nvSpPr>
        <p:spPr>
          <a:xfrm>
            <a:off x="1463040" y="3941064"/>
            <a:ext cx="3840480" cy="320040"/>
          </a:xfrm>
          <a:prstGeom prst="rect">
            <a:avLst/>
          </a:prstGeom>
          <a:noFill/>
          <a:ln/>
        </p:spPr>
        <p:txBody>
          <a:bodyPr wrap="square" lIns="0" tIns="0" rIns="0" bIns="0" rtlCol="0" anchor="ctr"/>
          <a:lstStyle/>
          <a:p>
            <a:pPr marL="0" indent="0">
              <a:buNone/>
            </a:pPr>
            <a:r>
              <a:rPr lang="en-US" sz="1150" dirty="0">
                <a:solidFill>
                  <a:srgbClr val="E2E8F0"/>
                </a:solidFill>
                <a:latin typeface="Calibri" pitchFamily="34" charset="0"/>
                <a:ea typeface="Calibri" pitchFamily="34" charset="-122"/>
                <a:cs typeface="Calibri" pitchFamily="34" charset="-120"/>
              </a:rPr>
              <a:t>Tool selection — specifies which tool from the magazine to use</a:t>
            </a:r>
            <a:endParaRPr lang="en-US" sz="1150" dirty="0"/>
          </a:p>
        </p:txBody>
      </p:sp>
      <p:sp>
        <p:nvSpPr>
          <p:cNvPr id="24" name="Shape 22"/>
          <p:cNvSpPr/>
          <p:nvPr/>
        </p:nvSpPr>
        <p:spPr>
          <a:xfrm>
            <a:off x="365760" y="4370832"/>
            <a:ext cx="5029200" cy="411480"/>
          </a:xfrm>
          <a:prstGeom prst="rect">
            <a:avLst/>
          </a:prstGeom>
          <a:solidFill>
            <a:srgbClr val="142030"/>
          </a:solidFill>
          <a:ln w="12700">
            <a:solidFill>
              <a:srgbClr val="3A5070"/>
            </a:solidFill>
            <a:prstDash val="solid"/>
          </a:ln>
        </p:spPr>
      </p:sp>
      <p:sp>
        <p:nvSpPr>
          <p:cNvPr id="25" name="Shape 23"/>
          <p:cNvSpPr/>
          <p:nvPr/>
        </p:nvSpPr>
        <p:spPr>
          <a:xfrm>
            <a:off x="365760" y="4370832"/>
            <a:ext cx="1005840" cy="411480"/>
          </a:xfrm>
          <a:prstGeom prst="rect">
            <a:avLst/>
          </a:prstGeom>
          <a:solidFill>
            <a:srgbClr val="3A5070"/>
          </a:solidFill>
          <a:ln w="12700">
            <a:solidFill>
              <a:srgbClr val="3A5070"/>
            </a:solidFill>
            <a:prstDash val="solid"/>
          </a:ln>
        </p:spPr>
      </p:sp>
      <p:sp>
        <p:nvSpPr>
          <p:cNvPr id="26" name="Text 24"/>
          <p:cNvSpPr/>
          <p:nvPr/>
        </p:nvSpPr>
        <p:spPr>
          <a:xfrm>
            <a:off x="384048" y="4370832"/>
            <a:ext cx="969264" cy="411480"/>
          </a:xfrm>
          <a:prstGeom prst="rect">
            <a:avLst/>
          </a:prstGeom>
          <a:noFill/>
          <a:ln/>
        </p:spPr>
        <p:txBody>
          <a:bodyPr wrap="square" rtlCol="0" anchor="ctr"/>
          <a:lstStyle/>
          <a:p>
            <a:pPr marL="0" indent="0" algn="ctr">
              <a:buNone/>
            </a:pPr>
            <a:r>
              <a:rPr lang="en-US" sz="1200" b="1" dirty="0">
                <a:solidFill>
                  <a:srgbClr val="90E0EF"/>
                </a:solidFill>
                <a:latin typeface="Calibri" pitchFamily="34" charset="0"/>
                <a:ea typeface="Calibri" pitchFamily="34" charset="-122"/>
                <a:cs typeface="Calibri" pitchFamily="34" charset="-120"/>
              </a:rPr>
              <a:t>S word</a:t>
            </a:r>
            <a:endParaRPr lang="en-US" sz="1200" dirty="0"/>
          </a:p>
        </p:txBody>
      </p:sp>
      <p:sp>
        <p:nvSpPr>
          <p:cNvPr id="27" name="Text 25"/>
          <p:cNvSpPr/>
          <p:nvPr/>
        </p:nvSpPr>
        <p:spPr>
          <a:xfrm>
            <a:off x="1463040" y="4416552"/>
            <a:ext cx="3840480" cy="320040"/>
          </a:xfrm>
          <a:prstGeom prst="rect">
            <a:avLst/>
          </a:prstGeom>
          <a:noFill/>
          <a:ln/>
        </p:spPr>
        <p:txBody>
          <a:bodyPr wrap="square" lIns="0" tIns="0" rIns="0" bIns="0" rtlCol="0" anchor="ctr"/>
          <a:lstStyle/>
          <a:p>
            <a:pPr marL="0" indent="0">
              <a:buNone/>
            </a:pPr>
            <a:r>
              <a:rPr lang="en-US" sz="1150" dirty="0">
                <a:solidFill>
                  <a:srgbClr val="E2E8F0"/>
                </a:solidFill>
                <a:latin typeface="Calibri" pitchFamily="34" charset="0"/>
                <a:ea typeface="Calibri" pitchFamily="34" charset="-122"/>
                <a:cs typeface="Calibri" pitchFamily="34" charset="-120"/>
              </a:rPr>
              <a:t>Spindle speed — sets RPM of the cutting spindle</a:t>
            </a:r>
            <a:endParaRPr lang="en-US" sz="1150" dirty="0"/>
          </a:p>
        </p:txBody>
      </p:sp>
      <p:pic>
        <p:nvPicPr>
          <p:cNvPr id="28" name="Image 0" descr="preencoded.png"/>
          <p:cNvPicPr>
            <a:picLocks noChangeAspect="1"/>
          </p:cNvPicPr>
          <p:nvPr/>
        </p:nvPicPr>
        <p:blipFill>
          <a:blip r:embed="rId3"/>
          <a:srcRect/>
          <a:stretch/>
        </p:blipFill>
        <p:spPr>
          <a:xfrm>
            <a:off x="5577840" y="1051560"/>
            <a:ext cx="3291840" cy="3794760"/>
          </a:xfrm>
          <a:prstGeom prst="rect">
            <a:avLst/>
          </a:prstGeom>
        </p:spPr>
      </p:pic>
      <p:sp>
        <p:nvSpPr>
          <p:cNvPr id="29" name="Shape 26"/>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36576"/>
            <a:ext cx="8595360" cy="6400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What do (G00, G01, G02, G03, G90, G91, G92, F, M03, M04, M05, T, M06, M08, M09, M00, M30) these mean in G-code?)</a:t>
            </a:r>
            <a:endParaRPr lang="en-US" sz="1800" dirty="0"/>
          </a:p>
        </p:txBody>
      </p:sp>
      <p:sp>
        <p:nvSpPr>
          <p:cNvPr id="5" name="Text 3"/>
          <p:cNvSpPr/>
          <p:nvPr/>
        </p:nvSpPr>
        <p:spPr>
          <a:xfrm>
            <a:off x="347472" y="694944"/>
            <a:ext cx="8595360" cy="219456"/>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G-code Command Reference</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28600" y="1024128"/>
          <a:ext cx="4251960" cy="3922776"/>
        </p:xfrm>
        <a:graphic>
          <a:graphicData uri="http://schemas.openxmlformats.org/drawingml/2006/table">
            <a:tbl>
              <a:tblPr/>
              <a:tblGrid>
                <a:gridCol w="621792">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2121408">
                  <a:extLst>
                    <a:ext uri="{9D8B030D-6E8A-4147-A177-3AD203B41FA5}">
                      <a16:colId xmlns:a16="http://schemas.microsoft.com/office/drawing/2014/main" val="20002"/>
                    </a:ext>
                  </a:extLst>
                </a:gridCol>
              </a:tblGrid>
              <a:tr h="347472">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Code</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Name</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10000"/>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G00</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Rapid Positioning</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Moves tool at max speed — no cutting</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1"/>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G01</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Linear Interpolation</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Straight-line cut at controlled feed rate (F)</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2"/>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G02</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Circular Interp. (CW)</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Clockwise circular arc at feed rate</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3"/>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G03</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Circular Interp. (CCW)</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Counter-clockwise arc at feed rate</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4"/>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G90</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Absolute Positioning</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Coordinates measured from fixed origin</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5"/>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G91</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Incremental Posit.</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Coordinates relative to current position</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6"/>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G92</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Set Coordinate System</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Redefines current position as new origin</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7"/>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Feed Rate</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Speed of tool movement during cutting (mm/min)</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8"/>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M03</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Spindle ON (CW)</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Starts spindle motor clockwise at set RPM</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9"/>
                  </a:ext>
                </a:extLst>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4663440" y="1024128"/>
          <a:ext cx="4251960" cy="3447288"/>
        </p:xfrm>
        <a:graphic>
          <a:graphicData uri="http://schemas.openxmlformats.org/drawingml/2006/table">
            <a:tbl>
              <a:tblPr/>
              <a:tblGrid>
                <a:gridCol w="621792">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2121408">
                  <a:extLst>
                    <a:ext uri="{9D8B030D-6E8A-4147-A177-3AD203B41FA5}">
                      <a16:colId xmlns:a16="http://schemas.microsoft.com/office/drawing/2014/main" val="20002"/>
                    </a:ext>
                  </a:extLst>
                </a:gridCol>
              </a:tblGrid>
              <a:tr h="347472">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Code</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Name</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10000"/>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M04</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Spindle ON (CCW)</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Starts spindle motor counter-clockwise</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1"/>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M05</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Spindle OFF</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Stops the spindle motor</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2"/>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T</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Tool Select</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Selects tool from magazine (e.g. T01 = tool #1)</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3"/>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M06</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Tool Change</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Executes the physical tool swap in spindle</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4"/>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M08</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Coolant ON</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Activates coolant pump/spray</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5"/>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M09</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Coolant OFF</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Deactivates coolant system</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6"/>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M00</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Program Stop</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Pauses program; waits for operator input</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7"/>
                  </a:ext>
                </a:extLst>
              </a:tr>
              <a:tr h="347472">
                <a:tc>
                  <a:txBody>
                    <a:bodyPr/>
                    <a:lstStyle/>
                    <a:p>
                      <a:pPr marL="0" indent="0" algn="ctr">
                        <a:buNone/>
                      </a:pPr>
                      <a:r>
                        <a:rPr lang="en-US" sz="1100" b="1" dirty="0">
                          <a:solidFill>
                            <a:srgbClr val="48CAE4"/>
                          </a:solidFill>
                          <a:latin typeface="Calibri" pitchFamily="34" charset="0"/>
                          <a:ea typeface="Calibri" pitchFamily="34" charset="-122"/>
                          <a:cs typeface="Calibri" pitchFamily="34" charset="-120"/>
                        </a:rPr>
                        <a:t>M30</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End &amp; Reset</a:t>
                      </a:r>
                      <a:endParaRPr lang="en-US" sz="110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dirty="0">
                          <a:solidFill>
                            <a:srgbClr val="7A90A8"/>
                          </a:solidFill>
                          <a:latin typeface="Calibri" pitchFamily="34" charset="0"/>
                          <a:ea typeface="Calibri" pitchFamily="34" charset="-122"/>
                          <a:cs typeface="Calibri" pitchFamily="34" charset="-120"/>
                        </a:rPr>
                        <a:t>Ends program, rewinds to beginning</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8"/>
                  </a:ext>
                </a:extLst>
              </a:tr>
            </a:tbl>
          </a:graphicData>
        </a:graphic>
      </p:graphicFrame>
      <p:sp>
        <p:nvSpPr>
          <p:cNvPr id="8" name="Shape 4"/>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is a Microcontroller?</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Section 3 — Definition &amp; Components</a:t>
            </a:r>
            <a:endParaRPr lang="en-US" sz="1100" dirty="0"/>
          </a:p>
        </p:txBody>
      </p:sp>
      <p:sp>
        <p:nvSpPr>
          <p:cNvPr id="6" name="Text 4"/>
          <p:cNvSpPr/>
          <p:nvPr/>
        </p:nvSpPr>
        <p:spPr>
          <a:xfrm>
            <a:off x="365760" y="1097280"/>
            <a:ext cx="5029200" cy="1005840"/>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A microcontroller (MCU) is a compact integrated circuit (IC) that houses a processor (CPU), memory (RAM + Flash/ROM), and programmable input/output peripherals — all on a single chip. It is designed to run one specific embedded application with limited resources.</a:t>
            </a:r>
            <a:endParaRPr lang="en-US" sz="1300" dirty="0"/>
          </a:p>
        </p:txBody>
      </p:sp>
      <p:sp>
        <p:nvSpPr>
          <p:cNvPr id="7" name="Text 5"/>
          <p:cNvSpPr/>
          <p:nvPr/>
        </p:nvSpPr>
        <p:spPr>
          <a:xfrm>
            <a:off x="365760" y="2212848"/>
            <a:ext cx="5029200" cy="301752"/>
          </a:xfrm>
          <a:prstGeom prst="rect">
            <a:avLst/>
          </a:prstGeom>
          <a:noFill/>
          <a:ln/>
        </p:spPr>
        <p:txBody>
          <a:bodyPr wrap="square" lIns="0" tIns="0" rIns="0" bIns="0"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On-chip Components:</a:t>
            </a:r>
            <a:endParaRPr lang="en-US" sz="1400" dirty="0"/>
          </a:p>
        </p:txBody>
      </p:sp>
      <p:sp>
        <p:nvSpPr>
          <p:cNvPr id="8" name="Text 6"/>
          <p:cNvSpPr/>
          <p:nvPr/>
        </p:nvSpPr>
        <p:spPr>
          <a:xfrm>
            <a:off x="365760" y="2560320"/>
            <a:ext cx="5029200" cy="2194560"/>
          </a:xfrm>
          <a:prstGeom prst="rect">
            <a:avLst/>
          </a:prstGeom>
          <a:noFill/>
          <a:ln/>
        </p:spPr>
        <p:txBody>
          <a:bodyPr wrap="square" rtlCol="0" anchor="ctr"/>
          <a:lstStyle/>
          <a:p>
            <a:pPr marL="342900" indent="-342900">
              <a:spcAft>
                <a:spcPts val="300"/>
              </a:spcAft>
              <a:buSzPct val="100000"/>
              <a:buChar char="•"/>
            </a:pPr>
            <a:r>
              <a:rPr lang="en-US" sz="1250" dirty="0">
                <a:solidFill>
                  <a:srgbClr val="E2E8F0"/>
                </a:solidFill>
                <a:latin typeface="Calibri" pitchFamily="34" charset="0"/>
                <a:ea typeface="Calibri" pitchFamily="34" charset="-122"/>
                <a:cs typeface="Calibri" pitchFamily="34" charset="-120"/>
              </a:rPr>
              <a:t>CPU — Central Processing Unit for instruction execution</a:t>
            </a:r>
            <a:endParaRPr lang="en-US" sz="1250" dirty="0"/>
          </a:p>
          <a:p>
            <a:pPr marL="342900" indent="-342900">
              <a:spcAft>
                <a:spcPts val="300"/>
              </a:spcAft>
              <a:buSzPct val="100000"/>
              <a:buChar char="•"/>
            </a:pPr>
            <a:r>
              <a:rPr lang="en-US" sz="1250" dirty="0">
                <a:solidFill>
                  <a:srgbClr val="E2E8F0"/>
                </a:solidFill>
                <a:latin typeface="Calibri" pitchFamily="34" charset="0"/>
                <a:ea typeface="Calibri" pitchFamily="34" charset="-122"/>
                <a:cs typeface="Calibri" pitchFamily="34" charset="-120"/>
              </a:rPr>
              <a:t>Flash / ROM — Program memory (stores firmware)</a:t>
            </a:r>
            <a:endParaRPr lang="en-US" sz="1250" dirty="0"/>
          </a:p>
          <a:p>
            <a:pPr marL="342900" indent="-342900">
              <a:spcAft>
                <a:spcPts val="300"/>
              </a:spcAft>
              <a:buSzPct val="100000"/>
              <a:buChar char="•"/>
            </a:pPr>
            <a:r>
              <a:rPr lang="en-US" sz="1250" dirty="0">
                <a:solidFill>
                  <a:srgbClr val="E2E8F0"/>
                </a:solidFill>
                <a:latin typeface="Calibri" pitchFamily="34" charset="0"/>
                <a:ea typeface="Calibri" pitchFamily="34" charset="-122"/>
                <a:cs typeface="Calibri" pitchFamily="34" charset="-120"/>
              </a:rPr>
              <a:t>RAM — Data memory for runtime variables</a:t>
            </a:r>
            <a:endParaRPr lang="en-US" sz="1250" dirty="0"/>
          </a:p>
          <a:p>
            <a:pPr marL="342900" indent="-342900">
              <a:spcAft>
                <a:spcPts val="300"/>
              </a:spcAft>
              <a:buSzPct val="100000"/>
              <a:buChar char="•"/>
            </a:pPr>
            <a:r>
              <a:rPr lang="en-US" sz="1250" dirty="0">
                <a:solidFill>
                  <a:srgbClr val="E2E8F0"/>
                </a:solidFill>
                <a:latin typeface="Calibri" pitchFamily="34" charset="0"/>
                <a:ea typeface="Calibri" pitchFamily="34" charset="-122"/>
                <a:cs typeface="Calibri" pitchFamily="34" charset="-120"/>
              </a:rPr>
              <a:t>ADC / DAC — Analog-to-digital &amp; digital-to-analog converters</a:t>
            </a:r>
            <a:endParaRPr lang="en-US" sz="1250" dirty="0"/>
          </a:p>
          <a:p>
            <a:pPr marL="342900" indent="-342900">
              <a:spcAft>
                <a:spcPts val="300"/>
              </a:spcAft>
              <a:buSzPct val="100000"/>
              <a:buChar char="•"/>
            </a:pPr>
            <a:r>
              <a:rPr lang="en-US" sz="1250" dirty="0">
                <a:solidFill>
                  <a:srgbClr val="E2E8F0"/>
                </a:solidFill>
                <a:latin typeface="Calibri" pitchFamily="34" charset="0"/>
                <a:ea typeface="Calibri" pitchFamily="34" charset="-122"/>
                <a:cs typeface="Calibri" pitchFamily="34" charset="-120"/>
              </a:rPr>
              <a:t>GPIO — General Purpose Input/Output pins</a:t>
            </a:r>
            <a:endParaRPr lang="en-US" sz="1250" dirty="0"/>
          </a:p>
          <a:p>
            <a:pPr marL="342900" indent="-342900">
              <a:spcAft>
                <a:spcPts val="300"/>
              </a:spcAft>
              <a:buSzPct val="100000"/>
              <a:buChar char="•"/>
            </a:pPr>
            <a:r>
              <a:rPr lang="en-US" sz="1250" dirty="0">
                <a:solidFill>
                  <a:srgbClr val="E2E8F0"/>
                </a:solidFill>
                <a:latin typeface="Calibri" pitchFamily="34" charset="0"/>
                <a:ea typeface="Calibri" pitchFamily="34" charset="-122"/>
                <a:cs typeface="Calibri" pitchFamily="34" charset="-120"/>
              </a:rPr>
              <a:t>Timers/PWM — Timing and PWM signal generation</a:t>
            </a:r>
            <a:endParaRPr lang="en-US" sz="1250" dirty="0"/>
          </a:p>
          <a:p>
            <a:pPr marL="342900" indent="-342900">
              <a:spcAft>
                <a:spcPts val="300"/>
              </a:spcAft>
              <a:buSzPct val="100000"/>
              <a:buChar char="•"/>
            </a:pPr>
            <a:r>
              <a:rPr lang="en-US" sz="1250" dirty="0">
                <a:solidFill>
                  <a:srgbClr val="E2E8F0"/>
                </a:solidFill>
                <a:latin typeface="Calibri" pitchFamily="34" charset="0"/>
                <a:ea typeface="Calibri" pitchFamily="34" charset="-122"/>
                <a:cs typeface="Calibri" pitchFamily="34" charset="-120"/>
              </a:rPr>
              <a:t>UART / SPI / I2C — Serial communication protocols</a:t>
            </a:r>
            <a:endParaRPr lang="en-US" sz="1250" dirty="0"/>
          </a:p>
        </p:txBody>
      </p:sp>
      <p:pic>
        <p:nvPicPr>
          <p:cNvPr id="9" name="Image 0"/>
          <p:cNvPicPr>
            <a:picLocks noChangeAspect="1"/>
          </p:cNvPicPr>
          <p:nvPr/>
        </p:nvPicPr>
        <p:blipFill>
          <a:blip r:embed="rId3"/>
          <a:srcRect/>
          <a:stretch/>
        </p:blipFill>
        <p:spPr>
          <a:xfrm>
            <a:off x="5671553" y="994410"/>
            <a:ext cx="2955514" cy="1477758"/>
          </a:xfrm>
          <a:prstGeom prst="rect">
            <a:avLst/>
          </a:prstGeom>
        </p:spPr>
      </p:pic>
      <p:sp>
        <p:nvSpPr>
          <p:cNvPr id="10" name="Shape 7"/>
          <p:cNvSpPr/>
          <p:nvPr/>
        </p:nvSpPr>
        <p:spPr>
          <a:xfrm>
            <a:off x="0" y="4983480"/>
            <a:ext cx="9144000" cy="160020"/>
          </a:xfrm>
          <a:prstGeom prst="rect">
            <a:avLst/>
          </a:prstGeom>
          <a:solidFill>
            <a:srgbClr val="050C18"/>
          </a:solidFill>
          <a:ln w="12700">
            <a:solidFill>
              <a:srgbClr val="050C18"/>
            </a:solidFill>
            <a:prstDash val="solid"/>
          </a:ln>
        </p:spPr>
      </p:sp>
      <p:pic>
        <p:nvPicPr>
          <p:cNvPr id="14" name="Picture 13">
            <a:extLst>
              <a:ext uri="{FF2B5EF4-FFF2-40B4-BE49-F238E27FC236}">
                <a16:creationId xmlns:a16="http://schemas.microsoft.com/office/drawing/2014/main" id="{D74B78A3-681C-6AC6-9C35-E8B00F2BE0B4}"/>
              </a:ext>
            </a:extLst>
          </p:cNvPr>
          <p:cNvPicPr>
            <a:picLocks noChangeAspect="1"/>
          </p:cNvPicPr>
          <p:nvPr/>
        </p:nvPicPr>
        <p:blipFill>
          <a:blip r:embed="rId4"/>
          <a:stretch>
            <a:fillRect/>
          </a:stretch>
        </p:blipFill>
        <p:spPr>
          <a:xfrm>
            <a:off x="5671553" y="2571750"/>
            <a:ext cx="2955514" cy="23317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Why microcontrollers are used?</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Applications &amp; Motivation</a:t>
            </a:r>
            <a:endParaRPr lang="en-US" sz="1100" dirty="0"/>
          </a:p>
        </p:txBody>
      </p:sp>
      <p:sp>
        <p:nvSpPr>
          <p:cNvPr id="6" name="Shape 4"/>
          <p:cNvSpPr/>
          <p:nvPr/>
        </p:nvSpPr>
        <p:spPr>
          <a:xfrm>
            <a:off x="274320" y="1115568"/>
            <a:ext cx="2743200" cy="1783080"/>
          </a:xfrm>
          <a:prstGeom prst="rect">
            <a:avLst/>
          </a:prstGeom>
          <a:solidFill>
            <a:srgbClr val="142030"/>
          </a:solidFill>
          <a:ln w="12700">
            <a:solidFill>
              <a:srgbClr val="3A5070"/>
            </a:solidFill>
            <a:prstDash val="solid"/>
          </a:ln>
        </p:spPr>
      </p:sp>
      <p:sp>
        <p:nvSpPr>
          <p:cNvPr id="7" name="Shape 5"/>
          <p:cNvSpPr/>
          <p:nvPr/>
        </p:nvSpPr>
        <p:spPr>
          <a:xfrm>
            <a:off x="274320" y="1115568"/>
            <a:ext cx="2743200" cy="228600"/>
          </a:xfrm>
          <a:prstGeom prst="rect">
            <a:avLst/>
          </a:prstGeom>
          <a:solidFill>
            <a:srgbClr val="00B4D8"/>
          </a:solidFill>
          <a:ln w="12700">
            <a:solidFill>
              <a:srgbClr val="00B4D8"/>
            </a:solidFill>
            <a:prstDash val="solid"/>
          </a:ln>
        </p:spPr>
      </p:sp>
      <p:sp>
        <p:nvSpPr>
          <p:cNvPr id="8" name="Text 6"/>
          <p:cNvSpPr/>
          <p:nvPr/>
        </p:nvSpPr>
        <p:spPr>
          <a:xfrm>
            <a:off x="365760" y="1389888"/>
            <a:ext cx="457200" cy="45720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9" name="Text 7"/>
          <p:cNvSpPr/>
          <p:nvPr/>
        </p:nvSpPr>
        <p:spPr>
          <a:xfrm>
            <a:off x="841248" y="1389888"/>
            <a:ext cx="210312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Low Cost</a:t>
            </a:r>
            <a:endParaRPr lang="en-US" sz="1300" dirty="0"/>
          </a:p>
        </p:txBody>
      </p:sp>
      <p:sp>
        <p:nvSpPr>
          <p:cNvPr id="10" name="Text 8"/>
          <p:cNvSpPr/>
          <p:nvPr/>
        </p:nvSpPr>
        <p:spPr>
          <a:xfrm>
            <a:off x="365760" y="1801368"/>
            <a:ext cx="2578608" cy="1005840"/>
          </a:xfrm>
          <a:prstGeom prst="rect">
            <a:avLst/>
          </a:prstGeom>
          <a:noFill/>
          <a:ln/>
        </p:spPr>
        <p:txBody>
          <a:bodyPr wrap="square" lIns="0" tIns="0" rIns="0" bIns="0" rtlCol="0" anchor="ctr"/>
          <a:lstStyle/>
          <a:p>
            <a:pPr marL="0" indent="0">
              <a:buNone/>
            </a:pPr>
            <a:r>
              <a:rPr lang="en-US" sz="1100" dirty="0">
                <a:solidFill>
                  <a:srgbClr val="7A90A8"/>
                </a:solidFill>
                <a:latin typeface="Calibri" pitchFamily="34" charset="0"/>
                <a:ea typeface="Calibri" pitchFamily="34" charset="-122"/>
                <a:cs typeface="Calibri" pitchFamily="34" charset="-120"/>
              </a:rPr>
              <a:t>MCUs are extremely affordable (pennies to a few dollars), integrating CPU, memory, and I/O on one chip, removing the need for multiple discrete components.</a:t>
            </a:r>
            <a:endParaRPr lang="en-US" sz="1100" dirty="0"/>
          </a:p>
        </p:txBody>
      </p:sp>
      <p:sp>
        <p:nvSpPr>
          <p:cNvPr id="11" name="Shape 9"/>
          <p:cNvSpPr/>
          <p:nvPr/>
        </p:nvSpPr>
        <p:spPr>
          <a:xfrm>
            <a:off x="3200400" y="1115568"/>
            <a:ext cx="2743200" cy="1783080"/>
          </a:xfrm>
          <a:prstGeom prst="rect">
            <a:avLst/>
          </a:prstGeom>
          <a:solidFill>
            <a:srgbClr val="142030"/>
          </a:solidFill>
          <a:ln w="12700">
            <a:solidFill>
              <a:srgbClr val="3A5070"/>
            </a:solidFill>
            <a:prstDash val="solid"/>
          </a:ln>
        </p:spPr>
      </p:sp>
      <p:sp>
        <p:nvSpPr>
          <p:cNvPr id="12" name="Shape 10"/>
          <p:cNvSpPr/>
          <p:nvPr/>
        </p:nvSpPr>
        <p:spPr>
          <a:xfrm>
            <a:off x="3200400" y="1115568"/>
            <a:ext cx="2743200" cy="228600"/>
          </a:xfrm>
          <a:prstGeom prst="rect">
            <a:avLst/>
          </a:prstGeom>
          <a:solidFill>
            <a:srgbClr val="F77F00"/>
          </a:solidFill>
          <a:ln w="12700">
            <a:solidFill>
              <a:srgbClr val="F77F00"/>
            </a:solidFill>
            <a:prstDash val="solid"/>
          </a:ln>
        </p:spPr>
      </p:sp>
      <p:sp>
        <p:nvSpPr>
          <p:cNvPr id="13" name="Text 11"/>
          <p:cNvSpPr/>
          <p:nvPr/>
        </p:nvSpPr>
        <p:spPr>
          <a:xfrm>
            <a:off x="3291840" y="1389888"/>
            <a:ext cx="457200" cy="45720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3767328" y="1389888"/>
            <a:ext cx="210312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Low Power Consumption</a:t>
            </a:r>
            <a:endParaRPr lang="en-US" sz="1300" dirty="0"/>
          </a:p>
        </p:txBody>
      </p:sp>
      <p:sp>
        <p:nvSpPr>
          <p:cNvPr id="15" name="Text 13"/>
          <p:cNvSpPr/>
          <p:nvPr/>
        </p:nvSpPr>
        <p:spPr>
          <a:xfrm>
            <a:off x="3291840" y="1801368"/>
            <a:ext cx="2578608" cy="1005840"/>
          </a:xfrm>
          <a:prstGeom prst="rect">
            <a:avLst/>
          </a:prstGeom>
          <a:noFill/>
          <a:ln/>
        </p:spPr>
        <p:txBody>
          <a:bodyPr wrap="square" lIns="0" tIns="0" rIns="0" bIns="0" rtlCol="0" anchor="ctr"/>
          <a:lstStyle/>
          <a:p>
            <a:pPr marL="0" indent="0">
              <a:buNone/>
            </a:pPr>
            <a:r>
              <a:rPr lang="en-US" sz="1100" dirty="0">
                <a:solidFill>
                  <a:srgbClr val="7A90A8"/>
                </a:solidFill>
                <a:latin typeface="Calibri" pitchFamily="34" charset="0"/>
                <a:ea typeface="Calibri" pitchFamily="34" charset="-122"/>
                <a:cs typeface="Calibri" pitchFamily="34" charset="-120"/>
              </a:rPr>
              <a:t>Designed for efficient operation, MCUs can run for years on a battery in sleep modes — ideal for IoT sensors, wearables, and remote devices.</a:t>
            </a:r>
            <a:endParaRPr lang="en-US" sz="1100" dirty="0"/>
          </a:p>
        </p:txBody>
      </p:sp>
      <p:sp>
        <p:nvSpPr>
          <p:cNvPr id="16" name="Shape 14"/>
          <p:cNvSpPr/>
          <p:nvPr/>
        </p:nvSpPr>
        <p:spPr>
          <a:xfrm>
            <a:off x="6126480" y="1115568"/>
            <a:ext cx="2743200" cy="1783080"/>
          </a:xfrm>
          <a:prstGeom prst="rect">
            <a:avLst/>
          </a:prstGeom>
          <a:solidFill>
            <a:srgbClr val="142030"/>
          </a:solidFill>
          <a:ln w="12700">
            <a:solidFill>
              <a:srgbClr val="3A5070"/>
            </a:solidFill>
            <a:prstDash val="solid"/>
          </a:ln>
        </p:spPr>
      </p:sp>
      <p:sp>
        <p:nvSpPr>
          <p:cNvPr id="17" name="Shape 15"/>
          <p:cNvSpPr/>
          <p:nvPr/>
        </p:nvSpPr>
        <p:spPr>
          <a:xfrm>
            <a:off x="6126480" y="1115568"/>
            <a:ext cx="2743200" cy="228600"/>
          </a:xfrm>
          <a:prstGeom prst="rect">
            <a:avLst/>
          </a:prstGeom>
          <a:solidFill>
            <a:srgbClr val="52B788"/>
          </a:solidFill>
          <a:ln w="12700">
            <a:solidFill>
              <a:srgbClr val="52B788"/>
            </a:solidFill>
            <a:prstDash val="solid"/>
          </a:ln>
        </p:spPr>
      </p:sp>
      <p:sp>
        <p:nvSpPr>
          <p:cNvPr id="18" name="Text 16"/>
          <p:cNvSpPr/>
          <p:nvPr/>
        </p:nvSpPr>
        <p:spPr>
          <a:xfrm>
            <a:off x="6217920" y="1389888"/>
            <a:ext cx="457200" cy="45720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9" name="Text 17"/>
          <p:cNvSpPr/>
          <p:nvPr/>
        </p:nvSpPr>
        <p:spPr>
          <a:xfrm>
            <a:off x="6693408" y="1389888"/>
            <a:ext cx="210312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Task-Specific Efficiency</a:t>
            </a:r>
            <a:endParaRPr lang="en-US" sz="1300" dirty="0"/>
          </a:p>
        </p:txBody>
      </p:sp>
      <p:sp>
        <p:nvSpPr>
          <p:cNvPr id="20" name="Text 18"/>
          <p:cNvSpPr/>
          <p:nvPr/>
        </p:nvSpPr>
        <p:spPr>
          <a:xfrm>
            <a:off x="6217920" y="1801368"/>
            <a:ext cx="2578608" cy="1005840"/>
          </a:xfrm>
          <a:prstGeom prst="rect">
            <a:avLst/>
          </a:prstGeom>
          <a:noFill/>
          <a:ln/>
        </p:spPr>
        <p:txBody>
          <a:bodyPr wrap="square" lIns="0" tIns="0" rIns="0" bIns="0" rtlCol="0" anchor="ctr"/>
          <a:lstStyle/>
          <a:p>
            <a:pPr marL="0" indent="0">
              <a:buNone/>
            </a:pPr>
            <a:r>
              <a:rPr lang="en-US" sz="1100" dirty="0">
                <a:solidFill>
                  <a:srgbClr val="7A90A8"/>
                </a:solidFill>
                <a:latin typeface="Calibri" pitchFamily="34" charset="0"/>
                <a:ea typeface="Calibri" pitchFamily="34" charset="-122"/>
                <a:cs typeface="Calibri" pitchFamily="34" charset="-120"/>
              </a:rPr>
              <a:t>No OS overhead, no unused processing power. Real-time deterministic response is predictable and fast for the dedicated task.</a:t>
            </a:r>
            <a:endParaRPr lang="en-US" sz="1100" dirty="0"/>
          </a:p>
        </p:txBody>
      </p:sp>
      <p:sp>
        <p:nvSpPr>
          <p:cNvPr id="21" name="Shape 19"/>
          <p:cNvSpPr/>
          <p:nvPr/>
        </p:nvSpPr>
        <p:spPr>
          <a:xfrm>
            <a:off x="274320" y="3035808"/>
            <a:ext cx="2743200" cy="1783080"/>
          </a:xfrm>
          <a:prstGeom prst="rect">
            <a:avLst/>
          </a:prstGeom>
          <a:solidFill>
            <a:srgbClr val="142030"/>
          </a:solidFill>
          <a:ln w="12700">
            <a:solidFill>
              <a:srgbClr val="3A5070"/>
            </a:solidFill>
            <a:prstDash val="solid"/>
          </a:ln>
        </p:spPr>
      </p:sp>
      <p:sp>
        <p:nvSpPr>
          <p:cNvPr id="22" name="Shape 20"/>
          <p:cNvSpPr/>
          <p:nvPr/>
        </p:nvSpPr>
        <p:spPr>
          <a:xfrm>
            <a:off x="274320" y="3035808"/>
            <a:ext cx="2743200" cy="228600"/>
          </a:xfrm>
          <a:prstGeom prst="rect">
            <a:avLst/>
          </a:prstGeom>
          <a:solidFill>
            <a:srgbClr val="00B4D8"/>
          </a:solidFill>
          <a:ln w="12700">
            <a:solidFill>
              <a:srgbClr val="00B4D8"/>
            </a:solidFill>
            <a:prstDash val="solid"/>
          </a:ln>
        </p:spPr>
      </p:sp>
      <p:sp>
        <p:nvSpPr>
          <p:cNvPr id="23" name="Text 21"/>
          <p:cNvSpPr/>
          <p:nvPr/>
        </p:nvSpPr>
        <p:spPr>
          <a:xfrm>
            <a:off x="365760" y="3310128"/>
            <a:ext cx="457200" cy="45720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4" name="Text 22"/>
          <p:cNvSpPr/>
          <p:nvPr/>
        </p:nvSpPr>
        <p:spPr>
          <a:xfrm>
            <a:off x="841248" y="3310128"/>
            <a:ext cx="210312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Compact &amp; Integrated</a:t>
            </a:r>
            <a:endParaRPr lang="en-US" sz="1300" dirty="0"/>
          </a:p>
        </p:txBody>
      </p:sp>
      <p:sp>
        <p:nvSpPr>
          <p:cNvPr id="25" name="Text 23"/>
          <p:cNvSpPr/>
          <p:nvPr/>
        </p:nvSpPr>
        <p:spPr>
          <a:xfrm>
            <a:off x="365760" y="3721608"/>
            <a:ext cx="2578608" cy="1005840"/>
          </a:xfrm>
          <a:prstGeom prst="rect">
            <a:avLst/>
          </a:prstGeom>
          <a:noFill/>
          <a:ln/>
        </p:spPr>
        <p:txBody>
          <a:bodyPr wrap="square" lIns="0" tIns="0" rIns="0" bIns="0" rtlCol="0" anchor="ctr"/>
          <a:lstStyle/>
          <a:p>
            <a:pPr marL="0" indent="0">
              <a:buNone/>
            </a:pPr>
            <a:r>
              <a:rPr lang="en-US" sz="1100" dirty="0">
                <a:solidFill>
                  <a:srgbClr val="7A90A8"/>
                </a:solidFill>
                <a:latin typeface="Calibri" pitchFamily="34" charset="0"/>
                <a:ea typeface="Calibri" pitchFamily="34" charset="-122"/>
                <a:cs typeface="Calibri" pitchFamily="34" charset="-120"/>
              </a:rPr>
              <a:t>Entire control systems fit on a fingernail-sized chip, reducing PCB area, weight, and assembly complexity.</a:t>
            </a:r>
            <a:endParaRPr lang="en-US" sz="1100" dirty="0"/>
          </a:p>
        </p:txBody>
      </p:sp>
      <p:sp>
        <p:nvSpPr>
          <p:cNvPr id="26" name="Shape 24"/>
          <p:cNvSpPr/>
          <p:nvPr/>
        </p:nvSpPr>
        <p:spPr>
          <a:xfrm>
            <a:off x="3200400" y="3035808"/>
            <a:ext cx="2743200" cy="1783080"/>
          </a:xfrm>
          <a:prstGeom prst="rect">
            <a:avLst/>
          </a:prstGeom>
          <a:solidFill>
            <a:srgbClr val="142030"/>
          </a:solidFill>
          <a:ln w="12700">
            <a:solidFill>
              <a:srgbClr val="3A5070"/>
            </a:solidFill>
            <a:prstDash val="solid"/>
          </a:ln>
        </p:spPr>
      </p:sp>
      <p:sp>
        <p:nvSpPr>
          <p:cNvPr id="27" name="Shape 25"/>
          <p:cNvSpPr/>
          <p:nvPr/>
        </p:nvSpPr>
        <p:spPr>
          <a:xfrm>
            <a:off x="3200400" y="3035808"/>
            <a:ext cx="2743200" cy="228600"/>
          </a:xfrm>
          <a:prstGeom prst="rect">
            <a:avLst/>
          </a:prstGeom>
          <a:solidFill>
            <a:srgbClr val="F77F00"/>
          </a:solidFill>
          <a:ln w="12700">
            <a:solidFill>
              <a:srgbClr val="F77F00"/>
            </a:solidFill>
            <a:prstDash val="solid"/>
          </a:ln>
        </p:spPr>
      </p:sp>
      <p:sp>
        <p:nvSpPr>
          <p:cNvPr id="28" name="Text 26"/>
          <p:cNvSpPr/>
          <p:nvPr/>
        </p:nvSpPr>
        <p:spPr>
          <a:xfrm>
            <a:off x="3291840" y="3310128"/>
            <a:ext cx="457200" cy="45720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9" name="Text 27"/>
          <p:cNvSpPr/>
          <p:nvPr/>
        </p:nvSpPr>
        <p:spPr>
          <a:xfrm>
            <a:off x="3767328" y="3310128"/>
            <a:ext cx="210312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Ease of Programming</a:t>
            </a:r>
            <a:endParaRPr lang="en-US" sz="1300" dirty="0"/>
          </a:p>
        </p:txBody>
      </p:sp>
      <p:sp>
        <p:nvSpPr>
          <p:cNvPr id="30" name="Text 28"/>
          <p:cNvSpPr/>
          <p:nvPr/>
        </p:nvSpPr>
        <p:spPr>
          <a:xfrm>
            <a:off x="3291840" y="3721608"/>
            <a:ext cx="2578608" cy="1005840"/>
          </a:xfrm>
          <a:prstGeom prst="rect">
            <a:avLst/>
          </a:prstGeom>
          <a:noFill/>
          <a:ln/>
        </p:spPr>
        <p:txBody>
          <a:bodyPr wrap="square" lIns="0" tIns="0" rIns="0" bIns="0" rtlCol="0" anchor="ctr"/>
          <a:lstStyle/>
          <a:p>
            <a:pPr marL="0" indent="0">
              <a:buNone/>
            </a:pPr>
            <a:r>
              <a:rPr lang="en-US" sz="1100" dirty="0">
                <a:solidFill>
                  <a:srgbClr val="7A90A8"/>
                </a:solidFill>
                <a:latin typeface="Calibri" pitchFamily="34" charset="0"/>
                <a:ea typeface="Calibri" pitchFamily="34" charset="-122"/>
                <a:cs typeface="Calibri" pitchFamily="34" charset="-120"/>
              </a:rPr>
              <a:t>Supported by C/C++, MicroPython, Arduino IDE, and visual tools, lowering the barrier for rapid prototyping and development.</a:t>
            </a:r>
            <a:endParaRPr lang="en-US" sz="1100" dirty="0"/>
          </a:p>
        </p:txBody>
      </p:sp>
      <p:sp>
        <p:nvSpPr>
          <p:cNvPr id="31" name="Shape 29"/>
          <p:cNvSpPr/>
          <p:nvPr/>
        </p:nvSpPr>
        <p:spPr>
          <a:xfrm>
            <a:off x="6126480" y="3035808"/>
            <a:ext cx="2743200" cy="1783080"/>
          </a:xfrm>
          <a:prstGeom prst="rect">
            <a:avLst/>
          </a:prstGeom>
          <a:solidFill>
            <a:srgbClr val="142030"/>
          </a:solidFill>
          <a:ln w="12700">
            <a:solidFill>
              <a:srgbClr val="3A5070"/>
            </a:solidFill>
            <a:prstDash val="solid"/>
          </a:ln>
        </p:spPr>
      </p:sp>
      <p:sp>
        <p:nvSpPr>
          <p:cNvPr id="32" name="Shape 30"/>
          <p:cNvSpPr/>
          <p:nvPr/>
        </p:nvSpPr>
        <p:spPr>
          <a:xfrm>
            <a:off x="6126480" y="3035808"/>
            <a:ext cx="2743200" cy="228600"/>
          </a:xfrm>
          <a:prstGeom prst="rect">
            <a:avLst/>
          </a:prstGeom>
          <a:solidFill>
            <a:srgbClr val="52B788"/>
          </a:solidFill>
          <a:ln w="12700">
            <a:solidFill>
              <a:srgbClr val="52B788"/>
            </a:solidFill>
            <a:prstDash val="solid"/>
          </a:ln>
        </p:spPr>
      </p:sp>
      <p:sp>
        <p:nvSpPr>
          <p:cNvPr id="33" name="Text 31"/>
          <p:cNvSpPr/>
          <p:nvPr/>
        </p:nvSpPr>
        <p:spPr>
          <a:xfrm>
            <a:off x="6217920" y="3310128"/>
            <a:ext cx="457200" cy="45720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4" name="Text 32"/>
          <p:cNvSpPr/>
          <p:nvPr/>
        </p:nvSpPr>
        <p:spPr>
          <a:xfrm>
            <a:off x="6693408" y="3310128"/>
            <a:ext cx="210312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Broad Application Fields</a:t>
            </a:r>
            <a:endParaRPr lang="en-US" sz="1300" dirty="0"/>
          </a:p>
        </p:txBody>
      </p:sp>
      <p:sp>
        <p:nvSpPr>
          <p:cNvPr id="35" name="Text 33"/>
          <p:cNvSpPr/>
          <p:nvPr/>
        </p:nvSpPr>
        <p:spPr>
          <a:xfrm>
            <a:off x="6217920" y="3721608"/>
            <a:ext cx="2578608" cy="1005840"/>
          </a:xfrm>
          <a:prstGeom prst="rect">
            <a:avLst/>
          </a:prstGeom>
          <a:noFill/>
          <a:ln/>
        </p:spPr>
        <p:txBody>
          <a:bodyPr wrap="square" lIns="0" tIns="0" rIns="0" bIns="0" rtlCol="0" anchor="ctr"/>
          <a:lstStyle/>
          <a:p>
            <a:pPr marL="0" indent="0">
              <a:buNone/>
            </a:pPr>
            <a:r>
              <a:rPr lang="en-US" sz="1100" dirty="0">
                <a:solidFill>
                  <a:srgbClr val="7A90A8"/>
                </a:solidFill>
                <a:latin typeface="Calibri" pitchFamily="34" charset="0"/>
                <a:ea typeface="Calibri" pitchFamily="34" charset="-122"/>
                <a:cs typeface="Calibri" pitchFamily="34" charset="-120"/>
              </a:rPr>
              <a:t>Consumer Electronics · Automotive Industry · Medical Devices · Industrial Automation · Communication Systems</a:t>
            </a:r>
            <a:endParaRPr lang="en-US" sz="1100" dirty="0"/>
          </a:p>
        </p:txBody>
      </p:sp>
      <p:sp>
        <p:nvSpPr>
          <p:cNvPr id="36" name="Shape 34"/>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628"/>
        </a:solidFill>
        <a:effectLst/>
      </p:bgPr>
    </p:bg>
    <p:spTree>
      <p:nvGrpSpPr>
        <p:cNvPr id="1" name="">
          <a:extLst>
            <a:ext uri="{FF2B5EF4-FFF2-40B4-BE49-F238E27FC236}">
              <a16:creationId xmlns:a16="http://schemas.microsoft.com/office/drawing/2014/main" id="{C6C150FD-3596-DAA9-44C7-3E4EFD3F304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9F2F71A-795F-BDE0-24F2-53143DD6CA53}"/>
              </a:ext>
            </a:extLst>
          </p:cNvPr>
          <p:cNvSpPr/>
          <p:nvPr/>
        </p:nvSpPr>
        <p:spPr>
          <a:xfrm>
            <a:off x="0" y="0"/>
            <a:ext cx="9144000" cy="960120"/>
          </a:xfrm>
          <a:prstGeom prst="rect">
            <a:avLst/>
          </a:prstGeom>
          <a:solidFill>
            <a:srgbClr val="050C18"/>
          </a:solidFill>
          <a:ln w="12700">
            <a:solidFill>
              <a:srgbClr val="050C18"/>
            </a:solidFill>
            <a:prstDash val="solid"/>
          </a:ln>
        </p:spPr>
      </p:sp>
      <p:sp>
        <p:nvSpPr>
          <p:cNvPr id="3" name="Shape 1">
            <a:extLst>
              <a:ext uri="{FF2B5EF4-FFF2-40B4-BE49-F238E27FC236}">
                <a16:creationId xmlns:a16="http://schemas.microsoft.com/office/drawing/2014/main" id="{22340EF3-BC09-0B76-B657-672A20F10AA2}"/>
              </a:ext>
            </a:extLst>
          </p:cNvPr>
          <p:cNvSpPr/>
          <p:nvPr/>
        </p:nvSpPr>
        <p:spPr>
          <a:xfrm>
            <a:off x="0" y="0"/>
            <a:ext cx="201168" cy="960120"/>
          </a:xfrm>
          <a:prstGeom prst="rect">
            <a:avLst/>
          </a:prstGeom>
          <a:solidFill>
            <a:srgbClr val="00B4D8"/>
          </a:solidFill>
          <a:ln w="12700">
            <a:solidFill>
              <a:srgbClr val="00B4D8"/>
            </a:solidFill>
            <a:prstDash val="solid"/>
          </a:ln>
        </p:spPr>
      </p:sp>
      <p:sp>
        <p:nvSpPr>
          <p:cNvPr id="4" name="Text 2">
            <a:extLst>
              <a:ext uri="{FF2B5EF4-FFF2-40B4-BE49-F238E27FC236}">
                <a16:creationId xmlns:a16="http://schemas.microsoft.com/office/drawing/2014/main" id="{F5DFE8B4-0687-C897-B430-C1A72887E556}"/>
              </a:ext>
            </a:extLst>
          </p:cNvPr>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 list of available microcontrollers in Bangladesh</a:t>
            </a:r>
            <a:endParaRPr lang="en-US" sz="2800" dirty="0"/>
          </a:p>
        </p:txBody>
      </p:sp>
      <p:sp>
        <p:nvSpPr>
          <p:cNvPr id="5" name="Text 3">
            <a:extLst>
              <a:ext uri="{FF2B5EF4-FFF2-40B4-BE49-F238E27FC236}">
                <a16:creationId xmlns:a16="http://schemas.microsoft.com/office/drawing/2014/main" id="{110F7C62-CDDA-06B9-5B19-81BD09214BC1}"/>
              </a:ext>
            </a:extLst>
          </p:cNvPr>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With approximate prices (BDT) — 2025</a:t>
            </a:r>
            <a:endParaRPr lang="en-US" sz="1100" dirty="0"/>
          </a:p>
        </p:txBody>
      </p:sp>
      <p:graphicFrame>
        <p:nvGraphicFramePr>
          <p:cNvPr id="16" name="Table 0">
            <a:extLst>
              <a:ext uri="{FF2B5EF4-FFF2-40B4-BE49-F238E27FC236}">
                <a16:creationId xmlns:a16="http://schemas.microsoft.com/office/drawing/2014/main" id="{7BBD56CC-8FCC-9E88-9095-9316836BA225}"/>
              </a:ext>
            </a:extLst>
          </p:cNvPr>
          <p:cNvGraphicFramePr>
            <a:graphicFrameLocks noGrp="1"/>
          </p:cNvGraphicFramePr>
          <p:nvPr>
            <p:extLst>
              <p:ext uri="{D42A27DB-BD31-4B8C-83A1-F6EECF244321}">
                <p14:modId xmlns:p14="http://schemas.microsoft.com/office/powerpoint/2010/main" val="1001287076"/>
              </p:ext>
            </p:extLst>
          </p:nvPr>
        </p:nvGraphicFramePr>
        <p:xfrm>
          <a:off x="228600" y="1024129"/>
          <a:ext cx="4243137" cy="3051683"/>
        </p:xfrm>
        <a:graphic>
          <a:graphicData uri="http://schemas.openxmlformats.org/drawingml/2006/table">
            <a:tbl>
              <a:tblPr/>
              <a:tblGrid>
                <a:gridCol w="2461019">
                  <a:extLst>
                    <a:ext uri="{9D8B030D-6E8A-4147-A177-3AD203B41FA5}">
                      <a16:colId xmlns:a16="http://schemas.microsoft.com/office/drawing/2014/main" val="20000"/>
                    </a:ext>
                  </a:extLst>
                </a:gridCol>
                <a:gridCol w="1782118">
                  <a:extLst>
                    <a:ext uri="{9D8B030D-6E8A-4147-A177-3AD203B41FA5}">
                      <a16:colId xmlns:a16="http://schemas.microsoft.com/office/drawing/2014/main" val="20001"/>
                    </a:ext>
                  </a:extLst>
                </a:gridCol>
              </a:tblGrid>
              <a:tr h="469776">
                <a:tc>
                  <a:txBody>
                    <a:bodyPr/>
                    <a:lstStyle/>
                    <a:p>
                      <a:pPr marL="0" marR="0" algn="ctr">
                        <a:lnSpc>
                          <a:spcPct val="115000"/>
                        </a:lnSpc>
                        <a:spcAft>
                          <a:spcPts val="800"/>
                        </a:spcAft>
                        <a:buNone/>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Microcontroller / Development Board</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gn="ctr">
                        <a:lnSpc>
                          <a:spcPct val="115000"/>
                        </a:lnSpc>
                        <a:spcAft>
                          <a:spcPts val="800"/>
                        </a:spcAft>
                        <a:buNone/>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Approximate Price (BDT)</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10000"/>
                  </a:ext>
                </a:extLst>
              </a:tr>
              <a:tr h="292121">
                <a:tc gridSpan="2">
                  <a:txBody>
                    <a:bodyPr/>
                    <a:lstStyle/>
                    <a:p>
                      <a:pPr marL="0" marR="0" algn="ctr">
                        <a:lnSpc>
                          <a:spcPct val="115000"/>
                        </a:lnSpc>
                        <a:spcAft>
                          <a:spcPts val="800"/>
                        </a:spcAft>
                        <a:buNone/>
                      </a:pPr>
                      <a:r>
                        <a:rPr lang="en-US" sz="1200" b="1" u="sng" kern="100">
                          <a:solidFill>
                            <a:srgbClr val="171717"/>
                          </a:solidFill>
                          <a:effectLst/>
                          <a:latin typeface="Times New Roman" panose="02020603050405020304" pitchFamily="18" charset="0"/>
                          <a:ea typeface="Calibri" panose="020F0502020204030204" pitchFamily="34" charset="0"/>
                          <a:cs typeface="Times New Roman" panose="02020603050405020304" pitchFamily="18" charset="0"/>
                        </a:rPr>
                        <a:t>Arduino Boards</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hMerge="1">
                  <a:txBody>
                    <a:bodyPr/>
                    <a:lstStyle/>
                    <a:p>
                      <a:endParaRPr lang="en-US"/>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2382085133"/>
                  </a:ext>
                </a:extLst>
              </a:tr>
              <a:tr h="292121">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Arduino Uno R3</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949</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2016515606"/>
                  </a:ext>
                </a:extLst>
              </a:tr>
              <a:tr h="292121">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4"/>
                        </a:rPr>
                        <a:t>Arduino Nano (ATmega328)</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363</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2642848712"/>
                  </a:ext>
                </a:extLst>
              </a:tr>
              <a:tr h="292121">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5"/>
                        </a:rPr>
                        <a:t>Arduino Pro Mini 328 (5V/16MHz)</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430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1630774473"/>
                  </a:ext>
                </a:extLst>
              </a:tr>
              <a:tr h="469776">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6"/>
                        </a:rPr>
                        <a:t>Arduino UNO R4 Minima 32bit 48MHz</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1,650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930262136"/>
                  </a:ext>
                </a:extLst>
              </a:tr>
              <a:tr h="469776">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7"/>
                        </a:rPr>
                        <a:t>Arduino Pro Micro Atmega32U4 5V/16MHz</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680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1912730633"/>
                  </a:ext>
                </a:extLst>
              </a:tr>
            </a:tbl>
          </a:graphicData>
        </a:graphic>
      </p:graphicFrame>
      <p:sp>
        <p:nvSpPr>
          <p:cNvPr id="7" name="Text 4">
            <a:extLst>
              <a:ext uri="{FF2B5EF4-FFF2-40B4-BE49-F238E27FC236}">
                <a16:creationId xmlns:a16="http://schemas.microsoft.com/office/drawing/2014/main" id="{784EE1DC-A389-A164-3C63-C9F6885F9C54}"/>
              </a:ext>
            </a:extLst>
          </p:cNvPr>
          <p:cNvSpPr/>
          <p:nvPr/>
        </p:nvSpPr>
        <p:spPr>
          <a:xfrm>
            <a:off x="201168" y="4645152"/>
            <a:ext cx="8595360" cy="201168"/>
          </a:xfrm>
          <a:prstGeom prst="rect">
            <a:avLst/>
          </a:prstGeom>
          <a:noFill/>
          <a:ln/>
        </p:spPr>
        <p:txBody>
          <a:bodyPr wrap="square" rtlCol="0" anchor="ctr"/>
          <a:lstStyle/>
          <a:p>
            <a:pPr marL="0" indent="0">
              <a:buNone/>
            </a:pPr>
            <a:r>
              <a:rPr lang="en-US" sz="950" i="1" dirty="0">
                <a:solidFill>
                  <a:srgbClr val="7A90A8"/>
                </a:solidFill>
                <a:latin typeface="Calibri" pitchFamily="34" charset="0"/>
                <a:ea typeface="Calibri" pitchFamily="34" charset="-122"/>
                <a:cs typeface="Calibri" pitchFamily="34" charset="-120"/>
              </a:rPr>
              <a:t>📍 Available at: </a:t>
            </a:r>
            <a:r>
              <a:rPr lang="en-US" sz="950" i="1" dirty="0">
                <a:solidFill>
                  <a:srgbClr val="7A90A8"/>
                </a:solidFill>
                <a:latin typeface="Calibri" pitchFamily="34" charset="0"/>
                <a:ea typeface="Calibri" pitchFamily="34" charset="-122"/>
                <a:cs typeface="Calibri" pitchFamily="34" charset="-120"/>
                <a:hlinkClick r:id="rId8"/>
              </a:rPr>
              <a:t>Robotics BD </a:t>
            </a:r>
            <a:r>
              <a:rPr lang="en-US" sz="950" i="1" dirty="0">
                <a:solidFill>
                  <a:srgbClr val="7A90A8"/>
                </a:solidFill>
                <a:latin typeface="Calibri" pitchFamily="34" charset="0"/>
                <a:ea typeface="Calibri" pitchFamily="34" charset="-122"/>
                <a:cs typeface="Calibri" pitchFamily="34" charset="-120"/>
              </a:rPr>
              <a:t>· </a:t>
            </a:r>
            <a:r>
              <a:rPr lang="en-US" sz="950" i="1" dirty="0">
                <a:solidFill>
                  <a:srgbClr val="7A90A8"/>
                </a:solidFill>
                <a:latin typeface="Calibri" pitchFamily="34" charset="0"/>
                <a:ea typeface="Calibri" pitchFamily="34" charset="-122"/>
                <a:cs typeface="Calibri" pitchFamily="34" charset="-120"/>
                <a:hlinkClick r:id="rId9"/>
              </a:rPr>
              <a:t>TechShop BD</a:t>
            </a:r>
            <a:r>
              <a:rPr lang="en-US" sz="950" i="1" dirty="0">
                <a:solidFill>
                  <a:srgbClr val="7A90A8"/>
                </a:solidFill>
                <a:latin typeface="Calibri" pitchFamily="34" charset="0"/>
                <a:ea typeface="Calibri" pitchFamily="34" charset="-122"/>
                <a:cs typeface="Calibri" pitchFamily="34" charset="-120"/>
              </a:rPr>
              <a:t> · </a:t>
            </a:r>
            <a:r>
              <a:rPr lang="en-US" sz="950" i="1" dirty="0">
                <a:solidFill>
                  <a:srgbClr val="7A90A8"/>
                </a:solidFill>
                <a:latin typeface="Calibri" pitchFamily="34" charset="0"/>
                <a:ea typeface="Calibri" pitchFamily="34" charset="-122"/>
                <a:cs typeface="Calibri" pitchFamily="34" charset="-120"/>
                <a:hlinkClick r:id="rId10"/>
              </a:rPr>
              <a:t>BDTronics</a:t>
            </a:r>
            <a:r>
              <a:rPr lang="en-US" sz="950" i="1" dirty="0">
                <a:solidFill>
                  <a:srgbClr val="7A90A8"/>
                </a:solidFill>
                <a:latin typeface="Calibri" pitchFamily="34" charset="0"/>
                <a:ea typeface="Calibri" pitchFamily="34" charset="-122"/>
                <a:cs typeface="Calibri" pitchFamily="34" charset="-120"/>
              </a:rPr>
              <a:t> · </a:t>
            </a:r>
            <a:r>
              <a:rPr lang="en-US" sz="950" i="1" dirty="0">
                <a:solidFill>
                  <a:srgbClr val="7A90A8"/>
                </a:solidFill>
                <a:latin typeface="Calibri" pitchFamily="34" charset="0"/>
                <a:ea typeface="Calibri" pitchFamily="34" charset="-122"/>
                <a:cs typeface="Calibri" pitchFamily="34" charset="-120"/>
                <a:hlinkClick r:id="rId11"/>
              </a:rPr>
              <a:t>Robotech BD</a:t>
            </a:r>
            <a:endParaRPr lang="en-US" sz="950" dirty="0"/>
          </a:p>
        </p:txBody>
      </p:sp>
      <p:sp>
        <p:nvSpPr>
          <p:cNvPr id="8" name="Shape 5">
            <a:extLst>
              <a:ext uri="{FF2B5EF4-FFF2-40B4-BE49-F238E27FC236}">
                <a16:creationId xmlns:a16="http://schemas.microsoft.com/office/drawing/2014/main" id="{1BC391D4-75DC-143A-AACD-90CC48F05F9D}"/>
              </a:ext>
            </a:extLst>
          </p:cNvPr>
          <p:cNvSpPr/>
          <p:nvPr/>
        </p:nvSpPr>
        <p:spPr>
          <a:xfrm>
            <a:off x="0" y="4983480"/>
            <a:ext cx="9144000" cy="160020"/>
          </a:xfrm>
          <a:prstGeom prst="rect">
            <a:avLst/>
          </a:prstGeom>
          <a:solidFill>
            <a:srgbClr val="050C18"/>
          </a:solidFill>
          <a:ln w="12700">
            <a:solidFill>
              <a:srgbClr val="050C18"/>
            </a:solidFill>
            <a:prstDash val="solid"/>
          </a:ln>
        </p:spPr>
      </p:sp>
      <p:graphicFrame>
        <p:nvGraphicFramePr>
          <p:cNvPr id="6" name="Table 5">
            <a:extLst>
              <a:ext uri="{FF2B5EF4-FFF2-40B4-BE49-F238E27FC236}">
                <a16:creationId xmlns:a16="http://schemas.microsoft.com/office/drawing/2014/main" id="{4CF0AF86-8F85-FF19-BB18-BEEDB7AD8706}"/>
              </a:ext>
            </a:extLst>
          </p:cNvPr>
          <p:cNvGraphicFramePr>
            <a:graphicFrameLocks noGrp="1"/>
          </p:cNvGraphicFramePr>
          <p:nvPr>
            <p:extLst>
              <p:ext uri="{D42A27DB-BD31-4B8C-83A1-F6EECF244321}">
                <p14:modId xmlns:p14="http://schemas.microsoft.com/office/powerpoint/2010/main" val="2925347899"/>
              </p:ext>
            </p:extLst>
          </p:nvPr>
        </p:nvGraphicFramePr>
        <p:xfrm>
          <a:off x="4699695" y="1024128"/>
          <a:ext cx="4243137" cy="3051683"/>
        </p:xfrm>
        <a:graphic>
          <a:graphicData uri="http://schemas.openxmlformats.org/drawingml/2006/table">
            <a:tbl>
              <a:tblPr/>
              <a:tblGrid>
                <a:gridCol w="2461019">
                  <a:extLst>
                    <a:ext uri="{9D8B030D-6E8A-4147-A177-3AD203B41FA5}">
                      <a16:colId xmlns:a16="http://schemas.microsoft.com/office/drawing/2014/main" val="3283159226"/>
                    </a:ext>
                  </a:extLst>
                </a:gridCol>
                <a:gridCol w="1782118">
                  <a:extLst>
                    <a:ext uri="{9D8B030D-6E8A-4147-A177-3AD203B41FA5}">
                      <a16:colId xmlns:a16="http://schemas.microsoft.com/office/drawing/2014/main" val="759330280"/>
                    </a:ext>
                  </a:extLst>
                </a:gridCol>
              </a:tblGrid>
              <a:tr h="292121">
                <a:tc gridSpan="2">
                  <a:txBody>
                    <a:bodyPr/>
                    <a:lstStyle/>
                    <a:p>
                      <a:pPr marL="0" marR="0" algn="ctr">
                        <a:lnSpc>
                          <a:spcPct val="115000"/>
                        </a:lnSpc>
                        <a:spcAft>
                          <a:spcPts val="800"/>
                        </a:spcAft>
                        <a:buNone/>
                      </a:pPr>
                      <a:r>
                        <a:rPr lang="en-US" sz="1200" b="1" u="sng" kern="100" dirty="0">
                          <a:effectLst/>
                          <a:latin typeface="Times New Roman" panose="02020603050405020304" pitchFamily="18" charset="0"/>
                          <a:ea typeface="Calibri" panose="020F0502020204030204" pitchFamily="34" charset="0"/>
                          <a:cs typeface="Times New Roman" panose="02020603050405020304" pitchFamily="18" charset="0"/>
                        </a:rPr>
                        <a:t>ESP &amp; Wireless Microcontrollers</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hMerge="1">
                  <a:txBody>
                    <a:bodyPr/>
                    <a:lstStyle/>
                    <a:p>
                      <a:endParaRPr lang="en-US"/>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3095620878"/>
                  </a:ext>
                </a:extLst>
              </a:tr>
              <a:tr h="469776">
                <a:tc>
                  <a:txBody>
                    <a:bodyPr/>
                    <a:lstStyle/>
                    <a:p>
                      <a:pPr marL="0" marR="0">
                        <a:lnSpc>
                          <a:spcPct val="115000"/>
                        </a:lnSpc>
                        <a:spcAft>
                          <a:spcPts val="800"/>
                        </a:spcAft>
                        <a:buNone/>
                      </a:pPr>
                      <a:r>
                        <a:rPr lang="en-US" sz="12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2"/>
                        </a:rPr>
                        <a:t>ESP32 </a:t>
                      </a:r>
                      <a:r>
                        <a:rPr lang="en-US" sz="1200" u="sng" kern="100" dirty="0" err="1">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2"/>
                        </a:rPr>
                        <a:t>NodeMCU</a:t>
                      </a:r>
                      <a:r>
                        <a:rPr lang="en-US" sz="12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2"/>
                        </a:rPr>
                        <a:t> Development Board Wireless </a:t>
                      </a:r>
                      <a:r>
                        <a:rPr lang="en-US" sz="1200" u="sng" kern="100" dirty="0" err="1">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2"/>
                        </a:rPr>
                        <a:t>Wifi</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427</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3620128924"/>
                  </a:ext>
                </a:extLst>
              </a:tr>
              <a:tr h="292121">
                <a:tc>
                  <a:txBody>
                    <a:bodyPr/>
                    <a:lstStyle/>
                    <a:p>
                      <a:pPr marL="0" marR="0">
                        <a:lnSpc>
                          <a:spcPct val="115000"/>
                        </a:lnSpc>
                        <a:spcAft>
                          <a:spcPts val="800"/>
                        </a:spcAft>
                        <a:buNone/>
                      </a:pPr>
                      <a:r>
                        <a:rPr lang="en-US" sz="12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3"/>
                        </a:rPr>
                        <a:t>ESP8266 </a:t>
                      </a:r>
                      <a:r>
                        <a:rPr lang="en-US" sz="1200" u="sng" kern="100" dirty="0" err="1">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3"/>
                        </a:rPr>
                        <a:t>NodeMCU</a:t>
                      </a:r>
                      <a:r>
                        <a:rPr lang="en-US" sz="12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3"/>
                        </a:rPr>
                        <a:t> Lua V3</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350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3736244422"/>
                  </a:ext>
                </a:extLst>
              </a:tr>
              <a:tr h="469776">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4"/>
                        </a:rPr>
                        <a:t>ESP32-CAM (with Camera Module)</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940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3667145597"/>
                  </a:ext>
                </a:extLst>
              </a:tr>
              <a:tr h="469776">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5"/>
                        </a:rPr>
                        <a:t>ESP32-S3 Microcontroller 2.4 GHz Wi-Fi Development Board</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1,590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2032759756"/>
                  </a:ext>
                </a:extLst>
              </a:tr>
              <a:tr h="292121">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6"/>
                        </a:rPr>
                        <a:t>ESP32 C6 DevKit-C N16R8</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950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1154934690"/>
                  </a:ext>
                </a:extLst>
              </a:tr>
              <a:tr h="292121">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7"/>
                        </a:rPr>
                        <a:t>Wemos D1 Mini ESP8266</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320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94955422"/>
                  </a:ext>
                </a:extLst>
              </a:tr>
            </a:tbl>
          </a:graphicData>
        </a:graphic>
      </p:graphicFrame>
    </p:spTree>
    <p:extLst>
      <p:ext uri="{BB962C8B-B14F-4D97-AF65-F5344CB8AC3E}">
        <p14:creationId xmlns:p14="http://schemas.microsoft.com/office/powerpoint/2010/main" val="1837953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628"/>
        </a:solidFill>
        <a:effectLst/>
      </p:bgPr>
    </p:bg>
    <p:spTree>
      <p:nvGrpSpPr>
        <p:cNvPr id="1" name="">
          <a:extLst>
            <a:ext uri="{FF2B5EF4-FFF2-40B4-BE49-F238E27FC236}">
              <a16:creationId xmlns:a16="http://schemas.microsoft.com/office/drawing/2014/main" id="{8EC31D34-9CF4-BF5B-8A1D-69AEF24C581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3E73364-E2E8-A9FA-2CA4-1A3109339465}"/>
              </a:ext>
            </a:extLst>
          </p:cNvPr>
          <p:cNvSpPr/>
          <p:nvPr/>
        </p:nvSpPr>
        <p:spPr>
          <a:xfrm>
            <a:off x="0" y="0"/>
            <a:ext cx="9144000" cy="960120"/>
          </a:xfrm>
          <a:prstGeom prst="rect">
            <a:avLst/>
          </a:prstGeom>
          <a:solidFill>
            <a:srgbClr val="050C18"/>
          </a:solidFill>
          <a:ln w="12700">
            <a:solidFill>
              <a:srgbClr val="050C18"/>
            </a:solidFill>
            <a:prstDash val="solid"/>
          </a:ln>
        </p:spPr>
      </p:sp>
      <p:sp>
        <p:nvSpPr>
          <p:cNvPr id="3" name="Shape 1">
            <a:extLst>
              <a:ext uri="{FF2B5EF4-FFF2-40B4-BE49-F238E27FC236}">
                <a16:creationId xmlns:a16="http://schemas.microsoft.com/office/drawing/2014/main" id="{89FF98F3-5DF0-21E8-C0EA-1CE71BE646AC}"/>
              </a:ext>
            </a:extLst>
          </p:cNvPr>
          <p:cNvSpPr/>
          <p:nvPr/>
        </p:nvSpPr>
        <p:spPr>
          <a:xfrm>
            <a:off x="0" y="0"/>
            <a:ext cx="201168" cy="960120"/>
          </a:xfrm>
          <a:prstGeom prst="rect">
            <a:avLst/>
          </a:prstGeom>
          <a:solidFill>
            <a:srgbClr val="00B4D8"/>
          </a:solidFill>
          <a:ln w="12700">
            <a:solidFill>
              <a:srgbClr val="00B4D8"/>
            </a:solidFill>
            <a:prstDash val="solid"/>
          </a:ln>
        </p:spPr>
      </p:sp>
      <p:sp>
        <p:nvSpPr>
          <p:cNvPr id="4" name="Text 2">
            <a:extLst>
              <a:ext uri="{FF2B5EF4-FFF2-40B4-BE49-F238E27FC236}">
                <a16:creationId xmlns:a16="http://schemas.microsoft.com/office/drawing/2014/main" id="{E4C23504-C754-1EB6-7310-F15C4C79167E}"/>
              </a:ext>
            </a:extLst>
          </p:cNvPr>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 list of available microcontrollers in Bangladesh</a:t>
            </a:r>
            <a:endParaRPr lang="en-US" sz="2800" dirty="0"/>
          </a:p>
        </p:txBody>
      </p:sp>
      <p:sp>
        <p:nvSpPr>
          <p:cNvPr id="5" name="Text 3">
            <a:extLst>
              <a:ext uri="{FF2B5EF4-FFF2-40B4-BE49-F238E27FC236}">
                <a16:creationId xmlns:a16="http://schemas.microsoft.com/office/drawing/2014/main" id="{CA70290D-1B15-5B9C-828B-11D88FD2B662}"/>
              </a:ext>
            </a:extLst>
          </p:cNvPr>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With approximate prices (BDT) — 2025</a:t>
            </a:r>
            <a:endParaRPr lang="en-US" sz="1100" dirty="0"/>
          </a:p>
        </p:txBody>
      </p:sp>
      <p:graphicFrame>
        <p:nvGraphicFramePr>
          <p:cNvPr id="16" name="Table 0">
            <a:extLst>
              <a:ext uri="{FF2B5EF4-FFF2-40B4-BE49-F238E27FC236}">
                <a16:creationId xmlns:a16="http://schemas.microsoft.com/office/drawing/2014/main" id="{BDF2333F-844E-8BF8-831E-9D2941E0A4A6}"/>
              </a:ext>
            </a:extLst>
          </p:cNvPr>
          <p:cNvGraphicFramePr>
            <a:graphicFrameLocks noGrp="1"/>
          </p:cNvGraphicFramePr>
          <p:nvPr>
            <p:extLst>
              <p:ext uri="{D42A27DB-BD31-4B8C-83A1-F6EECF244321}">
                <p14:modId xmlns:p14="http://schemas.microsoft.com/office/powerpoint/2010/main" val="2968588388"/>
              </p:ext>
            </p:extLst>
          </p:nvPr>
        </p:nvGraphicFramePr>
        <p:xfrm>
          <a:off x="255390" y="1024128"/>
          <a:ext cx="4243137" cy="3607816"/>
        </p:xfrm>
        <a:graphic>
          <a:graphicData uri="http://schemas.openxmlformats.org/drawingml/2006/table">
            <a:tbl>
              <a:tblPr/>
              <a:tblGrid>
                <a:gridCol w="2461019">
                  <a:extLst>
                    <a:ext uri="{9D8B030D-6E8A-4147-A177-3AD203B41FA5}">
                      <a16:colId xmlns:a16="http://schemas.microsoft.com/office/drawing/2014/main" val="20000"/>
                    </a:ext>
                  </a:extLst>
                </a:gridCol>
                <a:gridCol w="1782118">
                  <a:extLst>
                    <a:ext uri="{9D8B030D-6E8A-4147-A177-3AD203B41FA5}">
                      <a16:colId xmlns:a16="http://schemas.microsoft.com/office/drawing/2014/main" val="20001"/>
                    </a:ext>
                  </a:extLst>
                </a:gridCol>
              </a:tblGrid>
              <a:tr h="284586">
                <a:tc gridSpan="2">
                  <a:txBody>
                    <a:bodyPr/>
                    <a:lstStyle/>
                    <a:p>
                      <a:pPr marL="0" marR="0" algn="ctr">
                        <a:lnSpc>
                          <a:spcPct val="115000"/>
                        </a:lnSpc>
                        <a:spcAft>
                          <a:spcPts val="800"/>
                        </a:spcAft>
                        <a:buNone/>
                      </a:pPr>
                      <a:r>
                        <a:rPr lang="en-US" sz="1200" b="1" u="sng" kern="100" dirty="0">
                          <a:effectLst/>
                          <a:latin typeface="Times New Roman" panose="02020603050405020304" pitchFamily="18" charset="0"/>
                          <a:ea typeface="Calibri" panose="020F0502020204030204" pitchFamily="34" charset="0"/>
                          <a:cs typeface="Times New Roman" panose="02020603050405020304" pitchFamily="18" charset="0"/>
                        </a:rPr>
                        <a:t>STM32 &amp; Advanced ARM Boards</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hMerge="1">
                  <a:txBody>
                    <a:bodyPr/>
                    <a:lstStyle/>
                    <a:p>
                      <a:endParaRPr lang="en-US"/>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10000"/>
                  </a:ext>
                </a:extLst>
              </a:tr>
              <a:tr h="457657">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STM32F103C8T6 "Blue Pill" Board</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480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2382085133"/>
                  </a:ext>
                </a:extLst>
              </a:tr>
              <a:tr h="457657">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4"/>
                        </a:rPr>
                        <a:t>STM32G431CBU6 Mini Core Development Board</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1,550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2016515606"/>
                  </a:ext>
                </a:extLst>
              </a:tr>
              <a:tr h="457657">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5"/>
                        </a:rPr>
                        <a:t>STM32F401RCT6 MicroPython Compatible</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974</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2642848712"/>
                  </a:ext>
                </a:extLst>
              </a:tr>
              <a:tr h="457657">
                <a:tc>
                  <a:txBody>
                    <a:bodyPr/>
                    <a:lstStyle/>
                    <a:p>
                      <a:pPr marL="0" marR="0">
                        <a:lnSpc>
                          <a:spcPct val="115000"/>
                        </a:lnSpc>
                        <a:spcAft>
                          <a:spcPts val="800"/>
                        </a:spcAft>
                        <a:buNone/>
                      </a:pPr>
                      <a:r>
                        <a:rPr lang="en-US" sz="12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6"/>
                        </a:rPr>
                        <a:t>STM32F411CEU6 Black Pill Development Board</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874</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1630774473"/>
                  </a:ext>
                </a:extLst>
              </a:tr>
              <a:tr h="284586">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7"/>
                        </a:rPr>
                        <a:t>STM8S103F3P6 STM8 Blue Core</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350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930262136"/>
                  </a:ext>
                </a:extLst>
              </a:tr>
              <a:tr h="284586">
                <a:tc gridSpan="2">
                  <a:txBody>
                    <a:bodyPr/>
                    <a:lstStyle/>
                    <a:p>
                      <a:pPr marL="0" marR="0" algn="ctr">
                        <a:lnSpc>
                          <a:spcPct val="115000"/>
                        </a:lnSpc>
                        <a:spcAft>
                          <a:spcPts val="800"/>
                        </a:spcAft>
                        <a:buNone/>
                      </a:pPr>
                      <a:r>
                        <a:rPr lang="en-US" sz="1200" b="1" u="sng" kern="100" dirty="0">
                          <a:effectLst/>
                          <a:latin typeface="Times New Roman" panose="02020603050405020304" pitchFamily="18" charset="0"/>
                          <a:ea typeface="Calibri" panose="020F0502020204030204" pitchFamily="34" charset="0"/>
                          <a:cs typeface="Times New Roman" panose="02020603050405020304" pitchFamily="18" charset="0"/>
                        </a:rPr>
                        <a:t>Raspberry Pi &amp; Teensy</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hMerge="1">
                  <a:txBody>
                    <a:bodyPr/>
                    <a:lstStyle/>
                    <a:p>
                      <a:endParaRPr lang="en-US"/>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4287523077"/>
                  </a:ext>
                </a:extLst>
              </a:tr>
              <a:tr h="284586">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8"/>
                        </a:rPr>
                        <a:t>Raspberry Pi Pico 2 (RP2350)</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1,250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1191338588"/>
                  </a:ext>
                </a:extLst>
              </a:tr>
            </a:tbl>
          </a:graphicData>
        </a:graphic>
      </p:graphicFrame>
      <p:sp>
        <p:nvSpPr>
          <p:cNvPr id="8" name="Shape 5">
            <a:extLst>
              <a:ext uri="{FF2B5EF4-FFF2-40B4-BE49-F238E27FC236}">
                <a16:creationId xmlns:a16="http://schemas.microsoft.com/office/drawing/2014/main" id="{62E2A26F-8649-499E-09B7-8EBE32B705F0}"/>
              </a:ext>
            </a:extLst>
          </p:cNvPr>
          <p:cNvSpPr/>
          <p:nvPr/>
        </p:nvSpPr>
        <p:spPr>
          <a:xfrm>
            <a:off x="0" y="4983480"/>
            <a:ext cx="9144000" cy="160020"/>
          </a:xfrm>
          <a:prstGeom prst="rect">
            <a:avLst/>
          </a:prstGeom>
          <a:solidFill>
            <a:srgbClr val="050C18"/>
          </a:solidFill>
          <a:ln w="12700">
            <a:solidFill>
              <a:srgbClr val="050C18"/>
            </a:solidFill>
            <a:prstDash val="solid"/>
          </a:ln>
        </p:spPr>
      </p:sp>
      <p:graphicFrame>
        <p:nvGraphicFramePr>
          <p:cNvPr id="6" name="Table 5">
            <a:extLst>
              <a:ext uri="{FF2B5EF4-FFF2-40B4-BE49-F238E27FC236}">
                <a16:creationId xmlns:a16="http://schemas.microsoft.com/office/drawing/2014/main" id="{7D8BC3AC-809B-0D18-B490-62F4E03DC9B0}"/>
              </a:ext>
            </a:extLst>
          </p:cNvPr>
          <p:cNvGraphicFramePr>
            <a:graphicFrameLocks noGrp="1"/>
          </p:cNvGraphicFramePr>
          <p:nvPr>
            <p:extLst>
              <p:ext uri="{D42A27DB-BD31-4B8C-83A1-F6EECF244321}">
                <p14:modId xmlns:p14="http://schemas.microsoft.com/office/powerpoint/2010/main" val="2702951213"/>
              </p:ext>
            </p:extLst>
          </p:nvPr>
        </p:nvGraphicFramePr>
        <p:xfrm>
          <a:off x="4699695" y="1024128"/>
          <a:ext cx="4096833" cy="3607817"/>
        </p:xfrm>
        <a:graphic>
          <a:graphicData uri="http://schemas.openxmlformats.org/drawingml/2006/table">
            <a:tbl>
              <a:tblPr/>
              <a:tblGrid>
                <a:gridCol w="2376163">
                  <a:extLst>
                    <a:ext uri="{9D8B030D-6E8A-4147-A177-3AD203B41FA5}">
                      <a16:colId xmlns:a16="http://schemas.microsoft.com/office/drawing/2014/main" val="3283159226"/>
                    </a:ext>
                  </a:extLst>
                </a:gridCol>
                <a:gridCol w="1720670">
                  <a:extLst>
                    <a:ext uri="{9D8B030D-6E8A-4147-A177-3AD203B41FA5}">
                      <a16:colId xmlns:a16="http://schemas.microsoft.com/office/drawing/2014/main" val="759330280"/>
                    </a:ext>
                  </a:extLst>
                </a:gridCol>
              </a:tblGrid>
              <a:tr h="567908">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9"/>
                        </a:rPr>
                        <a:t>Raspberry RP2040 Core Board 16MB</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1,450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3095620878"/>
                  </a:ext>
                </a:extLst>
              </a:tr>
              <a:tr h="353143">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0"/>
                        </a:rPr>
                        <a:t>Teensy 4.1 Development Board</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8,945</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3620128924"/>
                  </a:ext>
                </a:extLst>
              </a:tr>
              <a:tr h="353143">
                <a:tc gridSpan="2">
                  <a:txBody>
                    <a:bodyPr/>
                    <a:lstStyle/>
                    <a:p>
                      <a:pPr marL="0" marR="0" algn="ctr">
                        <a:lnSpc>
                          <a:spcPct val="115000"/>
                        </a:lnSpc>
                        <a:spcAft>
                          <a:spcPts val="800"/>
                        </a:spcAft>
                        <a:buNone/>
                      </a:pPr>
                      <a:r>
                        <a:rPr lang="en-US" sz="1200" b="1" u="sng" kern="100">
                          <a:effectLst/>
                          <a:latin typeface="Times New Roman" panose="02020603050405020304" pitchFamily="18" charset="0"/>
                          <a:ea typeface="Calibri" panose="020F0502020204030204" pitchFamily="34" charset="0"/>
                          <a:cs typeface="Times New Roman" panose="02020603050405020304" pitchFamily="18" charset="0"/>
                        </a:rPr>
                        <a:t>Bare AVR, PIC &amp; RISC-V Chips</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hMerge="1">
                  <a:txBody>
                    <a:bodyPr/>
                    <a:lstStyle/>
                    <a:p>
                      <a:endParaRPr lang="en-US"/>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3736244422"/>
                  </a:ext>
                </a:extLst>
              </a:tr>
              <a:tr h="353143">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1"/>
                        </a:rPr>
                        <a:t>ATmega32A</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430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3667145597"/>
                  </a:ext>
                </a:extLst>
              </a:tr>
              <a:tr h="353143">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2"/>
                        </a:rPr>
                        <a:t>ATtiny15L</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270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2032759756"/>
                  </a:ext>
                </a:extLst>
              </a:tr>
              <a:tr h="353143">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3"/>
                        </a:rPr>
                        <a:t>PIC18F4550</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762</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1154934690"/>
                  </a:ext>
                </a:extLst>
              </a:tr>
              <a:tr h="353143">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4"/>
                        </a:rPr>
                        <a:t>PIC16F877A</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2,250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94955422"/>
                  </a:ext>
                </a:extLst>
              </a:tr>
              <a:tr h="353143">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5"/>
                        </a:rPr>
                        <a:t>PIC16F628</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135</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946611644"/>
                  </a:ext>
                </a:extLst>
              </a:tr>
              <a:tr h="567908">
                <a:tc>
                  <a:txBody>
                    <a:bodyPr/>
                    <a:lstStyle/>
                    <a:p>
                      <a:pPr marL="0" marR="0">
                        <a:lnSpc>
                          <a:spcPct val="115000"/>
                        </a:lnSpc>
                        <a:spcAft>
                          <a:spcPts val="800"/>
                        </a:spcAft>
                        <a:buNone/>
                      </a:pPr>
                      <a:r>
                        <a:rPr lang="en-US" sz="1200" u="sng" kern="10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16"/>
                        </a:rPr>
                        <a:t>CH32V003 Development Board 48Mhz RISC-V</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marR="0">
                        <a:lnSpc>
                          <a:spcPct val="115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390</a:t>
                      </a:r>
                    </a:p>
                  </a:txBody>
                  <a:tcPr marL="114300" marR="114300" marT="76200" marB="76200" anchor="ct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3950147843"/>
                  </a:ext>
                </a:extLst>
              </a:tr>
            </a:tbl>
          </a:graphicData>
        </a:graphic>
      </p:graphicFrame>
      <p:sp>
        <p:nvSpPr>
          <p:cNvPr id="10" name="Text 4">
            <a:extLst>
              <a:ext uri="{FF2B5EF4-FFF2-40B4-BE49-F238E27FC236}">
                <a16:creationId xmlns:a16="http://schemas.microsoft.com/office/drawing/2014/main" id="{1CF6FB07-FE08-4FE2-319F-3C5FD7A9AF8C}"/>
              </a:ext>
            </a:extLst>
          </p:cNvPr>
          <p:cNvSpPr/>
          <p:nvPr/>
        </p:nvSpPr>
        <p:spPr>
          <a:xfrm>
            <a:off x="201168" y="4645152"/>
            <a:ext cx="8595360" cy="201168"/>
          </a:xfrm>
          <a:prstGeom prst="rect">
            <a:avLst/>
          </a:prstGeom>
          <a:noFill/>
          <a:ln/>
        </p:spPr>
        <p:txBody>
          <a:bodyPr wrap="square" rtlCol="0" anchor="ctr"/>
          <a:lstStyle/>
          <a:p>
            <a:pPr marL="0" indent="0">
              <a:buNone/>
            </a:pPr>
            <a:r>
              <a:rPr lang="en-US" sz="950" i="1" dirty="0">
                <a:solidFill>
                  <a:srgbClr val="7A90A8"/>
                </a:solidFill>
                <a:latin typeface="Calibri" pitchFamily="34" charset="0"/>
                <a:ea typeface="Calibri" pitchFamily="34" charset="-122"/>
                <a:cs typeface="Calibri" pitchFamily="34" charset="-120"/>
              </a:rPr>
              <a:t>📍 Available at: </a:t>
            </a:r>
            <a:r>
              <a:rPr lang="en-US" sz="950" i="1" dirty="0">
                <a:solidFill>
                  <a:srgbClr val="7A90A8"/>
                </a:solidFill>
                <a:latin typeface="Calibri" pitchFamily="34" charset="0"/>
                <a:ea typeface="Calibri" pitchFamily="34" charset="-122"/>
                <a:cs typeface="Calibri" pitchFamily="34" charset="-120"/>
                <a:hlinkClick r:id="rId15"/>
              </a:rPr>
              <a:t>Robotics BD </a:t>
            </a:r>
            <a:r>
              <a:rPr lang="en-US" sz="950" i="1" dirty="0">
                <a:solidFill>
                  <a:srgbClr val="7A90A8"/>
                </a:solidFill>
                <a:latin typeface="Calibri" pitchFamily="34" charset="0"/>
                <a:ea typeface="Calibri" pitchFamily="34" charset="-122"/>
                <a:cs typeface="Calibri" pitchFamily="34" charset="-120"/>
              </a:rPr>
              <a:t>· </a:t>
            </a:r>
            <a:r>
              <a:rPr lang="en-US" sz="950" i="1" dirty="0">
                <a:solidFill>
                  <a:srgbClr val="7A90A8"/>
                </a:solidFill>
                <a:latin typeface="Calibri" pitchFamily="34" charset="0"/>
                <a:ea typeface="Calibri" pitchFamily="34" charset="-122"/>
                <a:cs typeface="Calibri" pitchFamily="34" charset="-120"/>
                <a:hlinkClick r:id="rId14"/>
              </a:rPr>
              <a:t>TechShop BD</a:t>
            </a:r>
            <a:r>
              <a:rPr lang="en-US" sz="950" i="1" dirty="0">
                <a:solidFill>
                  <a:srgbClr val="7A90A8"/>
                </a:solidFill>
                <a:latin typeface="Calibri" pitchFamily="34" charset="0"/>
                <a:ea typeface="Calibri" pitchFamily="34" charset="-122"/>
                <a:cs typeface="Calibri" pitchFamily="34" charset="-120"/>
              </a:rPr>
              <a:t> · </a:t>
            </a:r>
            <a:r>
              <a:rPr lang="en-US" sz="950" i="1" dirty="0">
                <a:solidFill>
                  <a:srgbClr val="7A90A8"/>
                </a:solidFill>
                <a:latin typeface="Calibri" pitchFamily="34" charset="0"/>
                <a:ea typeface="Calibri" pitchFamily="34" charset="-122"/>
                <a:cs typeface="Calibri" pitchFamily="34" charset="-120"/>
                <a:hlinkClick r:id="rId17"/>
              </a:rPr>
              <a:t>BDTronics</a:t>
            </a:r>
            <a:r>
              <a:rPr lang="en-US" sz="950" i="1" dirty="0">
                <a:solidFill>
                  <a:srgbClr val="7A90A8"/>
                </a:solidFill>
                <a:latin typeface="Calibri" pitchFamily="34" charset="0"/>
                <a:ea typeface="Calibri" pitchFamily="34" charset="-122"/>
                <a:cs typeface="Calibri" pitchFamily="34" charset="-120"/>
              </a:rPr>
              <a:t> · </a:t>
            </a:r>
            <a:r>
              <a:rPr lang="en-US" sz="950" i="1" dirty="0">
                <a:solidFill>
                  <a:srgbClr val="7A90A8"/>
                </a:solidFill>
                <a:latin typeface="Calibri" pitchFamily="34" charset="0"/>
                <a:ea typeface="Calibri" pitchFamily="34" charset="-122"/>
                <a:cs typeface="Calibri" pitchFamily="34" charset="-120"/>
                <a:hlinkClick r:id="rId18"/>
              </a:rPr>
              <a:t>Robotech BD</a:t>
            </a:r>
            <a:endParaRPr lang="en-US" sz="950" dirty="0"/>
          </a:p>
        </p:txBody>
      </p:sp>
    </p:spTree>
    <p:extLst>
      <p:ext uri="{BB962C8B-B14F-4D97-AF65-F5344CB8AC3E}">
        <p14:creationId xmlns:p14="http://schemas.microsoft.com/office/powerpoint/2010/main" val="501743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are sensors and actuators?</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Section 4 — Input &amp; Output Devices</a:t>
            </a:r>
            <a:endParaRPr lang="en-US" sz="1100" dirty="0"/>
          </a:p>
        </p:txBody>
      </p:sp>
      <p:sp>
        <p:nvSpPr>
          <p:cNvPr id="6" name="Shape 4"/>
          <p:cNvSpPr/>
          <p:nvPr/>
        </p:nvSpPr>
        <p:spPr>
          <a:xfrm>
            <a:off x="274320" y="1078992"/>
            <a:ext cx="4206240" cy="3611880"/>
          </a:xfrm>
          <a:prstGeom prst="rect">
            <a:avLst/>
          </a:prstGeom>
          <a:solidFill>
            <a:srgbClr val="142030"/>
          </a:solidFill>
          <a:ln w="12700">
            <a:solidFill>
              <a:srgbClr val="3A5070"/>
            </a:solidFill>
            <a:prstDash val="solid"/>
          </a:ln>
        </p:spPr>
      </p:sp>
      <p:sp>
        <p:nvSpPr>
          <p:cNvPr id="7" name="Shape 5"/>
          <p:cNvSpPr/>
          <p:nvPr/>
        </p:nvSpPr>
        <p:spPr>
          <a:xfrm>
            <a:off x="4663440" y="1078992"/>
            <a:ext cx="4206240" cy="3611880"/>
          </a:xfrm>
          <a:prstGeom prst="rect">
            <a:avLst/>
          </a:prstGeom>
          <a:solidFill>
            <a:srgbClr val="142030"/>
          </a:solidFill>
          <a:ln w="12700">
            <a:solidFill>
              <a:srgbClr val="3A5070"/>
            </a:solidFill>
            <a:prstDash val="solid"/>
          </a:ln>
        </p:spPr>
      </p:sp>
      <p:sp>
        <p:nvSpPr>
          <p:cNvPr id="8" name="Shape 6"/>
          <p:cNvSpPr/>
          <p:nvPr/>
        </p:nvSpPr>
        <p:spPr>
          <a:xfrm>
            <a:off x="274320" y="1078992"/>
            <a:ext cx="4206240" cy="347472"/>
          </a:xfrm>
          <a:prstGeom prst="rect">
            <a:avLst/>
          </a:prstGeom>
          <a:solidFill>
            <a:srgbClr val="00B4D8"/>
          </a:solidFill>
          <a:ln w="12700">
            <a:solidFill>
              <a:srgbClr val="00B4D8"/>
            </a:solidFill>
            <a:prstDash val="solid"/>
          </a:ln>
        </p:spPr>
      </p:sp>
      <p:sp>
        <p:nvSpPr>
          <p:cNvPr id="9" name="Shape 7"/>
          <p:cNvSpPr/>
          <p:nvPr/>
        </p:nvSpPr>
        <p:spPr>
          <a:xfrm>
            <a:off x="4663440" y="1078992"/>
            <a:ext cx="4206240" cy="347472"/>
          </a:xfrm>
          <a:prstGeom prst="rect">
            <a:avLst/>
          </a:prstGeom>
          <a:solidFill>
            <a:srgbClr val="F77F00"/>
          </a:solidFill>
          <a:ln w="12700">
            <a:solidFill>
              <a:srgbClr val="F77F00"/>
            </a:solidFill>
            <a:prstDash val="solid"/>
          </a:ln>
        </p:spPr>
      </p:sp>
      <p:sp>
        <p:nvSpPr>
          <p:cNvPr id="10" name="Text 8"/>
          <p:cNvSpPr/>
          <p:nvPr/>
        </p:nvSpPr>
        <p:spPr>
          <a:xfrm>
            <a:off x="274320" y="1078992"/>
            <a:ext cx="4206240"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SENSORS</a:t>
            </a:r>
            <a:endParaRPr lang="en-US" sz="1400" dirty="0"/>
          </a:p>
        </p:txBody>
      </p:sp>
      <p:sp>
        <p:nvSpPr>
          <p:cNvPr id="11" name="Text 9"/>
          <p:cNvSpPr/>
          <p:nvPr/>
        </p:nvSpPr>
        <p:spPr>
          <a:xfrm>
            <a:off x="4663440" y="1078992"/>
            <a:ext cx="4206240"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ACTUATORS</a:t>
            </a:r>
            <a:endParaRPr lang="en-US" sz="1400" dirty="0"/>
          </a:p>
        </p:txBody>
      </p:sp>
      <p:sp>
        <p:nvSpPr>
          <p:cNvPr id="12" name="Text 10"/>
          <p:cNvSpPr/>
          <p:nvPr/>
        </p:nvSpPr>
        <p:spPr>
          <a:xfrm>
            <a:off x="411480" y="1508760"/>
            <a:ext cx="3931920" cy="914400"/>
          </a:xfrm>
          <a:prstGeom prst="rect">
            <a:avLst/>
          </a:prstGeom>
          <a:noFill/>
          <a:ln/>
        </p:spPr>
        <p:txBody>
          <a:bodyPr wrap="square" rtlCol="0" anchor="ctr"/>
          <a:lstStyle/>
          <a:p>
            <a:pPr marL="0" indent="0">
              <a:buNone/>
            </a:pPr>
            <a:r>
              <a:rPr lang="en-US" sz="1250" dirty="0">
                <a:solidFill>
                  <a:srgbClr val="E2E8F0"/>
                </a:solidFill>
                <a:latin typeface="Calibri" pitchFamily="34" charset="0"/>
                <a:ea typeface="Calibri" pitchFamily="34" charset="-122"/>
                <a:cs typeface="Calibri" pitchFamily="34" charset="-120"/>
              </a:rPr>
              <a:t>Sensors are input devices that detect physical or chemical changes in the environment (temperature, light, motion, gas, sound, distance) and convert them into electrical signals a microcontroller can read and process.</a:t>
            </a:r>
            <a:endParaRPr lang="en-US" sz="1250" dirty="0"/>
          </a:p>
        </p:txBody>
      </p:sp>
      <p:sp>
        <p:nvSpPr>
          <p:cNvPr id="13" name="Text 11"/>
          <p:cNvSpPr/>
          <p:nvPr/>
        </p:nvSpPr>
        <p:spPr>
          <a:xfrm>
            <a:off x="411480" y="2514600"/>
            <a:ext cx="3931920" cy="256032"/>
          </a:xfrm>
          <a:prstGeom prst="rect">
            <a:avLst/>
          </a:prstGeom>
          <a:noFill/>
          <a:ln/>
        </p:spPr>
        <p:txBody>
          <a:bodyPr wrap="square" lIns="0" tIns="0" rIns="0" bIns="0" rtlCol="0" anchor="ctr"/>
          <a:lstStyle/>
          <a:p>
            <a:pPr marL="0" indent="0">
              <a:buNone/>
            </a:pPr>
            <a:r>
              <a:rPr lang="en-US" sz="1200" b="1" dirty="0">
                <a:solidFill>
                  <a:srgbClr val="48CAE4"/>
                </a:solidFill>
                <a:latin typeface="Calibri" pitchFamily="34" charset="0"/>
                <a:ea typeface="Calibri" pitchFamily="34" charset="-122"/>
                <a:cs typeface="Calibri" pitchFamily="34" charset="-120"/>
              </a:rPr>
              <a:t>Signal Flow:</a:t>
            </a:r>
            <a:endParaRPr lang="en-US" sz="1200" dirty="0"/>
          </a:p>
        </p:txBody>
      </p:sp>
      <p:sp>
        <p:nvSpPr>
          <p:cNvPr id="14" name="Text 12"/>
          <p:cNvSpPr/>
          <p:nvPr/>
        </p:nvSpPr>
        <p:spPr>
          <a:xfrm>
            <a:off x="411480" y="2788920"/>
            <a:ext cx="3931920" cy="347472"/>
          </a:xfrm>
          <a:prstGeom prst="rect">
            <a:avLst/>
          </a:prstGeom>
          <a:noFill/>
          <a:ln/>
        </p:spPr>
        <p:txBody>
          <a:bodyPr wrap="square"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Environment → Physical Quantity → Electrical Signal → MCU → Decision</a:t>
            </a:r>
            <a:endParaRPr lang="en-US" sz="1100" dirty="0"/>
          </a:p>
        </p:txBody>
      </p:sp>
      <p:sp>
        <p:nvSpPr>
          <p:cNvPr id="15" name="Text 13"/>
          <p:cNvSpPr/>
          <p:nvPr/>
        </p:nvSpPr>
        <p:spPr>
          <a:xfrm>
            <a:off x="411480" y="3200400"/>
            <a:ext cx="3931920" cy="256032"/>
          </a:xfrm>
          <a:prstGeom prst="rect">
            <a:avLst/>
          </a:prstGeom>
          <a:noFill/>
          <a:ln/>
        </p:spPr>
        <p:txBody>
          <a:bodyPr wrap="square" lIns="0" tIns="0" rIns="0" bIns="0" rtlCol="0" anchor="ctr"/>
          <a:lstStyle/>
          <a:p>
            <a:pPr marL="0" indent="0">
              <a:buNone/>
            </a:pPr>
            <a:r>
              <a:rPr lang="en-US" sz="1200" b="1" dirty="0">
                <a:solidFill>
                  <a:srgbClr val="48CAE4"/>
                </a:solidFill>
                <a:latin typeface="Calibri" pitchFamily="34" charset="0"/>
                <a:ea typeface="Calibri" pitchFamily="34" charset="-122"/>
                <a:cs typeface="Calibri" pitchFamily="34" charset="-120"/>
              </a:rPr>
              <a:t>Used for:</a:t>
            </a:r>
            <a:endParaRPr lang="en-US" sz="1200" dirty="0"/>
          </a:p>
        </p:txBody>
      </p:sp>
      <p:sp>
        <p:nvSpPr>
          <p:cNvPr id="16" name="Text 14"/>
          <p:cNvSpPr/>
          <p:nvPr/>
        </p:nvSpPr>
        <p:spPr>
          <a:xfrm>
            <a:off x="411480" y="3474720"/>
            <a:ext cx="3931920" cy="1005840"/>
          </a:xfrm>
          <a:prstGeom prst="rect">
            <a:avLst/>
          </a:prstGeom>
          <a:noFill/>
          <a:ln/>
        </p:spPr>
        <p:txBody>
          <a:bodyPr wrap="square" rtlCol="0" anchor="ctr"/>
          <a:lstStyle/>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Data acquisition</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Automation &amp; control</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Safety &amp; protection</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Decision-making systems</a:t>
            </a:r>
            <a:endParaRPr lang="en-US" sz="1200" dirty="0"/>
          </a:p>
        </p:txBody>
      </p:sp>
      <p:sp>
        <p:nvSpPr>
          <p:cNvPr id="17" name="Text 15"/>
          <p:cNvSpPr/>
          <p:nvPr/>
        </p:nvSpPr>
        <p:spPr>
          <a:xfrm>
            <a:off x="4800600" y="1508760"/>
            <a:ext cx="3931920" cy="914400"/>
          </a:xfrm>
          <a:prstGeom prst="rect">
            <a:avLst/>
          </a:prstGeom>
          <a:noFill/>
          <a:ln/>
        </p:spPr>
        <p:txBody>
          <a:bodyPr wrap="square" rtlCol="0" anchor="ctr"/>
          <a:lstStyle/>
          <a:p>
            <a:pPr marL="0" indent="0">
              <a:buNone/>
            </a:pPr>
            <a:r>
              <a:rPr lang="en-US" sz="1250" dirty="0">
                <a:solidFill>
                  <a:srgbClr val="E2E8F0"/>
                </a:solidFill>
                <a:latin typeface="Calibri" pitchFamily="34" charset="0"/>
                <a:ea typeface="Calibri" pitchFamily="34" charset="-122"/>
                <a:cs typeface="Calibri" pitchFamily="34" charset="-120"/>
              </a:rPr>
              <a:t>Actuators are output devices that convert electrical control signals from a microcontroller into physical action — movement, heat, light, or sound. They are the 'muscles' of an embedded system.</a:t>
            </a:r>
            <a:endParaRPr lang="en-US" sz="1250" dirty="0"/>
          </a:p>
        </p:txBody>
      </p:sp>
      <p:sp>
        <p:nvSpPr>
          <p:cNvPr id="18" name="Text 16"/>
          <p:cNvSpPr/>
          <p:nvPr/>
        </p:nvSpPr>
        <p:spPr>
          <a:xfrm>
            <a:off x="4800600" y="2514600"/>
            <a:ext cx="3931920" cy="256032"/>
          </a:xfrm>
          <a:prstGeom prst="rect">
            <a:avLst/>
          </a:prstGeom>
          <a:noFill/>
          <a:ln/>
        </p:spPr>
        <p:txBody>
          <a:bodyPr wrap="square" lIns="0" tIns="0" rIns="0" bIns="0" rtlCol="0" anchor="ctr"/>
          <a:lstStyle/>
          <a:p>
            <a:pPr marL="0" indent="0">
              <a:buNone/>
            </a:pPr>
            <a:r>
              <a:rPr lang="en-US" sz="1200" b="1" dirty="0">
                <a:solidFill>
                  <a:srgbClr val="FFAD6B"/>
                </a:solidFill>
                <a:latin typeface="Calibri" pitchFamily="34" charset="0"/>
                <a:ea typeface="Calibri" pitchFamily="34" charset="-122"/>
                <a:cs typeface="Calibri" pitchFamily="34" charset="-120"/>
              </a:rPr>
              <a:t>Signal Flow:</a:t>
            </a:r>
            <a:endParaRPr lang="en-US" sz="1200" dirty="0"/>
          </a:p>
        </p:txBody>
      </p:sp>
      <p:sp>
        <p:nvSpPr>
          <p:cNvPr id="19" name="Text 17"/>
          <p:cNvSpPr/>
          <p:nvPr/>
        </p:nvSpPr>
        <p:spPr>
          <a:xfrm>
            <a:off x="4800600" y="2788920"/>
            <a:ext cx="3931920" cy="347472"/>
          </a:xfrm>
          <a:prstGeom prst="rect">
            <a:avLst/>
          </a:prstGeom>
          <a:noFill/>
          <a:ln/>
        </p:spPr>
        <p:txBody>
          <a:bodyPr wrap="square" rtlCol="0" anchor="ctr"/>
          <a:lstStyle/>
          <a:p>
            <a:pPr marL="0" indent="0">
              <a:buNone/>
            </a:pPr>
            <a:r>
              <a:rPr lang="en-US" sz="1100" i="1" dirty="0">
                <a:solidFill>
                  <a:srgbClr val="FFAD6B"/>
                </a:solidFill>
                <a:latin typeface="Calibri" pitchFamily="34" charset="0"/>
                <a:ea typeface="Calibri" pitchFamily="34" charset="-122"/>
                <a:cs typeface="Calibri" pitchFamily="34" charset="-120"/>
              </a:rPr>
              <a:t>MCU Decision → Electrical Signal → Actuator → Physical Motion/Action</a:t>
            </a:r>
            <a:endParaRPr lang="en-US" sz="1100" dirty="0"/>
          </a:p>
        </p:txBody>
      </p:sp>
      <p:sp>
        <p:nvSpPr>
          <p:cNvPr id="20" name="Text 18"/>
          <p:cNvSpPr/>
          <p:nvPr/>
        </p:nvSpPr>
        <p:spPr>
          <a:xfrm>
            <a:off x="4800600" y="3200400"/>
            <a:ext cx="3931920" cy="256032"/>
          </a:xfrm>
          <a:prstGeom prst="rect">
            <a:avLst/>
          </a:prstGeom>
          <a:noFill/>
          <a:ln/>
        </p:spPr>
        <p:txBody>
          <a:bodyPr wrap="square" lIns="0" tIns="0" rIns="0" bIns="0" rtlCol="0" anchor="ctr"/>
          <a:lstStyle/>
          <a:p>
            <a:pPr marL="0" indent="0">
              <a:buNone/>
            </a:pPr>
            <a:r>
              <a:rPr lang="en-US" sz="1200" b="1" dirty="0">
                <a:solidFill>
                  <a:srgbClr val="FFAD6B"/>
                </a:solidFill>
                <a:latin typeface="Calibri" pitchFamily="34" charset="0"/>
                <a:ea typeface="Calibri" pitchFamily="34" charset="-122"/>
                <a:cs typeface="Calibri" pitchFamily="34" charset="-120"/>
              </a:rPr>
              <a:t>Used for:</a:t>
            </a:r>
            <a:endParaRPr lang="en-US" sz="1200" dirty="0"/>
          </a:p>
        </p:txBody>
      </p:sp>
      <p:sp>
        <p:nvSpPr>
          <p:cNvPr id="21" name="Text 19"/>
          <p:cNvSpPr/>
          <p:nvPr/>
        </p:nvSpPr>
        <p:spPr>
          <a:xfrm>
            <a:off x="4800600" y="3474720"/>
            <a:ext cx="3931920" cy="1005840"/>
          </a:xfrm>
          <a:prstGeom prst="rect">
            <a:avLst/>
          </a:prstGeom>
          <a:noFill/>
          <a:ln/>
        </p:spPr>
        <p:txBody>
          <a:bodyPr wrap="square" rtlCol="0" anchor="ctr"/>
          <a:lstStyle/>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Motion &amp; movement control</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Switching high-power devices</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Valve &amp; flow control</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Sound &amp; light output</a:t>
            </a:r>
            <a:endParaRPr lang="en-US" sz="1200" dirty="0"/>
          </a:p>
        </p:txBody>
      </p:sp>
      <p:sp>
        <p:nvSpPr>
          <p:cNvPr id="22" name="Shape 20"/>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130716"/>
            <a:ext cx="9144000" cy="960120"/>
          </a:xfrm>
          <a:prstGeom prst="rect">
            <a:avLst/>
          </a:prstGeom>
          <a:solidFill>
            <a:srgbClr val="050C18"/>
          </a:solidFill>
          <a:ln w="12700">
            <a:solidFill>
              <a:srgbClr val="050C18"/>
            </a:solidFill>
            <a:prstDash val="solid"/>
          </a:ln>
        </p:spPr>
      </p:sp>
      <p:sp>
        <p:nvSpPr>
          <p:cNvPr id="3" name="Shape 1"/>
          <p:cNvSpPr/>
          <p:nvPr/>
        </p:nvSpPr>
        <p:spPr>
          <a:xfrm>
            <a:off x="0" y="-130716"/>
            <a:ext cx="201168" cy="960120"/>
          </a:xfrm>
          <a:prstGeom prst="rect">
            <a:avLst/>
          </a:prstGeom>
          <a:solidFill>
            <a:srgbClr val="00B4D8"/>
          </a:solidFill>
          <a:ln w="12700">
            <a:solidFill>
              <a:srgbClr val="00B4D8"/>
            </a:solidFill>
            <a:prstDash val="solid"/>
          </a:ln>
        </p:spPr>
        <p:txBody>
          <a:bodyPr/>
          <a:lstStyle/>
          <a:p>
            <a:endParaRPr lang="en-US" dirty="0"/>
          </a:p>
        </p:txBody>
      </p:sp>
      <p:sp>
        <p:nvSpPr>
          <p:cNvPr id="4" name="Text 2"/>
          <p:cNvSpPr/>
          <p:nvPr/>
        </p:nvSpPr>
        <p:spPr>
          <a:xfrm>
            <a:off x="347472" y="17208"/>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Functionalities of common sensors and their applications</a:t>
            </a:r>
            <a:endParaRPr lang="en-US" sz="2800" dirty="0"/>
          </a:p>
        </p:txBody>
      </p:sp>
      <p:sp>
        <p:nvSpPr>
          <p:cNvPr id="5" name="Text 3"/>
          <p:cNvSpPr/>
          <p:nvPr/>
        </p:nvSpPr>
        <p:spPr>
          <a:xfrm>
            <a:off x="347472" y="47332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Temperature, Gas, Light, Motion, Sound, Ultrasonic, IR &amp; more</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3761371604"/>
              </p:ext>
            </p:extLst>
          </p:nvPr>
        </p:nvGraphicFramePr>
        <p:xfrm>
          <a:off x="228600" y="885444"/>
          <a:ext cx="8686800" cy="4046220"/>
        </p:xfrm>
        <a:graphic>
          <a:graphicData uri="http://schemas.openxmlformats.org/drawingml/2006/table">
            <a:tbl>
              <a:tblPr/>
              <a:tblGrid>
                <a:gridCol w="32004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gridCol w="2560320">
                  <a:extLst>
                    <a:ext uri="{9D8B030D-6E8A-4147-A177-3AD203B41FA5}">
                      <a16:colId xmlns:a16="http://schemas.microsoft.com/office/drawing/2014/main" val="20004"/>
                    </a:ext>
                  </a:extLst>
                </a:gridCol>
              </a:tblGrid>
              <a:tr h="167097">
                <a:tc>
                  <a:txBody>
                    <a:bodyPr/>
                    <a:lstStyle/>
                    <a:p>
                      <a:pPr marL="0" indent="0" algn="ctr">
                        <a:buNone/>
                      </a:pP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indent="0" algn="ctr">
                        <a:buNone/>
                      </a:pPr>
                      <a:r>
                        <a:rPr lang="en-US" sz="1050" b="1">
                          <a:solidFill>
                            <a:srgbClr val="FFFFFF"/>
                          </a:solidFill>
                          <a:latin typeface="Calibri" pitchFamily="34" charset="0"/>
                          <a:ea typeface="Calibri" pitchFamily="34" charset="-122"/>
                          <a:cs typeface="Calibri" pitchFamily="34" charset="-120"/>
                        </a:rPr>
                        <a:t>Sensor</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indent="0" algn="l">
                        <a:buNone/>
                      </a:pPr>
                      <a:r>
                        <a:rPr lang="en-US" sz="1050" b="1">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indent="0" algn="l">
                        <a:buNone/>
                      </a:pPr>
                      <a:r>
                        <a:rPr lang="en-US" sz="1050" b="1">
                          <a:solidFill>
                            <a:srgbClr val="FFFFFF"/>
                          </a:solidFill>
                          <a:latin typeface="Calibri" pitchFamily="34" charset="0"/>
                          <a:ea typeface="Calibri" pitchFamily="34" charset="-122"/>
                          <a:cs typeface="Calibri" pitchFamily="34" charset="-120"/>
                        </a:rPr>
                        <a:t>How It Works</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tc>
                  <a:txBody>
                    <a:bodyPr/>
                    <a:lstStyle/>
                    <a:p>
                      <a:pPr marL="0" indent="0" algn="l">
                        <a:buNone/>
                      </a:pPr>
                      <a:r>
                        <a:rPr lang="en-US" sz="1050" b="1">
                          <a:solidFill>
                            <a:srgbClr val="FFFFFF"/>
                          </a:solidFill>
                          <a:latin typeface="Calibri" pitchFamily="34" charset="0"/>
                          <a:ea typeface="Calibri" pitchFamily="34" charset="-122"/>
                          <a:cs typeface="Calibri" pitchFamily="34" charset="-120"/>
                        </a:rPr>
                        <a:t>Applications</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00B4D8"/>
                    </a:solidFill>
                  </a:tcPr>
                </a:tc>
                <a:extLst>
                  <a:ext uri="{0D108BD9-81ED-4DB2-BD59-A6C34878D82A}">
                    <a16:rowId xmlns:a16="http://schemas.microsoft.com/office/drawing/2014/main" val="10000"/>
                  </a:ext>
                </a:extLst>
              </a:tr>
              <a:tr h="117337">
                <a:tc>
                  <a:txBody>
                    <a:bodyPr/>
                    <a:lstStyle/>
                    <a:p>
                      <a:pPr marL="0" indent="0" algn="ctr">
                        <a:buNone/>
                      </a:pPr>
                      <a:r>
                        <a:rPr lang="en-US" sz="1400">
                          <a:solidFill>
                            <a:srgbClr val="000000"/>
                          </a:solidFill>
                        </a:rPr>
                        <a:t>🌡️</a:t>
                      </a:r>
                      <a:endParaRPr lang="en-US" sz="1400" dirty="0"/>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b="1">
                          <a:solidFill>
                            <a:srgbClr val="48CAE4"/>
                          </a:solidFill>
                          <a:latin typeface="Calibri" pitchFamily="34" charset="0"/>
                          <a:ea typeface="Calibri" pitchFamily="34" charset="-122"/>
                          <a:cs typeface="Calibri" pitchFamily="34" charset="-120"/>
                        </a:rPr>
                        <a:t>DHT11 / DHT22</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a:solidFill>
                            <a:srgbClr val="F77F00"/>
                          </a:solidFill>
                          <a:latin typeface="Calibri" pitchFamily="34" charset="0"/>
                          <a:ea typeface="Calibri" pitchFamily="34" charset="-122"/>
                          <a:cs typeface="Calibri" pitchFamily="34" charset="-120"/>
                        </a:rPr>
                        <a:t>Temp &amp; Humidity</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950">
                          <a:solidFill>
                            <a:srgbClr val="7A90A8"/>
                          </a:solidFill>
                          <a:latin typeface="Calibri" pitchFamily="34" charset="0"/>
                          <a:ea typeface="Calibri" pitchFamily="34" charset="-122"/>
                          <a:cs typeface="Calibri" pitchFamily="34" charset="-120"/>
                        </a:rPr>
                        <a:t>Measures ambient temperature and humidity via capacitive/resistive sensing</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950">
                          <a:solidFill>
                            <a:srgbClr val="E2E8F0"/>
                          </a:solidFill>
                          <a:latin typeface="Calibri" pitchFamily="34" charset="0"/>
                          <a:ea typeface="Calibri" pitchFamily="34" charset="-122"/>
                          <a:cs typeface="Calibri" pitchFamily="34" charset="-120"/>
                        </a:rPr>
                        <a:t>Smart home, HVAC, weather stations</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1"/>
                  </a:ext>
                </a:extLst>
              </a:tr>
              <a:tr h="0">
                <a:tc>
                  <a:txBody>
                    <a:bodyPr/>
                    <a:lstStyle/>
                    <a:p>
                      <a:pPr marL="0" indent="0" algn="ctr">
                        <a:buNone/>
                      </a:pPr>
                      <a:r>
                        <a:rPr lang="en-US" sz="1400">
                          <a:solidFill>
                            <a:srgbClr val="000000"/>
                          </a:solidFill>
                        </a:rPr>
                        <a:t>📡</a:t>
                      </a:r>
                      <a:endParaRPr lang="en-US" sz="1400" dirty="0"/>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b="1">
                          <a:solidFill>
                            <a:srgbClr val="48CAE4"/>
                          </a:solidFill>
                          <a:latin typeface="Calibri" pitchFamily="34" charset="0"/>
                          <a:ea typeface="Calibri" pitchFamily="34" charset="-122"/>
                          <a:cs typeface="Calibri" pitchFamily="34" charset="-120"/>
                        </a:rPr>
                        <a:t>HC-SR04</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a:solidFill>
                            <a:srgbClr val="F77F00"/>
                          </a:solidFill>
                          <a:latin typeface="Calibri" pitchFamily="34" charset="0"/>
                          <a:ea typeface="Calibri" pitchFamily="34" charset="-122"/>
                          <a:cs typeface="Calibri" pitchFamily="34" charset="-120"/>
                        </a:rPr>
                        <a:t>Ultrasonic</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950">
                          <a:solidFill>
                            <a:srgbClr val="7A90A8"/>
                          </a:solidFill>
                          <a:latin typeface="Calibri" pitchFamily="34" charset="0"/>
                          <a:ea typeface="Calibri" pitchFamily="34" charset="-122"/>
                          <a:cs typeface="Calibri" pitchFamily="34" charset="-120"/>
                        </a:rPr>
                        <a:t>Emits 40kHz sound pulses; measures echo return time to calculate distance</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950">
                          <a:solidFill>
                            <a:srgbClr val="E2E8F0"/>
                          </a:solidFill>
                          <a:latin typeface="Calibri" pitchFamily="34" charset="0"/>
                          <a:ea typeface="Calibri" pitchFamily="34" charset="-122"/>
                          <a:cs typeface="Calibri" pitchFamily="34" charset="-120"/>
                        </a:rPr>
                        <a:t>Obstacle avoidance, tank level, parking</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2"/>
                  </a:ext>
                </a:extLst>
              </a:tr>
              <a:tr h="180051">
                <a:tc>
                  <a:txBody>
                    <a:bodyPr/>
                    <a:lstStyle/>
                    <a:p>
                      <a:pPr marL="0" indent="0" algn="ctr">
                        <a:buNone/>
                      </a:pPr>
                      <a:r>
                        <a:rPr lang="en-US" sz="1400">
                          <a:solidFill>
                            <a:srgbClr val="000000"/>
                          </a:solidFill>
                        </a:rPr>
                        <a:t>💨</a:t>
                      </a:r>
                      <a:endParaRPr lang="en-US" sz="1400" dirty="0"/>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b="1">
                          <a:solidFill>
                            <a:srgbClr val="48CAE4"/>
                          </a:solidFill>
                          <a:latin typeface="Calibri" pitchFamily="34" charset="0"/>
                          <a:ea typeface="Calibri" pitchFamily="34" charset="-122"/>
                          <a:cs typeface="Calibri" pitchFamily="34" charset="-120"/>
                        </a:rPr>
                        <a:t>MQ Series Gas</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a:solidFill>
                            <a:srgbClr val="F77F00"/>
                          </a:solidFill>
                          <a:latin typeface="Calibri" pitchFamily="34" charset="0"/>
                          <a:ea typeface="Calibri" pitchFamily="34" charset="-122"/>
                          <a:cs typeface="Calibri" pitchFamily="34" charset="-120"/>
                        </a:rPr>
                        <a:t>Gas / Air Quality</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950">
                          <a:solidFill>
                            <a:srgbClr val="7A90A8"/>
                          </a:solidFill>
                          <a:latin typeface="Calibri" pitchFamily="34" charset="0"/>
                          <a:ea typeface="Calibri" pitchFamily="34" charset="-122"/>
                          <a:cs typeface="Calibri" pitchFamily="34" charset="-120"/>
                        </a:rPr>
                        <a:t>Resistance changes with target gas contact on heated metal oxide surface</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950">
                          <a:solidFill>
                            <a:srgbClr val="E2E8F0"/>
                          </a:solidFill>
                          <a:latin typeface="Calibri" pitchFamily="34" charset="0"/>
                          <a:ea typeface="Calibri" pitchFamily="34" charset="-122"/>
                          <a:cs typeface="Calibri" pitchFamily="34" charset="-120"/>
                        </a:rPr>
                        <a:t>Fire detection, CO alarm, air quality IoT</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3"/>
                  </a:ext>
                </a:extLst>
              </a:tr>
              <a:tr h="191827">
                <a:tc>
                  <a:txBody>
                    <a:bodyPr/>
                    <a:lstStyle/>
                    <a:p>
                      <a:pPr marL="0" indent="0" algn="ctr">
                        <a:buNone/>
                      </a:pPr>
                      <a:r>
                        <a:rPr lang="en-US" sz="1400" dirty="0">
                          <a:solidFill>
                            <a:srgbClr val="000000"/>
                          </a:solidFill>
                        </a:rPr>
                        <a:t>💡</a:t>
                      </a:r>
                      <a:endParaRPr lang="en-US" sz="1400" dirty="0"/>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b="1" dirty="0">
                          <a:solidFill>
                            <a:srgbClr val="48CAE4"/>
                          </a:solidFill>
                          <a:latin typeface="Calibri" pitchFamily="34" charset="0"/>
                          <a:ea typeface="Calibri" pitchFamily="34" charset="-122"/>
                          <a:cs typeface="Calibri" pitchFamily="34" charset="-120"/>
                        </a:rPr>
                        <a:t>LDR</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dirty="0">
                          <a:solidFill>
                            <a:srgbClr val="F77F00"/>
                          </a:solidFill>
                          <a:latin typeface="Calibri" pitchFamily="34" charset="0"/>
                          <a:ea typeface="Calibri" pitchFamily="34" charset="-122"/>
                          <a:cs typeface="Calibri" pitchFamily="34" charset="-120"/>
                        </a:rPr>
                        <a:t>Light</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950" dirty="0">
                          <a:solidFill>
                            <a:srgbClr val="7A90A8"/>
                          </a:solidFill>
                          <a:latin typeface="Calibri" pitchFamily="34" charset="0"/>
                          <a:ea typeface="Calibri" pitchFamily="34" charset="-122"/>
                          <a:cs typeface="Calibri" pitchFamily="34" charset="-120"/>
                        </a:rPr>
                        <a:t>LDR changes resistance with light; BH1750 gives digital lux via I2C</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950" dirty="0">
                          <a:solidFill>
                            <a:srgbClr val="E2E8F0"/>
                          </a:solidFill>
                          <a:latin typeface="Calibri" pitchFamily="34" charset="0"/>
                          <a:ea typeface="Calibri" pitchFamily="34" charset="-122"/>
                          <a:cs typeface="Calibri" pitchFamily="34" charset="-120"/>
                        </a:rPr>
                        <a:t>Auto lighting, solar trackers, displays</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4"/>
                  </a:ext>
                </a:extLst>
              </a:tr>
              <a:tr h="198953">
                <a:tc>
                  <a:txBody>
                    <a:bodyPr/>
                    <a:lstStyle/>
                    <a:p>
                      <a:pPr marL="0" indent="0" algn="ctr">
                        <a:buNone/>
                      </a:pPr>
                      <a:r>
                        <a:rPr lang="en-US" sz="1400">
                          <a:solidFill>
                            <a:srgbClr val="000000"/>
                          </a:solidFill>
                        </a:rPr>
                        <a:t>🏃</a:t>
                      </a:r>
                      <a:endParaRPr lang="en-US" sz="1400" dirty="0"/>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b="1" dirty="0">
                          <a:solidFill>
                            <a:srgbClr val="48CAE4"/>
                          </a:solidFill>
                          <a:latin typeface="Calibri" pitchFamily="34" charset="0"/>
                          <a:ea typeface="Calibri" pitchFamily="34" charset="-122"/>
                          <a:cs typeface="Calibri" pitchFamily="34" charset="-120"/>
                        </a:rPr>
                        <a:t>PIR</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a:solidFill>
                            <a:srgbClr val="F77F00"/>
                          </a:solidFill>
                          <a:latin typeface="Calibri" pitchFamily="34" charset="0"/>
                          <a:ea typeface="Calibri" pitchFamily="34" charset="-122"/>
                          <a:cs typeface="Calibri" pitchFamily="34" charset="-120"/>
                        </a:rPr>
                        <a:t>Motion</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950">
                          <a:solidFill>
                            <a:srgbClr val="7A90A8"/>
                          </a:solidFill>
                          <a:latin typeface="Calibri" pitchFamily="34" charset="0"/>
                          <a:ea typeface="Calibri" pitchFamily="34" charset="-122"/>
                          <a:cs typeface="Calibri" pitchFamily="34" charset="-120"/>
                        </a:rPr>
                        <a:t>Detects IR radiation difference from warm bodies across two pyroelectric zones</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950">
                          <a:solidFill>
                            <a:srgbClr val="E2E8F0"/>
                          </a:solidFill>
                          <a:latin typeface="Calibri" pitchFamily="34" charset="0"/>
                          <a:ea typeface="Calibri" pitchFamily="34" charset="-122"/>
                          <a:cs typeface="Calibri" pitchFamily="34" charset="-120"/>
                        </a:rPr>
                        <a:t>Security alarm, auto-lighting, occupancy</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5"/>
                  </a:ext>
                </a:extLst>
              </a:tr>
              <a:tr h="356616">
                <a:tc>
                  <a:txBody>
                    <a:bodyPr/>
                    <a:lstStyle/>
                    <a:p>
                      <a:pPr marL="0" indent="0" algn="ctr">
                        <a:buNone/>
                      </a:pPr>
                      <a:r>
                        <a:rPr lang="en-US" sz="1400">
                          <a:solidFill>
                            <a:srgbClr val="000000"/>
                          </a:solidFill>
                        </a:rPr>
                        <a:t>🎤</a:t>
                      </a:r>
                      <a:endParaRPr lang="en-US" sz="1400" dirty="0"/>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b="1">
                          <a:solidFill>
                            <a:srgbClr val="48CAE4"/>
                          </a:solidFill>
                          <a:latin typeface="Calibri" pitchFamily="34" charset="0"/>
                          <a:ea typeface="Calibri" pitchFamily="34" charset="-122"/>
                          <a:cs typeface="Calibri" pitchFamily="34" charset="-120"/>
                        </a:rPr>
                        <a:t>Sound KY-037</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a:solidFill>
                            <a:srgbClr val="F77F00"/>
                          </a:solidFill>
                          <a:latin typeface="Calibri" pitchFamily="34" charset="0"/>
                          <a:ea typeface="Calibri" pitchFamily="34" charset="-122"/>
                          <a:cs typeface="Calibri" pitchFamily="34" charset="-120"/>
                        </a:rPr>
                        <a:t>Sound</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950">
                          <a:solidFill>
                            <a:srgbClr val="7A90A8"/>
                          </a:solidFill>
                          <a:latin typeface="Calibri" pitchFamily="34" charset="0"/>
                          <a:ea typeface="Calibri" pitchFamily="34" charset="-122"/>
                          <a:cs typeface="Calibri" pitchFamily="34" charset="-120"/>
                        </a:rPr>
                        <a:t>Microphone converts pressure waves to voltage; comparator outputs digital HIGH</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950">
                          <a:solidFill>
                            <a:srgbClr val="E2E8F0"/>
                          </a:solidFill>
                          <a:latin typeface="Calibri" pitchFamily="34" charset="0"/>
                          <a:ea typeface="Calibri" pitchFamily="34" charset="-122"/>
                          <a:cs typeface="Calibri" pitchFamily="34" charset="-120"/>
                        </a:rPr>
                        <a:t>Clap detection, noise monitoring, voice</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6"/>
                  </a:ext>
                </a:extLst>
              </a:tr>
              <a:tr h="356616">
                <a:tc>
                  <a:txBody>
                    <a:bodyPr/>
                    <a:lstStyle/>
                    <a:p>
                      <a:pPr marL="0" indent="0" algn="ctr">
                        <a:buNone/>
                      </a:pPr>
                      <a:r>
                        <a:rPr lang="en-US" sz="1400">
                          <a:solidFill>
                            <a:srgbClr val="000000"/>
                          </a:solidFill>
                        </a:rPr>
                        <a:t>🔴</a:t>
                      </a:r>
                      <a:endParaRPr lang="en-US" sz="1400" dirty="0"/>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b="1">
                          <a:solidFill>
                            <a:srgbClr val="48CAE4"/>
                          </a:solidFill>
                          <a:latin typeface="Calibri" pitchFamily="34" charset="0"/>
                          <a:ea typeface="Calibri" pitchFamily="34" charset="-122"/>
                          <a:cs typeface="Calibri" pitchFamily="34" charset="-120"/>
                        </a:rPr>
                        <a:t>IR FC-51</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a:solidFill>
                            <a:srgbClr val="F77F00"/>
                          </a:solidFill>
                          <a:latin typeface="Calibri" pitchFamily="34" charset="0"/>
                          <a:ea typeface="Calibri" pitchFamily="34" charset="-122"/>
                          <a:cs typeface="Calibri" pitchFamily="34" charset="-120"/>
                        </a:rPr>
                        <a:t>Infrared</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950">
                          <a:solidFill>
                            <a:srgbClr val="7A90A8"/>
                          </a:solidFill>
                          <a:latin typeface="Calibri" pitchFamily="34" charset="0"/>
                          <a:ea typeface="Calibri" pitchFamily="34" charset="-122"/>
                          <a:cs typeface="Calibri" pitchFamily="34" charset="-120"/>
                        </a:rPr>
                        <a:t>IR LED emits light; phototransistor detects reflection for proximity/line following</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950">
                          <a:solidFill>
                            <a:srgbClr val="E2E8F0"/>
                          </a:solidFill>
                          <a:latin typeface="Calibri" pitchFamily="34" charset="0"/>
                          <a:ea typeface="Calibri" pitchFamily="34" charset="-122"/>
                          <a:cs typeface="Calibri" pitchFamily="34" charset="-120"/>
                        </a:rPr>
                        <a:t>Line following robots, remote control decode</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7"/>
                  </a:ext>
                </a:extLst>
              </a:tr>
              <a:tr h="356616">
                <a:tc>
                  <a:txBody>
                    <a:bodyPr/>
                    <a:lstStyle/>
                    <a:p>
                      <a:pPr marL="0" indent="0" algn="ctr">
                        <a:buNone/>
                      </a:pPr>
                      <a:r>
                        <a:rPr lang="en-US" sz="1400">
                          <a:solidFill>
                            <a:srgbClr val="000000"/>
                          </a:solidFill>
                        </a:rPr>
                        <a:t>💧</a:t>
                      </a:r>
                      <a:endParaRPr lang="en-US" sz="1400" dirty="0"/>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b="1">
                          <a:solidFill>
                            <a:srgbClr val="48CAE4"/>
                          </a:solidFill>
                          <a:latin typeface="Calibri" pitchFamily="34" charset="0"/>
                          <a:ea typeface="Calibri" pitchFamily="34" charset="-122"/>
                          <a:cs typeface="Calibri" pitchFamily="34" charset="-120"/>
                        </a:rPr>
                        <a:t>Soil Moisture</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a:solidFill>
                            <a:srgbClr val="F77F00"/>
                          </a:solidFill>
                          <a:latin typeface="Calibri" pitchFamily="34" charset="0"/>
                          <a:ea typeface="Calibri" pitchFamily="34" charset="-122"/>
                          <a:cs typeface="Calibri" pitchFamily="34" charset="-120"/>
                        </a:rPr>
                        <a:t>Soil Water</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950">
                          <a:solidFill>
                            <a:srgbClr val="7A90A8"/>
                          </a:solidFill>
                          <a:latin typeface="Calibri" pitchFamily="34" charset="0"/>
                          <a:ea typeface="Calibri" pitchFamily="34" charset="-122"/>
                          <a:cs typeface="Calibri" pitchFamily="34" charset="-120"/>
                        </a:rPr>
                        <a:t>Capacitive/resistive sensor measures soil water content as analog voltage</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950">
                          <a:solidFill>
                            <a:srgbClr val="E2E8F0"/>
                          </a:solidFill>
                          <a:latin typeface="Calibri" pitchFamily="34" charset="0"/>
                          <a:ea typeface="Calibri" pitchFamily="34" charset="-122"/>
                          <a:cs typeface="Calibri" pitchFamily="34" charset="-120"/>
                        </a:rPr>
                        <a:t>Smart irrigation, plant monitoring, agri-IoT</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08"/>
                  </a:ext>
                </a:extLst>
              </a:tr>
              <a:tr h="326136">
                <a:tc>
                  <a:txBody>
                    <a:bodyPr/>
                    <a:lstStyle/>
                    <a:p>
                      <a:pPr marL="0" indent="0" algn="ctr">
                        <a:buNone/>
                      </a:pPr>
                      <a:r>
                        <a:rPr lang="en-US" sz="1400">
                          <a:solidFill>
                            <a:srgbClr val="000000"/>
                          </a:solidFill>
                        </a:rPr>
                        <a:t>📊</a:t>
                      </a:r>
                      <a:endParaRPr lang="en-US" sz="1400" dirty="0"/>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b="1">
                          <a:solidFill>
                            <a:srgbClr val="48CAE4"/>
                          </a:solidFill>
                          <a:latin typeface="Calibri" pitchFamily="34" charset="0"/>
                          <a:ea typeface="Calibri" pitchFamily="34" charset="-122"/>
                          <a:cs typeface="Calibri" pitchFamily="34" charset="-120"/>
                        </a:rPr>
                        <a:t>Potentiometer</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1050">
                          <a:solidFill>
                            <a:srgbClr val="F77F00"/>
                          </a:solidFill>
                          <a:latin typeface="Calibri" pitchFamily="34" charset="0"/>
                          <a:ea typeface="Calibri" pitchFamily="34" charset="-122"/>
                          <a:cs typeface="Calibri" pitchFamily="34" charset="-120"/>
                        </a:rPr>
                        <a:t>Rotary Input</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950">
                          <a:solidFill>
                            <a:srgbClr val="7A90A8"/>
                          </a:solidFill>
                          <a:latin typeface="Calibri" pitchFamily="34" charset="0"/>
                          <a:ea typeface="Calibri" pitchFamily="34" charset="-122"/>
                          <a:cs typeface="Calibri" pitchFamily="34" charset="-120"/>
                        </a:rPr>
                        <a:t>Variable resistor; analog voltage proportional to rotational position</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tc>
                  <a:txBody>
                    <a:bodyPr/>
                    <a:lstStyle/>
                    <a:p>
                      <a:pPr marL="0" indent="0">
                        <a:buNone/>
                      </a:pPr>
                      <a:r>
                        <a:rPr lang="en-US" sz="950">
                          <a:solidFill>
                            <a:srgbClr val="E2E8F0"/>
                          </a:solidFill>
                          <a:latin typeface="Calibri" pitchFamily="34" charset="0"/>
                          <a:ea typeface="Calibri" pitchFamily="34" charset="-122"/>
                          <a:cs typeface="Calibri" pitchFamily="34" charset="-120"/>
                        </a:rPr>
                        <a:t>Volume control, angle sensing, user input</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9"/>
                  </a:ext>
                </a:extLst>
              </a:tr>
              <a:tr h="201694">
                <a:tc>
                  <a:txBody>
                    <a:bodyPr/>
                    <a:lstStyle/>
                    <a:p>
                      <a:pPr marL="0" indent="0" algn="ctr">
                        <a:buNone/>
                      </a:pPr>
                      <a:r>
                        <a:rPr lang="en-US" sz="1400">
                          <a:solidFill>
                            <a:srgbClr val="000000"/>
                          </a:solidFill>
                        </a:rPr>
                        <a:t>⌨️</a:t>
                      </a:r>
                      <a:endParaRPr lang="en-US" sz="1400" dirty="0"/>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b="1">
                          <a:solidFill>
                            <a:srgbClr val="48CAE4"/>
                          </a:solidFill>
                          <a:latin typeface="Calibri" pitchFamily="34" charset="0"/>
                          <a:ea typeface="Calibri" pitchFamily="34" charset="-122"/>
                          <a:cs typeface="Calibri" pitchFamily="34" charset="-120"/>
                        </a:rPr>
                        <a:t>4×4 Keypad</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1050">
                          <a:solidFill>
                            <a:srgbClr val="F77F00"/>
                          </a:solidFill>
                          <a:latin typeface="Calibri" pitchFamily="34" charset="0"/>
                          <a:ea typeface="Calibri" pitchFamily="34" charset="-122"/>
                          <a:cs typeface="Calibri" pitchFamily="34" charset="-120"/>
                        </a:rPr>
                        <a:t>User Input</a:t>
                      </a:r>
                      <a:endParaRPr lang="en-US" sz="10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950">
                          <a:solidFill>
                            <a:srgbClr val="7A90A8"/>
                          </a:solidFill>
                          <a:latin typeface="Calibri" pitchFamily="34" charset="0"/>
                          <a:ea typeface="Calibri" pitchFamily="34" charset="-122"/>
                          <a:cs typeface="Calibri" pitchFamily="34" charset="-120"/>
                        </a:rPr>
                        <a:t>Matrix of 16 buttons; MCU scans rows/columns to detect key press</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tc>
                  <a:txBody>
                    <a:bodyPr/>
                    <a:lstStyle/>
                    <a:p>
                      <a:pPr marL="0" indent="0">
                        <a:buNone/>
                      </a:pPr>
                      <a:r>
                        <a:rPr lang="en-US" sz="950" dirty="0">
                          <a:solidFill>
                            <a:srgbClr val="E2E8F0"/>
                          </a:solidFill>
                          <a:latin typeface="Calibri" pitchFamily="34" charset="0"/>
                          <a:ea typeface="Calibri" pitchFamily="34" charset="-122"/>
                          <a:cs typeface="Calibri" pitchFamily="34" charset="-120"/>
                        </a:rPr>
                        <a:t>PIN entry, menu navigation, password systems</a:t>
                      </a:r>
                      <a:endParaRPr lang="en-US" sz="950" dirty="0">
                        <a:latin typeface="Calibri" charset="0"/>
                        <a:ea typeface="Calibri" charset="0"/>
                        <a:cs typeface="Calibri" charset="0"/>
                      </a:endParaRPr>
                    </a:p>
                  </a:txBody>
                  <a:tcPr>
                    <a:lnL w="5080" cap="flat" cmpd="sng" algn="ctr">
                      <a:solidFill>
                        <a:srgbClr val="3A5070"/>
                      </a:solidFill>
                      <a:prstDash val="solid"/>
                      <a:round/>
                      <a:headEnd type="none" w="med" len="med"/>
                      <a:tailEnd type="none" w="med" len="med"/>
                    </a:lnL>
                    <a:lnR w="5080" cap="flat" cmpd="sng" algn="ctr">
                      <a:solidFill>
                        <a:srgbClr val="3A5070"/>
                      </a:solidFill>
                      <a:prstDash val="solid"/>
                      <a:round/>
                      <a:headEnd type="none" w="med" len="med"/>
                      <a:tailEnd type="none" w="med" len="med"/>
                    </a:lnR>
                    <a:lnT w="5080" cap="flat" cmpd="sng" algn="ctr">
                      <a:solidFill>
                        <a:srgbClr val="3A5070"/>
                      </a:solidFill>
                      <a:prstDash val="solid"/>
                      <a:round/>
                      <a:headEnd type="none" w="med" len="med"/>
                      <a:tailEnd type="none" w="med" len="med"/>
                    </a:lnT>
                    <a:lnB w="5080" cap="flat" cmpd="sng" algn="ctr">
                      <a:solidFill>
                        <a:srgbClr val="3A5070"/>
                      </a:solidFill>
                      <a:prstDash val="solid"/>
                      <a:round/>
                      <a:headEnd type="none" w="med" len="med"/>
                      <a:tailEnd type="none" w="med" len="med"/>
                    </a:lnB>
                    <a:solidFill>
                      <a:srgbClr val="192840"/>
                    </a:solidFill>
                  </a:tcPr>
                </a:tc>
                <a:extLst>
                  <a:ext uri="{0D108BD9-81ED-4DB2-BD59-A6C34878D82A}">
                    <a16:rowId xmlns:a16="http://schemas.microsoft.com/office/drawing/2014/main" val="10010"/>
                  </a:ext>
                </a:extLst>
              </a:tr>
            </a:tbl>
          </a:graphicData>
        </a:graphic>
      </p:graphicFrame>
      <p:sp>
        <p:nvSpPr>
          <p:cNvPr id="7" name="Shape 4"/>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Different Types of Sensors</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Visual overview of sensor modules</a:t>
            </a:r>
            <a:endParaRPr lang="en-US" sz="1100" dirty="0"/>
          </a:p>
        </p:txBody>
      </p:sp>
      <p:pic>
        <p:nvPicPr>
          <p:cNvPr id="6" name="Image 0"/>
          <p:cNvPicPr>
            <a:picLocks noChangeAspect="1"/>
          </p:cNvPicPr>
          <p:nvPr/>
        </p:nvPicPr>
        <p:blipFill>
          <a:blip r:embed="rId3"/>
          <a:srcRect/>
          <a:stretch/>
        </p:blipFill>
        <p:spPr>
          <a:xfrm>
            <a:off x="2091687" y="1024128"/>
            <a:ext cx="4960626" cy="3913632"/>
          </a:xfrm>
          <a:prstGeom prst="rect">
            <a:avLst/>
          </a:prstGeom>
        </p:spPr>
      </p:pic>
      <p:sp>
        <p:nvSpPr>
          <p:cNvPr id="7" name="Shape 4"/>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Actuator Structure</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Motor · Gearbox · Lead Screw · Thrust Bearing · Extension Tube</a:t>
            </a:r>
            <a:endParaRPr lang="en-US" sz="1100" dirty="0"/>
          </a:p>
        </p:txBody>
      </p:sp>
      <p:pic>
        <p:nvPicPr>
          <p:cNvPr id="6" name="Image 0"/>
          <p:cNvPicPr>
            <a:picLocks noChangeAspect="1"/>
          </p:cNvPicPr>
          <p:nvPr/>
        </p:nvPicPr>
        <p:blipFill>
          <a:blip r:embed="rId3"/>
          <a:srcRect/>
          <a:stretch/>
        </p:blipFill>
        <p:spPr>
          <a:xfrm>
            <a:off x="1967463" y="1097609"/>
            <a:ext cx="5209072" cy="2841312"/>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2596434394"/>
              </p:ext>
            </p:extLst>
          </p:nvPr>
        </p:nvGraphicFramePr>
        <p:xfrm>
          <a:off x="274320" y="4161282"/>
          <a:ext cx="8595360" cy="647700"/>
        </p:xfrm>
        <a:graphic>
          <a:graphicData uri="http://schemas.openxmlformats.org/drawingml/2006/table">
            <a:tbl>
              <a:tblPr/>
              <a:tblGrid>
                <a:gridCol w="1719072">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1719072">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tblGrid>
              <a:tr h="251460">
                <a:tc>
                  <a:txBody>
                    <a:bodyPr/>
                    <a:lstStyle/>
                    <a:p>
                      <a:pPr marL="0" indent="0" algn="ctr">
                        <a:buNone/>
                      </a:pPr>
                      <a:r>
                        <a:rPr lang="en-US" sz="1050" b="1" dirty="0">
                          <a:solidFill>
                            <a:srgbClr val="48CAE4"/>
                          </a:solidFill>
                          <a:latin typeface="Calibri" pitchFamily="34" charset="0"/>
                          <a:ea typeface="Calibri" pitchFamily="34" charset="-122"/>
                          <a:cs typeface="Calibri" pitchFamily="34" charset="-120"/>
                        </a:rPr>
                        <a:t>Motor</a:t>
                      </a:r>
                      <a:endParaRPr lang="en-US" sz="1050" dirty="0">
                        <a:latin typeface="Calibri" charset="0"/>
                        <a:ea typeface="Calibri" charset="0"/>
                        <a:cs typeface="Calibri" charset="0"/>
                      </a:endParaRPr>
                    </a:p>
                  </a:txBody>
                  <a:tcP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42030"/>
                    </a:solidFill>
                  </a:tcPr>
                </a:tc>
                <a:tc>
                  <a:txBody>
                    <a:bodyPr/>
                    <a:lstStyle/>
                    <a:p>
                      <a:pPr marL="0" indent="0" algn="ctr">
                        <a:buNone/>
                      </a:pPr>
                      <a:r>
                        <a:rPr lang="en-US" sz="1050" b="1" dirty="0">
                          <a:solidFill>
                            <a:srgbClr val="48CAE4"/>
                          </a:solidFill>
                          <a:latin typeface="Calibri" pitchFamily="34" charset="0"/>
                          <a:ea typeface="Calibri" pitchFamily="34" charset="-122"/>
                          <a:cs typeface="Calibri" pitchFamily="34" charset="-120"/>
                        </a:rPr>
                        <a:t>Gearbox</a:t>
                      </a:r>
                      <a:endParaRPr lang="en-US" sz="1050" dirty="0">
                        <a:latin typeface="Calibri" charset="0"/>
                        <a:ea typeface="Calibri" charset="0"/>
                        <a:cs typeface="Calibri" charset="0"/>
                      </a:endParaRPr>
                    </a:p>
                  </a:txBody>
                  <a:tcP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92840"/>
                    </a:solidFill>
                  </a:tcPr>
                </a:tc>
                <a:tc>
                  <a:txBody>
                    <a:bodyPr/>
                    <a:lstStyle/>
                    <a:p>
                      <a:pPr marL="0" indent="0" algn="ctr">
                        <a:buNone/>
                      </a:pPr>
                      <a:r>
                        <a:rPr lang="en-US" sz="1050" b="1" dirty="0">
                          <a:solidFill>
                            <a:srgbClr val="48CAE4"/>
                          </a:solidFill>
                          <a:latin typeface="Calibri" pitchFamily="34" charset="0"/>
                          <a:ea typeface="Calibri" pitchFamily="34" charset="-122"/>
                          <a:cs typeface="Calibri" pitchFamily="34" charset="-120"/>
                        </a:rPr>
                        <a:t>Lead Screw</a:t>
                      </a:r>
                      <a:endParaRPr lang="en-US" sz="1050" dirty="0">
                        <a:latin typeface="Calibri" charset="0"/>
                        <a:ea typeface="Calibri" charset="0"/>
                        <a:cs typeface="Calibri" charset="0"/>
                      </a:endParaRPr>
                    </a:p>
                  </a:txBody>
                  <a:tcP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42030"/>
                    </a:solidFill>
                  </a:tcPr>
                </a:tc>
                <a:tc>
                  <a:txBody>
                    <a:bodyPr/>
                    <a:lstStyle/>
                    <a:p>
                      <a:pPr marL="0" indent="0" algn="ctr">
                        <a:buNone/>
                      </a:pPr>
                      <a:r>
                        <a:rPr lang="en-US" sz="1050" b="1" dirty="0">
                          <a:solidFill>
                            <a:srgbClr val="48CAE4"/>
                          </a:solidFill>
                          <a:latin typeface="Calibri" pitchFamily="34" charset="0"/>
                          <a:ea typeface="Calibri" pitchFamily="34" charset="-122"/>
                          <a:cs typeface="Calibri" pitchFamily="34" charset="-120"/>
                        </a:rPr>
                        <a:t>Thrust Bearing</a:t>
                      </a:r>
                      <a:endParaRPr lang="en-US" sz="1050" dirty="0">
                        <a:latin typeface="Calibri" charset="0"/>
                        <a:ea typeface="Calibri" charset="0"/>
                        <a:cs typeface="Calibri" charset="0"/>
                      </a:endParaRPr>
                    </a:p>
                  </a:txBody>
                  <a:tcP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92840"/>
                    </a:solidFill>
                  </a:tcPr>
                </a:tc>
                <a:tc>
                  <a:txBody>
                    <a:bodyPr/>
                    <a:lstStyle/>
                    <a:p>
                      <a:pPr marL="0" indent="0" algn="ctr">
                        <a:buNone/>
                      </a:pPr>
                      <a:r>
                        <a:rPr lang="en-US" sz="1050" b="1" dirty="0">
                          <a:solidFill>
                            <a:srgbClr val="48CAE4"/>
                          </a:solidFill>
                          <a:latin typeface="Calibri" pitchFamily="34" charset="0"/>
                          <a:ea typeface="Calibri" pitchFamily="34" charset="-122"/>
                          <a:cs typeface="Calibri" pitchFamily="34" charset="-120"/>
                        </a:rPr>
                        <a:t>Extension Tube</a:t>
                      </a:r>
                      <a:endParaRPr lang="en-US" sz="1050" dirty="0">
                        <a:latin typeface="Calibri" charset="0"/>
                        <a:ea typeface="Calibri" charset="0"/>
                        <a:cs typeface="Calibri" charset="0"/>
                      </a:endParaRPr>
                    </a:p>
                  </a:txBody>
                  <a:tcP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0"/>
                  </a:ext>
                </a:extLst>
              </a:tr>
              <a:tr h="251460">
                <a:tc>
                  <a:txBody>
                    <a:bodyPr/>
                    <a:lstStyle/>
                    <a:p>
                      <a:pPr marL="0" indent="0" algn="ctr">
                        <a:buNone/>
                      </a:pPr>
                      <a:r>
                        <a:rPr lang="en-US" sz="1000" dirty="0">
                          <a:solidFill>
                            <a:srgbClr val="7A90A8"/>
                          </a:solidFill>
                          <a:latin typeface="Calibri" pitchFamily="34" charset="0"/>
                          <a:ea typeface="Calibri" pitchFamily="34" charset="-122"/>
                          <a:cs typeface="Calibri" pitchFamily="34" charset="-120"/>
                        </a:rPr>
                        <a:t>Converts electrical energy to rotational motion</a:t>
                      </a:r>
                      <a:endParaRPr lang="en-US" sz="1000" dirty="0">
                        <a:latin typeface="Calibri" charset="0"/>
                        <a:ea typeface="Calibri" charset="0"/>
                        <a:cs typeface="Calibri" charset="0"/>
                      </a:endParaRPr>
                    </a:p>
                  </a:txBody>
                  <a:tcP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42030"/>
                    </a:solidFill>
                  </a:tcPr>
                </a:tc>
                <a:tc>
                  <a:txBody>
                    <a:bodyPr/>
                    <a:lstStyle/>
                    <a:p>
                      <a:pPr marL="0" indent="0" algn="ctr">
                        <a:buNone/>
                      </a:pPr>
                      <a:r>
                        <a:rPr lang="en-US" sz="1000" dirty="0">
                          <a:solidFill>
                            <a:srgbClr val="7A90A8"/>
                          </a:solidFill>
                          <a:latin typeface="Calibri" pitchFamily="34" charset="0"/>
                          <a:ea typeface="Calibri" pitchFamily="34" charset="-122"/>
                          <a:cs typeface="Calibri" pitchFamily="34" charset="-120"/>
                        </a:rPr>
                        <a:t>Reduces speed, increases torque</a:t>
                      </a:r>
                      <a:endParaRPr lang="en-US" sz="1000" dirty="0">
                        <a:latin typeface="Calibri" charset="0"/>
                        <a:ea typeface="Calibri" charset="0"/>
                        <a:cs typeface="Calibri" charset="0"/>
                      </a:endParaRPr>
                    </a:p>
                  </a:txBody>
                  <a:tcP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92840"/>
                    </a:solidFill>
                  </a:tcPr>
                </a:tc>
                <a:tc>
                  <a:txBody>
                    <a:bodyPr/>
                    <a:lstStyle/>
                    <a:p>
                      <a:pPr marL="0" indent="0" algn="ctr">
                        <a:buNone/>
                      </a:pPr>
                      <a:r>
                        <a:rPr lang="en-US" sz="1000" dirty="0">
                          <a:solidFill>
                            <a:srgbClr val="7A90A8"/>
                          </a:solidFill>
                          <a:latin typeface="Calibri" pitchFamily="34" charset="0"/>
                          <a:ea typeface="Calibri" pitchFamily="34" charset="-122"/>
                          <a:cs typeface="Calibri" pitchFamily="34" charset="-120"/>
                        </a:rPr>
                        <a:t>Converts rotation to linear motion</a:t>
                      </a:r>
                      <a:endParaRPr lang="en-US" sz="1000" dirty="0">
                        <a:latin typeface="Calibri" charset="0"/>
                        <a:ea typeface="Calibri" charset="0"/>
                        <a:cs typeface="Calibri" charset="0"/>
                      </a:endParaRPr>
                    </a:p>
                  </a:txBody>
                  <a:tcP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42030"/>
                    </a:solidFill>
                  </a:tcPr>
                </a:tc>
                <a:tc>
                  <a:txBody>
                    <a:bodyPr/>
                    <a:lstStyle/>
                    <a:p>
                      <a:pPr marL="0" indent="0" algn="ctr">
                        <a:buNone/>
                      </a:pPr>
                      <a:r>
                        <a:rPr lang="en-US" sz="1000" dirty="0">
                          <a:solidFill>
                            <a:srgbClr val="7A90A8"/>
                          </a:solidFill>
                          <a:latin typeface="Calibri" pitchFamily="34" charset="0"/>
                          <a:ea typeface="Calibri" pitchFamily="34" charset="-122"/>
                          <a:cs typeface="Calibri" pitchFamily="34" charset="-120"/>
                        </a:rPr>
                        <a:t>Absorbs axial loads during extension</a:t>
                      </a:r>
                      <a:endParaRPr lang="en-US" sz="1000" dirty="0">
                        <a:latin typeface="Calibri" charset="0"/>
                        <a:ea typeface="Calibri" charset="0"/>
                        <a:cs typeface="Calibri" charset="0"/>
                      </a:endParaRPr>
                    </a:p>
                  </a:txBody>
                  <a:tcP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92840"/>
                    </a:solidFill>
                  </a:tcPr>
                </a:tc>
                <a:tc>
                  <a:txBody>
                    <a:bodyPr/>
                    <a:lstStyle/>
                    <a:p>
                      <a:pPr marL="0" indent="0" algn="ctr">
                        <a:buNone/>
                      </a:pPr>
                      <a:r>
                        <a:rPr lang="en-US" sz="1000" dirty="0">
                          <a:solidFill>
                            <a:srgbClr val="7A90A8"/>
                          </a:solidFill>
                          <a:latin typeface="Calibri" pitchFamily="34" charset="0"/>
                          <a:ea typeface="Calibri" pitchFamily="34" charset="-122"/>
                          <a:cs typeface="Calibri" pitchFamily="34" charset="-120"/>
                        </a:rPr>
                        <a:t>Translates along axis as output stroke</a:t>
                      </a:r>
                      <a:endParaRPr lang="en-US" sz="1000" dirty="0">
                        <a:latin typeface="Calibri" charset="0"/>
                        <a:ea typeface="Calibri" charset="0"/>
                        <a:cs typeface="Calibri" charset="0"/>
                      </a:endParaRPr>
                    </a:p>
                  </a:txBody>
                  <a:tcP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42030"/>
                    </a:solidFill>
                  </a:tcPr>
                </a:tc>
                <a:extLst>
                  <a:ext uri="{0D108BD9-81ED-4DB2-BD59-A6C34878D82A}">
                    <a16:rowId xmlns:a16="http://schemas.microsoft.com/office/drawing/2014/main" val="10001"/>
                  </a:ext>
                </a:extLst>
              </a:tr>
            </a:tbl>
          </a:graphicData>
        </a:graphic>
      </p:graphicFrame>
      <p:sp>
        <p:nvSpPr>
          <p:cNvPr id="8" name="Shape 4"/>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txBody>
          <a:bodyPr/>
          <a:lstStyle/>
          <a:p>
            <a:endParaRPr lang="en-US" dirty="0"/>
          </a:p>
        </p:txBody>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146304"/>
            <a:ext cx="8336039"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Real-Life System Example</a:t>
            </a:r>
            <a:endParaRPr lang="en-US" sz="2800" dirty="0"/>
          </a:p>
        </p:txBody>
      </p:sp>
      <p:sp>
        <p:nvSpPr>
          <p:cNvPr id="6" name="Text 4"/>
          <p:cNvSpPr/>
          <p:nvPr/>
        </p:nvSpPr>
        <p:spPr>
          <a:xfrm>
            <a:off x="365760" y="1097280"/>
            <a:ext cx="8412480" cy="594360"/>
          </a:xfrm>
          <a:prstGeom prst="rect">
            <a:avLst/>
          </a:prstGeom>
          <a:noFill/>
          <a:ln/>
        </p:spPr>
        <p:txBody>
          <a:bodyPr wrap="square" rtlCol="0" anchor="ctr"/>
          <a:lstStyle/>
          <a:p>
            <a:pPr marL="0" indent="0" algn="ctr">
              <a:buNone/>
            </a:pPr>
            <a:r>
              <a:rPr lang="en-US" sz="1350" i="1" dirty="0">
                <a:solidFill>
                  <a:srgbClr val="7A90A8"/>
                </a:solidFill>
                <a:latin typeface="Calibri" pitchFamily="34" charset="0"/>
                <a:ea typeface="Calibri" pitchFamily="34" charset="-122"/>
                <a:cs typeface="Calibri" pitchFamily="34" charset="-120"/>
              </a:rPr>
              <a:t>Two integrated projects demonstrating microcontrollers, sensors, actuators,</a:t>
            </a:r>
            <a:endParaRPr lang="en-US" sz="1350" dirty="0"/>
          </a:p>
          <a:p>
            <a:pPr marL="0" indent="0" algn="ctr">
              <a:buNone/>
            </a:pPr>
            <a:r>
              <a:rPr lang="en-US" sz="1350" i="1" dirty="0">
                <a:solidFill>
                  <a:srgbClr val="7A90A8"/>
                </a:solidFill>
                <a:latin typeface="Calibri" pitchFamily="34" charset="0"/>
                <a:ea typeface="Calibri" pitchFamily="34" charset="-122"/>
                <a:cs typeface="Calibri" pitchFamily="34" charset="-120"/>
              </a:rPr>
              <a:t>user input, control logic, data logging, and real-world problem solving.</a:t>
            </a:r>
            <a:endParaRPr lang="en-US" sz="1350" dirty="0"/>
          </a:p>
        </p:txBody>
      </p:sp>
      <p:sp>
        <p:nvSpPr>
          <p:cNvPr id="7" name="Shape 5"/>
          <p:cNvSpPr/>
          <p:nvPr/>
        </p:nvSpPr>
        <p:spPr>
          <a:xfrm>
            <a:off x="754544" y="1865376"/>
            <a:ext cx="3306971" cy="2812046"/>
          </a:xfrm>
          <a:prstGeom prst="rect">
            <a:avLst/>
          </a:prstGeom>
          <a:solidFill>
            <a:srgbClr val="142030"/>
          </a:solidFill>
          <a:ln w="12700">
            <a:solidFill>
              <a:srgbClr val="00B4D8"/>
            </a:solidFill>
            <a:prstDash val="solid"/>
          </a:ln>
        </p:spPr>
      </p:sp>
      <p:sp>
        <p:nvSpPr>
          <p:cNvPr id="8" name="Shape 6"/>
          <p:cNvSpPr/>
          <p:nvPr/>
        </p:nvSpPr>
        <p:spPr>
          <a:xfrm>
            <a:off x="754545" y="1881164"/>
            <a:ext cx="3297760" cy="329184"/>
          </a:xfrm>
          <a:prstGeom prst="rect">
            <a:avLst/>
          </a:prstGeom>
          <a:solidFill>
            <a:srgbClr val="00B4D8"/>
          </a:solidFill>
          <a:ln w="12700">
            <a:solidFill>
              <a:srgbClr val="00B4D8"/>
            </a:solidFill>
            <a:prstDash val="solid"/>
          </a:ln>
        </p:spPr>
      </p:sp>
      <p:sp>
        <p:nvSpPr>
          <p:cNvPr id="9" name="Text 7"/>
          <p:cNvSpPr/>
          <p:nvPr/>
        </p:nvSpPr>
        <p:spPr>
          <a:xfrm>
            <a:off x="320040" y="1865376"/>
            <a:ext cx="4069080" cy="310896"/>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 Advance Traffic Light System</a:t>
            </a:r>
            <a:endParaRPr lang="en-US" sz="1250" dirty="0"/>
          </a:p>
        </p:txBody>
      </p:sp>
      <p:pic>
        <p:nvPicPr>
          <p:cNvPr id="10" name="Image 0"/>
          <p:cNvPicPr>
            <a:picLocks noChangeAspect="1"/>
          </p:cNvPicPr>
          <p:nvPr/>
        </p:nvPicPr>
        <p:blipFill>
          <a:blip r:embed="rId3"/>
          <a:srcRect l="4764" t="27285" r="50934" b="20223"/>
          <a:stretch>
            <a:fillRect/>
          </a:stretch>
        </p:blipFill>
        <p:spPr>
          <a:xfrm>
            <a:off x="754545" y="2210348"/>
            <a:ext cx="3297760" cy="2467074"/>
          </a:xfrm>
          <a:prstGeom prst="rect">
            <a:avLst/>
          </a:prstGeom>
        </p:spPr>
      </p:pic>
      <p:sp>
        <p:nvSpPr>
          <p:cNvPr id="11" name="Shape 8"/>
          <p:cNvSpPr/>
          <p:nvPr/>
        </p:nvSpPr>
        <p:spPr>
          <a:xfrm>
            <a:off x="4725277" y="1871380"/>
            <a:ext cx="4160520" cy="2806042"/>
          </a:xfrm>
          <a:prstGeom prst="rect">
            <a:avLst/>
          </a:prstGeom>
          <a:solidFill>
            <a:srgbClr val="142030"/>
          </a:solidFill>
          <a:ln w="12700">
            <a:solidFill>
              <a:srgbClr val="52B788"/>
            </a:solidFill>
            <a:prstDash val="solid"/>
          </a:ln>
        </p:spPr>
      </p:sp>
      <p:sp>
        <p:nvSpPr>
          <p:cNvPr id="12" name="Shape 9"/>
          <p:cNvSpPr/>
          <p:nvPr/>
        </p:nvSpPr>
        <p:spPr>
          <a:xfrm>
            <a:off x="4718370" y="1881164"/>
            <a:ext cx="4160520" cy="329184"/>
          </a:xfrm>
          <a:prstGeom prst="rect">
            <a:avLst/>
          </a:prstGeom>
          <a:solidFill>
            <a:srgbClr val="52B788"/>
          </a:solidFill>
          <a:ln w="12700">
            <a:solidFill>
              <a:srgbClr val="52B788"/>
            </a:solidFill>
            <a:prstDash val="solid"/>
          </a:ln>
        </p:spPr>
      </p:sp>
      <p:sp>
        <p:nvSpPr>
          <p:cNvPr id="13" name="Text 10"/>
          <p:cNvSpPr/>
          <p:nvPr/>
        </p:nvSpPr>
        <p:spPr>
          <a:xfrm>
            <a:off x="4770997" y="1865376"/>
            <a:ext cx="4069080" cy="329184"/>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 Smart Farm Automation</a:t>
            </a:r>
            <a:endParaRPr lang="en-US" sz="1250" dirty="0"/>
          </a:p>
        </p:txBody>
      </p:sp>
      <p:pic>
        <p:nvPicPr>
          <p:cNvPr id="14" name="Image 1"/>
          <p:cNvPicPr>
            <a:picLocks noChangeAspect="1"/>
          </p:cNvPicPr>
          <p:nvPr/>
        </p:nvPicPr>
        <p:blipFill>
          <a:blip r:embed="rId4"/>
          <a:srcRect l="6575" t="29961" r="30349" b="11743"/>
          <a:stretch>
            <a:fillRect/>
          </a:stretch>
        </p:blipFill>
        <p:spPr>
          <a:xfrm>
            <a:off x="4718370" y="2220133"/>
            <a:ext cx="4151310" cy="2457290"/>
          </a:xfrm>
          <a:prstGeom prst="rect">
            <a:avLst/>
          </a:prstGeom>
        </p:spPr>
      </p:pic>
      <p:sp>
        <p:nvSpPr>
          <p:cNvPr id="15" name="Shape 11"/>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Advance Traffic Light System and Smart Farm Automation</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Project Summaries &amp; Repository Links</a:t>
            </a:r>
            <a:endParaRPr lang="en-US" sz="1100" dirty="0"/>
          </a:p>
        </p:txBody>
      </p:sp>
      <p:sp>
        <p:nvSpPr>
          <p:cNvPr id="6" name="Shape 4"/>
          <p:cNvSpPr/>
          <p:nvPr/>
        </p:nvSpPr>
        <p:spPr>
          <a:xfrm>
            <a:off x="274320" y="1051560"/>
            <a:ext cx="4160520" cy="3794760"/>
          </a:xfrm>
          <a:prstGeom prst="rect">
            <a:avLst/>
          </a:prstGeom>
          <a:solidFill>
            <a:srgbClr val="142030"/>
          </a:solidFill>
          <a:ln w="12700">
            <a:solidFill>
              <a:srgbClr val="3A5070"/>
            </a:solidFill>
            <a:prstDash val="solid"/>
          </a:ln>
        </p:spPr>
      </p:sp>
      <p:sp>
        <p:nvSpPr>
          <p:cNvPr id="7" name="Shape 5"/>
          <p:cNvSpPr/>
          <p:nvPr/>
        </p:nvSpPr>
        <p:spPr>
          <a:xfrm>
            <a:off x="274320" y="1051560"/>
            <a:ext cx="182880" cy="3794760"/>
          </a:xfrm>
          <a:prstGeom prst="rect">
            <a:avLst/>
          </a:prstGeom>
          <a:solidFill>
            <a:srgbClr val="00B4D8"/>
          </a:solidFill>
          <a:ln w="12700">
            <a:solidFill>
              <a:srgbClr val="00B4D8"/>
            </a:solidFill>
            <a:prstDash val="solid"/>
          </a:ln>
        </p:spPr>
      </p:sp>
      <p:sp>
        <p:nvSpPr>
          <p:cNvPr id="8" name="Text 6"/>
          <p:cNvSpPr/>
          <p:nvPr/>
        </p:nvSpPr>
        <p:spPr>
          <a:xfrm>
            <a:off x="548640" y="1115568"/>
            <a:ext cx="37947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Advance Traffic Light System</a:t>
            </a:r>
            <a:endParaRPr lang="en-US" sz="1300" dirty="0"/>
          </a:p>
        </p:txBody>
      </p:sp>
      <p:sp>
        <p:nvSpPr>
          <p:cNvPr id="9" name="Text 7"/>
          <p:cNvSpPr/>
          <p:nvPr/>
        </p:nvSpPr>
        <p:spPr>
          <a:xfrm>
            <a:off x="548640" y="1481328"/>
            <a:ext cx="3794760" cy="2560320"/>
          </a:xfrm>
          <a:prstGeom prst="rect">
            <a:avLst/>
          </a:prstGeom>
          <a:noFill/>
          <a:ln/>
        </p:spPr>
        <p:txBody>
          <a:bodyPr wrap="square" rtlCol="0" anchor="ctr"/>
          <a:lstStyle/>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Arduino Uno as central controller</a:t>
            </a:r>
            <a:endParaRPr lang="en-US" sz="1150" dirty="0"/>
          </a:p>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4×4 Keypad for password-protected config</a:t>
            </a:r>
            <a:endParaRPr lang="en-US" sz="1150" dirty="0"/>
          </a:p>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16×2 LCD for status display</a:t>
            </a:r>
            <a:endParaRPr lang="en-US" sz="1150" dirty="0"/>
          </a:p>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RGB LED array for traffic signals</a:t>
            </a:r>
            <a:endParaRPr lang="en-US" sz="1150" dirty="0"/>
          </a:p>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Buzzer for pedestrian alert tones</a:t>
            </a:r>
            <a:endParaRPr lang="en-US" sz="1150" dirty="0"/>
          </a:p>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DIP switch for manual test mode</a:t>
            </a:r>
            <a:endParaRPr lang="en-US" sz="1150" dirty="0"/>
          </a:p>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Automatic traffic cycle with timers</a:t>
            </a:r>
            <a:endParaRPr lang="en-US" sz="1150" dirty="0"/>
          </a:p>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Password-protected configuration mode</a:t>
            </a:r>
            <a:endParaRPr lang="en-US" sz="1150" dirty="0"/>
          </a:p>
        </p:txBody>
      </p:sp>
      <p:sp>
        <p:nvSpPr>
          <p:cNvPr id="10" name="Text 8"/>
          <p:cNvSpPr/>
          <p:nvPr/>
        </p:nvSpPr>
        <p:spPr>
          <a:xfrm>
            <a:off x="548640" y="4114800"/>
            <a:ext cx="1371600" cy="256032"/>
          </a:xfrm>
          <a:prstGeom prst="rect">
            <a:avLst/>
          </a:prstGeom>
          <a:noFill/>
          <a:ln/>
        </p:spPr>
        <p:txBody>
          <a:bodyPr wrap="square" lIns="0" tIns="0" rIns="0" bIns="0" rtlCol="0" anchor="ctr"/>
          <a:lstStyle/>
          <a:p>
            <a:pPr marL="0" indent="0">
              <a:buNone/>
            </a:pPr>
            <a:r>
              <a:rPr lang="en-US" sz="1050" b="1" dirty="0">
                <a:solidFill>
                  <a:srgbClr val="48CAE4"/>
                </a:solidFill>
                <a:latin typeface="Calibri" pitchFamily="34" charset="0"/>
                <a:ea typeface="Calibri" pitchFamily="34" charset="-122"/>
                <a:cs typeface="Calibri" pitchFamily="34" charset="-120"/>
              </a:rPr>
              <a:t>GitHub Repository:</a:t>
            </a:r>
            <a:endParaRPr lang="en-US" sz="1050" dirty="0"/>
          </a:p>
        </p:txBody>
      </p:sp>
      <p:sp>
        <p:nvSpPr>
          <p:cNvPr id="11" name="Text 9">
            <a:hlinkClick r:id="rId3"/>
          </p:cNvPr>
          <p:cNvSpPr/>
          <p:nvPr/>
        </p:nvSpPr>
        <p:spPr>
          <a:xfrm>
            <a:off x="1965960" y="4114800"/>
            <a:ext cx="2286000" cy="256032"/>
          </a:xfrm>
          <a:prstGeom prst="rect">
            <a:avLst/>
          </a:prstGeom>
          <a:noFill/>
          <a:ln/>
        </p:spPr>
        <p:txBody>
          <a:bodyPr wrap="square" rtlCol="0" anchor="ctr"/>
          <a:lstStyle/>
          <a:p>
            <a:pPr marL="0" indent="0">
              <a:buNone/>
            </a:pPr>
            <a:r>
              <a:rPr lang="en-US" sz="1050" b="1" u="sng" dirty="0">
                <a:solidFill>
                  <a:srgbClr val="00B4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View on GitHub →</a:t>
            </a:r>
            <a:endParaRPr lang="en-US" sz="1050" dirty="0"/>
          </a:p>
        </p:txBody>
      </p:sp>
      <p:sp>
        <p:nvSpPr>
          <p:cNvPr id="12" name="Shape 10"/>
          <p:cNvSpPr/>
          <p:nvPr/>
        </p:nvSpPr>
        <p:spPr>
          <a:xfrm>
            <a:off x="4709160" y="1051560"/>
            <a:ext cx="4160520" cy="3794760"/>
          </a:xfrm>
          <a:prstGeom prst="rect">
            <a:avLst/>
          </a:prstGeom>
          <a:solidFill>
            <a:srgbClr val="142030"/>
          </a:solidFill>
          <a:ln w="12700">
            <a:solidFill>
              <a:srgbClr val="3A5070"/>
            </a:solidFill>
            <a:prstDash val="solid"/>
          </a:ln>
        </p:spPr>
      </p:sp>
      <p:sp>
        <p:nvSpPr>
          <p:cNvPr id="13" name="Shape 11"/>
          <p:cNvSpPr/>
          <p:nvPr/>
        </p:nvSpPr>
        <p:spPr>
          <a:xfrm>
            <a:off x="4709160" y="1051560"/>
            <a:ext cx="182880" cy="3794760"/>
          </a:xfrm>
          <a:prstGeom prst="rect">
            <a:avLst/>
          </a:prstGeom>
          <a:solidFill>
            <a:srgbClr val="52B788"/>
          </a:solidFill>
          <a:ln w="12700">
            <a:solidFill>
              <a:srgbClr val="52B788"/>
            </a:solidFill>
            <a:prstDash val="solid"/>
          </a:ln>
        </p:spPr>
      </p:sp>
      <p:sp>
        <p:nvSpPr>
          <p:cNvPr id="14" name="Text 12"/>
          <p:cNvSpPr/>
          <p:nvPr/>
        </p:nvSpPr>
        <p:spPr>
          <a:xfrm>
            <a:off x="4983480" y="1115568"/>
            <a:ext cx="37947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Smart Farm Automation</a:t>
            </a:r>
            <a:endParaRPr lang="en-US" sz="1300" dirty="0"/>
          </a:p>
        </p:txBody>
      </p:sp>
      <p:sp>
        <p:nvSpPr>
          <p:cNvPr id="15" name="Text 13"/>
          <p:cNvSpPr/>
          <p:nvPr/>
        </p:nvSpPr>
        <p:spPr>
          <a:xfrm>
            <a:off x="4983480" y="1481328"/>
            <a:ext cx="3794760" cy="2560320"/>
          </a:xfrm>
          <a:prstGeom prst="rect">
            <a:avLst/>
          </a:prstGeom>
          <a:noFill/>
          <a:ln/>
        </p:spPr>
        <p:txBody>
          <a:bodyPr wrap="square" rtlCol="0" anchor="ctr"/>
          <a:lstStyle/>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Arduino Uno as central controller</a:t>
            </a:r>
            <a:endParaRPr lang="en-US" sz="1150" dirty="0"/>
          </a:p>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Soil moisture sensor for irrigation control</a:t>
            </a:r>
            <a:endParaRPr lang="en-US" sz="1150" dirty="0"/>
          </a:p>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DHT11 for temperature &amp; humidity monitoring</a:t>
            </a:r>
            <a:endParaRPr lang="en-US" sz="1150" dirty="0"/>
          </a:p>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LDR for light intensity sensing</a:t>
            </a:r>
            <a:endParaRPr lang="en-US" sz="1150" dirty="0"/>
          </a:p>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PIR sensor for security &amp; intruder detection</a:t>
            </a:r>
            <a:endParaRPr lang="en-US" sz="1150" dirty="0"/>
          </a:p>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Speaker for audio alerts on events</a:t>
            </a:r>
            <a:endParaRPr lang="en-US" sz="1150" dirty="0"/>
          </a:p>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LCD display for live readings</a:t>
            </a:r>
            <a:endParaRPr lang="en-US" sz="1150" dirty="0"/>
          </a:p>
          <a:p>
            <a:pPr marL="342900" indent="-342900">
              <a:spcAft>
                <a:spcPts val="300"/>
              </a:spcAft>
              <a:buSzPct val="100000"/>
              <a:buChar char="•"/>
            </a:pPr>
            <a:r>
              <a:rPr lang="en-US" sz="1150" dirty="0">
                <a:solidFill>
                  <a:srgbClr val="E2E8F0"/>
                </a:solidFill>
                <a:latin typeface="Calibri" pitchFamily="34" charset="0"/>
                <a:ea typeface="Calibri" pitchFamily="34" charset="-122"/>
                <a:cs typeface="Calibri" pitchFamily="34" charset="-120"/>
              </a:rPr>
              <a:t>Data logging and recovery features</a:t>
            </a:r>
            <a:endParaRPr lang="en-US" sz="1150" dirty="0"/>
          </a:p>
        </p:txBody>
      </p:sp>
      <p:sp>
        <p:nvSpPr>
          <p:cNvPr id="16" name="Text 14"/>
          <p:cNvSpPr/>
          <p:nvPr/>
        </p:nvSpPr>
        <p:spPr>
          <a:xfrm>
            <a:off x="4983480" y="4114800"/>
            <a:ext cx="1371600" cy="256032"/>
          </a:xfrm>
          <a:prstGeom prst="rect">
            <a:avLst/>
          </a:prstGeom>
          <a:noFill/>
          <a:ln/>
        </p:spPr>
        <p:txBody>
          <a:bodyPr wrap="square" lIns="0" tIns="0" rIns="0" bIns="0" rtlCol="0" anchor="ctr"/>
          <a:lstStyle/>
          <a:p>
            <a:pPr marL="0" indent="0">
              <a:buNone/>
            </a:pPr>
            <a:r>
              <a:rPr lang="en-US" sz="1050" b="1" dirty="0">
                <a:solidFill>
                  <a:srgbClr val="7CD99A"/>
                </a:solidFill>
                <a:latin typeface="Calibri" pitchFamily="34" charset="0"/>
                <a:ea typeface="Calibri" pitchFamily="34" charset="-122"/>
                <a:cs typeface="Calibri" pitchFamily="34" charset="-120"/>
              </a:rPr>
              <a:t>GitHub Repository:</a:t>
            </a:r>
            <a:endParaRPr lang="en-US" sz="1050" dirty="0"/>
          </a:p>
        </p:txBody>
      </p:sp>
      <p:sp>
        <p:nvSpPr>
          <p:cNvPr id="17" name="Text 15">
            <a:hlinkClick r:id="rId4"/>
          </p:cNvPr>
          <p:cNvSpPr/>
          <p:nvPr/>
        </p:nvSpPr>
        <p:spPr>
          <a:xfrm>
            <a:off x="6400800" y="4114800"/>
            <a:ext cx="2286000" cy="256032"/>
          </a:xfrm>
          <a:prstGeom prst="rect">
            <a:avLst/>
          </a:prstGeom>
          <a:noFill/>
          <a:ln/>
        </p:spPr>
        <p:txBody>
          <a:bodyPr wrap="square" rtlCol="0" anchor="ctr"/>
          <a:lstStyle/>
          <a:p>
            <a:pPr marL="0" indent="0">
              <a:buNone/>
            </a:pPr>
            <a:r>
              <a:rPr lang="en-US" sz="1050" b="1" u="sng" dirty="0">
                <a:solidFill>
                  <a:srgbClr val="52B78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View on GitHub →</a:t>
            </a:r>
            <a:endParaRPr lang="en-US" sz="1050" dirty="0"/>
          </a:p>
        </p:txBody>
      </p:sp>
      <p:sp>
        <p:nvSpPr>
          <p:cNvPr id="18" name="Shape 16"/>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Advance Traffic Light System</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TinkerCAD circuit simulation screenshot</a:t>
            </a:r>
            <a:endParaRPr lang="en-US" sz="1100" dirty="0"/>
          </a:p>
        </p:txBody>
      </p:sp>
      <p:pic>
        <p:nvPicPr>
          <p:cNvPr id="6" name="Image 0"/>
          <p:cNvPicPr>
            <a:picLocks noChangeAspect="1"/>
          </p:cNvPicPr>
          <p:nvPr/>
        </p:nvPicPr>
        <p:blipFill>
          <a:blip r:embed="rId3"/>
          <a:srcRect l="4854" t="27310" r="50000" b="20928"/>
          <a:stretch>
            <a:fillRect/>
          </a:stretch>
        </p:blipFill>
        <p:spPr>
          <a:xfrm>
            <a:off x="5570606" y="1673872"/>
            <a:ext cx="2715418" cy="2021964"/>
          </a:xfrm>
          <a:prstGeom prst="rect">
            <a:avLst/>
          </a:prstGeom>
        </p:spPr>
      </p:pic>
      <p:sp>
        <p:nvSpPr>
          <p:cNvPr id="7" name="Text 4"/>
          <p:cNvSpPr/>
          <p:nvPr/>
        </p:nvSpPr>
        <p:spPr>
          <a:xfrm>
            <a:off x="274320" y="4325112"/>
            <a:ext cx="8595360" cy="256032"/>
          </a:xfrm>
          <a:prstGeom prst="rect">
            <a:avLst/>
          </a:prstGeom>
          <a:noFill/>
          <a:ln/>
        </p:spPr>
        <p:txBody>
          <a:bodyPr wrap="square" rtlCol="0" anchor="ctr"/>
          <a:lstStyle/>
          <a:p>
            <a:pPr marL="0" indent="0" algn="ctr">
              <a:buNone/>
            </a:pPr>
            <a:r>
              <a:rPr lang="en-US" sz="1050" i="1" dirty="0">
                <a:solidFill>
                  <a:srgbClr val="7A90A8"/>
                </a:solidFill>
                <a:latin typeface="Calibri" pitchFamily="34" charset="0"/>
                <a:ea typeface="Calibri" pitchFamily="34" charset="-122"/>
                <a:cs typeface="Calibri" pitchFamily="34" charset="-120"/>
              </a:rPr>
              <a:t>Components: Arduino Uno · 4×4 Keypad · 16×2 LCD · RGB LED · Buzzer · DIP Switch</a:t>
            </a:r>
            <a:endParaRPr lang="en-US" sz="1050" dirty="0"/>
          </a:p>
        </p:txBody>
      </p:sp>
      <p:sp>
        <p:nvSpPr>
          <p:cNvPr id="8" name="Text 5">
            <a:hlinkClick r:id="rId4"/>
          </p:cNvPr>
          <p:cNvSpPr/>
          <p:nvPr/>
        </p:nvSpPr>
        <p:spPr>
          <a:xfrm>
            <a:off x="3200400" y="4645152"/>
            <a:ext cx="2743200" cy="201168"/>
          </a:xfrm>
          <a:prstGeom prst="rect">
            <a:avLst/>
          </a:prstGeom>
          <a:noFill/>
          <a:ln/>
        </p:spPr>
        <p:txBody>
          <a:bodyPr wrap="square" rtlCol="0" anchor="ctr"/>
          <a:lstStyle/>
          <a:p>
            <a:pPr marL="0" indent="0" algn="ctr">
              <a:buNone/>
            </a:pPr>
            <a:r>
              <a:rPr lang="en-US" sz="1000" b="1" u="sng" dirty="0">
                <a:solidFill>
                  <a:srgbClr val="00B4D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View Repository →</a:t>
            </a:r>
            <a:endParaRPr lang="en-US" sz="1000" dirty="0"/>
          </a:p>
        </p:txBody>
      </p:sp>
      <p:sp>
        <p:nvSpPr>
          <p:cNvPr id="9" name="Shape 6"/>
          <p:cNvSpPr/>
          <p:nvPr/>
        </p:nvSpPr>
        <p:spPr>
          <a:xfrm>
            <a:off x="0" y="4983480"/>
            <a:ext cx="9144000" cy="160020"/>
          </a:xfrm>
          <a:prstGeom prst="rect">
            <a:avLst/>
          </a:prstGeom>
          <a:solidFill>
            <a:srgbClr val="050C18"/>
          </a:solidFill>
          <a:ln w="12700">
            <a:solidFill>
              <a:srgbClr val="050C18"/>
            </a:solidFill>
            <a:prstDash val="solid"/>
          </a:ln>
        </p:spPr>
      </p:sp>
      <p:sp>
        <p:nvSpPr>
          <p:cNvPr id="11" name="TextBox 10">
            <a:extLst>
              <a:ext uri="{FF2B5EF4-FFF2-40B4-BE49-F238E27FC236}">
                <a16:creationId xmlns:a16="http://schemas.microsoft.com/office/drawing/2014/main" id="{3DD00382-96C0-8AEE-A7EB-2A6F3EC1B6D1}"/>
              </a:ext>
            </a:extLst>
          </p:cNvPr>
          <p:cNvSpPr txBox="1"/>
          <p:nvPr/>
        </p:nvSpPr>
        <p:spPr>
          <a:xfrm>
            <a:off x="763096" y="1673872"/>
            <a:ext cx="4400962" cy="2021964"/>
          </a:xfrm>
          <a:prstGeom prst="rect">
            <a:avLst/>
          </a:prstGeom>
          <a:solidFill>
            <a:schemeClr val="accent1">
              <a:lumMod val="50000"/>
            </a:schemeClr>
          </a:solidFill>
        </p:spPr>
        <p:txBody>
          <a:bodyPr wrap="square">
            <a:spAutoFit/>
          </a:bodyPr>
          <a:lstStyle/>
          <a:p>
            <a:pPr marL="0" lvl="1" algn="ctr">
              <a:lnSpc>
                <a:spcPct val="115000"/>
              </a:lnSpc>
            </a:pPr>
            <a:r>
              <a:rPr lang="en-US" sz="1400" b="1" u="sng"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Technical Challenges &amp; Future Scope</a:t>
            </a:r>
          </a:p>
          <a:p>
            <a:pPr marL="0" marR="0">
              <a:lnSpc>
                <a:spcPct val="115000"/>
              </a:lnSpc>
              <a:spcAft>
                <a:spcPts val="800"/>
              </a:spcAft>
              <a:buNone/>
            </a:pPr>
            <a:r>
              <a:rPr lang="en-US"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 notable challenge in this advanced loop is handling blocking delays. Currently, exiting the automated cycle requires specific timing to interrupt the loop. Future iterations of this system could implement hardware interrupts or non-blocking timers (</a:t>
            </a:r>
            <a:r>
              <a:rPr lang="en-US"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millis</a:t>
            </a:r>
            <a:r>
              <a:rPr lang="en-US"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to allow instantaneous mode switching. Additionally, writing the administrator's custom delays to EEPROM would ensure the settings survive power cycles, and integrating an RTC (Real-Time Clock) could allow the system to switch to "night mode" automatically.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1628"/>
        </a:solidFill>
        <a:effectLst/>
      </p:bgPr>
    </p:bg>
    <p:spTree>
      <p:nvGrpSpPr>
        <p:cNvPr id="1" name="">
          <a:extLst>
            <a:ext uri="{FF2B5EF4-FFF2-40B4-BE49-F238E27FC236}">
              <a16:creationId xmlns:a16="http://schemas.microsoft.com/office/drawing/2014/main" id="{1D395654-1503-ADFF-F31B-E66374E1A40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85A6DF8-F12F-7EEA-0ACA-9B443AAD1D44}"/>
              </a:ext>
            </a:extLst>
          </p:cNvPr>
          <p:cNvSpPr/>
          <p:nvPr/>
        </p:nvSpPr>
        <p:spPr>
          <a:xfrm>
            <a:off x="0" y="0"/>
            <a:ext cx="9144000" cy="960120"/>
          </a:xfrm>
          <a:prstGeom prst="rect">
            <a:avLst/>
          </a:prstGeom>
          <a:solidFill>
            <a:srgbClr val="050C18"/>
          </a:solidFill>
          <a:ln w="12700">
            <a:solidFill>
              <a:srgbClr val="050C18"/>
            </a:solidFill>
            <a:prstDash val="solid"/>
          </a:ln>
        </p:spPr>
      </p:sp>
      <p:sp>
        <p:nvSpPr>
          <p:cNvPr id="3" name="Shape 1">
            <a:extLst>
              <a:ext uri="{FF2B5EF4-FFF2-40B4-BE49-F238E27FC236}">
                <a16:creationId xmlns:a16="http://schemas.microsoft.com/office/drawing/2014/main" id="{B41892AE-500D-1880-C945-D2F1B97DD492}"/>
              </a:ext>
            </a:extLst>
          </p:cNvPr>
          <p:cNvSpPr/>
          <p:nvPr/>
        </p:nvSpPr>
        <p:spPr>
          <a:xfrm>
            <a:off x="0" y="0"/>
            <a:ext cx="201168" cy="960120"/>
          </a:xfrm>
          <a:prstGeom prst="rect">
            <a:avLst/>
          </a:prstGeom>
          <a:solidFill>
            <a:srgbClr val="00B4D8"/>
          </a:solidFill>
          <a:ln w="12700">
            <a:solidFill>
              <a:srgbClr val="00B4D8"/>
            </a:solidFill>
            <a:prstDash val="solid"/>
          </a:ln>
        </p:spPr>
      </p:sp>
      <p:sp>
        <p:nvSpPr>
          <p:cNvPr id="4" name="Text 2">
            <a:extLst>
              <a:ext uri="{FF2B5EF4-FFF2-40B4-BE49-F238E27FC236}">
                <a16:creationId xmlns:a16="http://schemas.microsoft.com/office/drawing/2014/main" id="{0C38399A-0EDD-60AA-519A-956A127EEB59}"/>
              </a:ext>
            </a:extLst>
          </p:cNvPr>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Advance Traffic Light System</a:t>
            </a:r>
            <a:endParaRPr lang="en-US" sz="2800" dirty="0"/>
          </a:p>
        </p:txBody>
      </p:sp>
      <p:sp>
        <p:nvSpPr>
          <p:cNvPr id="5" name="Text 3">
            <a:extLst>
              <a:ext uri="{FF2B5EF4-FFF2-40B4-BE49-F238E27FC236}">
                <a16:creationId xmlns:a16="http://schemas.microsoft.com/office/drawing/2014/main" id="{B712B059-E107-BB03-24FD-7F39CF7B26C8}"/>
              </a:ext>
            </a:extLst>
          </p:cNvPr>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TinkerCAD circuit simulation screenshot</a:t>
            </a:r>
            <a:endParaRPr lang="en-US" sz="1100" dirty="0"/>
          </a:p>
        </p:txBody>
      </p:sp>
      <p:sp>
        <p:nvSpPr>
          <p:cNvPr id="9" name="Shape 6">
            <a:extLst>
              <a:ext uri="{FF2B5EF4-FFF2-40B4-BE49-F238E27FC236}">
                <a16:creationId xmlns:a16="http://schemas.microsoft.com/office/drawing/2014/main" id="{B9E93E6F-B9E8-477E-7877-AB79089BC3AD}"/>
              </a:ext>
            </a:extLst>
          </p:cNvPr>
          <p:cNvSpPr/>
          <p:nvPr/>
        </p:nvSpPr>
        <p:spPr>
          <a:xfrm>
            <a:off x="0" y="4983480"/>
            <a:ext cx="9144000" cy="160020"/>
          </a:xfrm>
          <a:prstGeom prst="rect">
            <a:avLst/>
          </a:prstGeom>
          <a:solidFill>
            <a:srgbClr val="050C18"/>
          </a:solidFill>
          <a:ln w="12700">
            <a:solidFill>
              <a:srgbClr val="050C18"/>
            </a:solidFill>
            <a:prstDash val="solid"/>
          </a:ln>
        </p:spPr>
      </p:sp>
      <p:sp>
        <p:nvSpPr>
          <p:cNvPr id="11" name="TextBox 10">
            <a:extLst>
              <a:ext uri="{FF2B5EF4-FFF2-40B4-BE49-F238E27FC236}">
                <a16:creationId xmlns:a16="http://schemas.microsoft.com/office/drawing/2014/main" id="{B7BD0E8C-8040-2A7C-949C-FEABA50ABCBD}"/>
              </a:ext>
            </a:extLst>
          </p:cNvPr>
          <p:cNvSpPr txBox="1"/>
          <p:nvPr/>
        </p:nvSpPr>
        <p:spPr>
          <a:xfrm>
            <a:off x="460489" y="1673872"/>
            <a:ext cx="4400962" cy="2073260"/>
          </a:xfrm>
          <a:prstGeom prst="rect">
            <a:avLst/>
          </a:prstGeom>
          <a:solidFill>
            <a:schemeClr val="accent1">
              <a:lumMod val="50000"/>
            </a:schemeClr>
          </a:solidFill>
        </p:spPr>
        <p:txBody>
          <a:bodyPr wrap="square">
            <a:spAutoFit/>
          </a:bodyPr>
          <a:lstStyle/>
          <a:p>
            <a:pPr marL="731520" marR="0" lvl="2">
              <a:lnSpc>
                <a:spcPct val="115000"/>
              </a:lnSpc>
            </a:pPr>
            <a:r>
              <a:rPr lang="en-US" sz="1400" b="1" u="sng"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Technical Challenges &amp; Future Scope</a:t>
            </a:r>
          </a:p>
          <a:p>
            <a:pPr marL="0" marR="0">
              <a:lnSpc>
                <a:spcPct val="115000"/>
              </a:lnSpc>
              <a:spcAft>
                <a:spcPts val="800"/>
              </a:spcAft>
              <a:buNone/>
            </a:pPr>
            <a:r>
              <a:rPr lang="en-US"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Developing a dual-purpose system on a constrained microcontroller presented several technical hurdles. A primary challenge was managing </a:t>
            </a:r>
            <a:r>
              <a:rPr lang="en-US" sz="12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timing conflicts</a:t>
            </a:r>
            <a:r>
              <a:rPr lang="en-US"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the system had to balance standard farming automation delays with the need for instantaneous, interrupt-like responsiveness for intruder logging. Furthermore, managing numerous analog and digital sensors alongside multiple actuators quickly exhausted the available I/O pins on the Arduino Uno, and continuous loop updates caused noticeable LCD flicker.</a:t>
            </a:r>
          </a:p>
        </p:txBody>
      </p:sp>
      <p:sp>
        <p:nvSpPr>
          <p:cNvPr id="10" name="Text 4">
            <a:extLst>
              <a:ext uri="{FF2B5EF4-FFF2-40B4-BE49-F238E27FC236}">
                <a16:creationId xmlns:a16="http://schemas.microsoft.com/office/drawing/2014/main" id="{8B5072BD-EECF-3A25-EB43-60F3177091EB}"/>
              </a:ext>
            </a:extLst>
          </p:cNvPr>
          <p:cNvSpPr/>
          <p:nvPr/>
        </p:nvSpPr>
        <p:spPr>
          <a:xfrm>
            <a:off x="384048" y="4237290"/>
            <a:ext cx="8522208" cy="256032"/>
          </a:xfrm>
          <a:prstGeom prst="rect">
            <a:avLst/>
          </a:prstGeom>
          <a:noFill/>
          <a:ln/>
        </p:spPr>
        <p:txBody>
          <a:bodyPr wrap="square" rtlCol="0" anchor="ctr"/>
          <a:lstStyle/>
          <a:p>
            <a:pPr marL="0" indent="0" algn="ctr">
              <a:buNone/>
            </a:pPr>
            <a:r>
              <a:rPr lang="en-US" sz="1050" i="1" dirty="0">
                <a:solidFill>
                  <a:srgbClr val="7A90A8"/>
                </a:solidFill>
                <a:latin typeface="Calibri" pitchFamily="34" charset="0"/>
                <a:ea typeface="Calibri" pitchFamily="34" charset="-122"/>
                <a:cs typeface="Calibri" pitchFamily="34" charset="-120"/>
              </a:rPr>
              <a:t>Components: Arduino Uno · Soil Moisture · DHT11 · LDR · PIR Sensor · Speaker · LCD Display</a:t>
            </a:r>
            <a:endParaRPr lang="en-US" sz="1050" dirty="0"/>
          </a:p>
        </p:txBody>
      </p:sp>
      <p:sp>
        <p:nvSpPr>
          <p:cNvPr id="12" name="Text 5">
            <a:hlinkClick r:id="rId3"/>
            <a:extLst>
              <a:ext uri="{FF2B5EF4-FFF2-40B4-BE49-F238E27FC236}">
                <a16:creationId xmlns:a16="http://schemas.microsoft.com/office/drawing/2014/main" id="{CD99FF49-242F-2537-3F75-4A747E800C08}"/>
              </a:ext>
            </a:extLst>
          </p:cNvPr>
          <p:cNvSpPr/>
          <p:nvPr/>
        </p:nvSpPr>
        <p:spPr>
          <a:xfrm>
            <a:off x="3200400" y="4460884"/>
            <a:ext cx="2743200" cy="201168"/>
          </a:xfrm>
          <a:prstGeom prst="rect">
            <a:avLst/>
          </a:prstGeom>
          <a:noFill/>
          <a:ln/>
        </p:spPr>
        <p:txBody>
          <a:bodyPr wrap="square" rtlCol="0" anchor="ctr"/>
          <a:lstStyle/>
          <a:p>
            <a:pPr marL="0" indent="0" algn="ctr">
              <a:buNone/>
            </a:pPr>
            <a:r>
              <a:rPr lang="en-US" sz="1000" b="1" u="sng" dirty="0">
                <a:solidFill>
                  <a:srgbClr val="52B78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View Repository →</a:t>
            </a:r>
            <a:endParaRPr lang="en-US" sz="1000" dirty="0"/>
          </a:p>
        </p:txBody>
      </p:sp>
      <p:pic>
        <p:nvPicPr>
          <p:cNvPr id="14" name="Picture 13">
            <a:extLst>
              <a:ext uri="{FF2B5EF4-FFF2-40B4-BE49-F238E27FC236}">
                <a16:creationId xmlns:a16="http://schemas.microsoft.com/office/drawing/2014/main" id="{B0241288-AE63-11ED-6724-98A5589FCCAB}"/>
              </a:ext>
            </a:extLst>
          </p:cNvPr>
          <p:cNvPicPr>
            <a:picLocks noChangeAspect="1"/>
          </p:cNvPicPr>
          <p:nvPr/>
        </p:nvPicPr>
        <p:blipFill>
          <a:blip r:embed="rId4"/>
          <a:srcRect l="7027" t="29689" r="31368" b="11111"/>
          <a:stretch>
            <a:fillRect/>
          </a:stretch>
        </p:blipFill>
        <p:spPr>
          <a:xfrm>
            <a:off x="5212990" y="1679692"/>
            <a:ext cx="3470521" cy="2067439"/>
          </a:xfrm>
          <a:prstGeom prst="rect">
            <a:avLst/>
          </a:prstGeom>
        </p:spPr>
      </p:pic>
    </p:spTree>
    <p:extLst>
      <p:ext uri="{BB962C8B-B14F-4D97-AF65-F5344CB8AC3E}">
        <p14:creationId xmlns:p14="http://schemas.microsoft.com/office/powerpoint/2010/main" val="17974484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C18"/>
          </a:solidFill>
          <a:ln w="12700">
            <a:solidFill>
              <a:srgbClr val="050C18"/>
            </a:solidFill>
            <a:prstDash val="solid"/>
          </a:ln>
        </p:spPr>
      </p:sp>
      <p:sp>
        <p:nvSpPr>
          <p:cNvPr id="3" name="Shape 1"/>
          <p:cNvSpPr/>
          <p:nvPr/>
        </p:nvSpPr>
        <p:spPr>
          <a:xfrm>
            <a:off x="0" y="0"/>
            <a:ext cx="201168" cy="960120"/>
          </a:xfrm>
          <a:prstGeom prst="rect">
            <a:avLst/>
          </a:prstGeom>
          <a:solidFill>
            <a:srgbClr val="00B4D8"/>
          </a:solidFill>
          <a:ln w="12700">
            <a:solidFill>
              <a:srgbClr val="00B4D8"/>
            </a:solidFill>
            <a:prstDash val="solid"/>
          </a:ln>
        </p:spPr>
      </p:sp>
      <p:sp>
        <p:nvSpPr>
          <p:cNvPr id="4" name="Text 2"/>
          <p:cNvSpPr/>
          <p:nvPr/>
        </p:nvSpPr>
        <p:spPr>
          <a:xfrm>
            <a:off x="347472" y="91440"/>
            <a:ext cx="859536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References</a:t>
            </a:r>
            <a:endParaRPr lang="en-US" sz="2800" dirty="0"/>
          </a:p>
        </p:txBody>
      </p:sp>
      <p:sp>
        <p:nvSpPr>
          <p:cNvPr id="5" name="Text 3"/>
          <p:cNvSpPr/>
          <p:nvPr/>
        </p:nvSpPr>
        <p:spPr>
          <a:xfrm>
            <a:off x="347472" y="658368"/>
            <a:ext cx="8595360" cy="256032"/>
          </a:xfrm>
          <a:prstGeom prst="rect">
            <a:avLst/>
          </a:prstGeom>
          <a:noFill/>
          <a:ln/>
        </p:spPr>
        <p:txBody>
          <a:bodyPr wrap="square" lIns="0" tIns="0" rIns="0" bIns="0" rtlCol="0" anchor="ctr"/>
          <a:lstStyle/>
          <a:p>
            <a:pPr marL="0" indent="0">
              <a:buNone/>
            </a:pPr>
            <a:r>
              <a:rPr lang="en-US" sz="1100" i="1" dirty="0">
                <a:solidFill>
                  <a:srgbClr val="90E0EF"/>
                </a:solidFill>
                <a:latin typeface="Calibri" pitchFamily="34" charset="0"/>
                <a:ea typeface="Calibri" pitchFamily="34" charset="-122"/>
                <a:cs typeface="Calibri" pitchFamily="34" charset="-120"/>
              </a:rPr>
              <a:t>All source links — click to open</a:t>
            </a:r>
            <a:endParaRPr lang="en-US" sz="1100" dirty="0"/>
          </a:p>
        </p:txBody>
      </p:sp>
      <p:sp>
        <p:nvSpPr>
          <p:cNvPr id="6" name="Shape 4"/>
          <p:cNvSpPr/>
          <p:nvPr/>
        </p:nvSpPr>
        <p:spPr>
          <a:xfrm>
            <a:off x="228600" y="1078992"/>
            <a:ext cx="4160520" cy="395224"/>
          </a:xfrm>
          <a:prstGeom prst="rect">
            <a:avLst/>
          </a:prstGeom>
          <a:solidFill>
            <a:srgbClr val="142030"/>
          </a:solidFill>
          <a:ln w="12700">
            <a:solidFill>
              <a:srgbClr val="3A5070"/>
            </a:solidFill>
            <a:prstDash val="solid"/>
          </a:ln>
        </p:spPr>
      </p:sp>
      <p:sp>
        <p:nvSpPr>
          <p:cNvPr id="7" name="Text 5"/>
          <p:cNvSpPr/>
          <p:nvPr/>
        </p:nvSpPr>
        <p:spPr>
          <a:xfrm>
            <a:off x="320040" y="1106424"/>
            <a:ext cx="4005072" cy="1778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IBM — IoT</a:t>
            </a:r>
            <a:endParaRPr lang="en-US" sz="1000" dirty="0"/>
          </a:p>
        </p:txBody>
      </p:sp>
      <p:sp>
        <p:nvSpPr>
          <p:cNvPr id="8" name="Text 6">
            <a:hlinkClick r:id="rId3"/>
          </p:cNvPr>
          <p:cNvSpPr/>
          <p:nvPr/>
        </p:nvSpPr>
        <p:spPr>
          <a:xfrm>
            <a:off x="320040" y="1276604"/>
            <a:ext cx="4005072" cy="189708"/>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https://www.ibm.com/think/topics/internet-of-things</a:t>
            </a:r>
            <a:endParaRPr lang="en-US" sz="800" dirty="0"/>
          </a:p>
        </p:txBody>
      </p:sp>
      <p:sp>
        <p:nvSpPr>
          <p:cNvPr id="9" name="Shape 7"/>
          <p:cNvSpPr/>
          <p:nvPr/>
        </p:nvSpPr>
        <p:spPr>
          <a:xfrm>
            <a:off x="228600" y="1510792"/>
            <a:ext cx="4160520" cy="395224"/>
          </a:xfrm>
          <a:prstGeom prst="rect">
            <a:avLst/>
          </a:prstGeom>
          <a:solidFill>
            <a:srgbClr val="142030"/>
          </a:solidFill>
          <a:ln w="12700">
            <a:solidFill>
              <a:srgbClr val="3A5070"/>
            </a:solidFill>
            <a:prstDash val="solid"/>
          </a:ln>
        </p:spPr>
      </p:sp>
      <p:sp>
        <p:nvSpPr>
          <p:cNvPr id="10" name="Text 8"/>
          <p:cNvSpPr/>
          <p:nvPr/>
        </p:nvSpPr>
        <p:spPr>
          <a:xfrm>
            <a:off x="320040" y="1538224"/>
            <a:ext cx="4005072" cy="1778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Spiceworks — Embedded</a:t>
            </a:r>
            <a:endParaRPr lang="en-US" sz="1000" dirty="0"/>
          </a:p>
        </p:txBody>
      </p:sp>
      <p:sp>
        <p:nvSpPr>
          <p:cNvPr id="11" name="Text 9">
            <a:hlinkClick r:id="rId4"/>
          </p:cNvPr>
          <p:cNvSpPr/>
          <p:nvPr/>
        </p:nvSpPr>
        <p:spPr>
          <a:xfrm>
            <a:off x="320040" y="1708404"/>
            <a:ext cx="4005072" cy="189708"/>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https://www.spiceworks.com/it-hardware/what-is-refs-2/</a:t>
            </a:r>
            <a:endParaRPr lang="en-US" sz="800" dirty="0"/>
          </a:p>
        </p:txBody>
      </p:sp>
      <p:sp>
        <p:nvSpPr>
          <p:cNvPr id="12" name="Shape 10"/>
          <p:cNvSpPr/>
          <p:nvPr/>
        </p:nvSpPr>
        <p:spPr>
          <a:xfrm>
            <a:off x="228600" y="1942592"/>
            <a:ext cx="4160520" cy="395224"/>
          </a:xfrm>
          <a:prstGeom prst="rect">
            <a:avLst/>
          </a:prstGeom>
          <a:solidFill>
            <a:srgbClr val="142030"/>
          </a:solidFill>
          <a:ln w="12700">
            <a:solidFill>
              <a:srgbClr val="3A5070"/>
            </a:solidFill>
            <a:prstDash val="solid"/>
          </a:ln>
        </p:spPr>
      </p:sp>
      <p:sp>
        <p:nvSpPr>
          <p:cNvPr id="13" name="Text 11"/>
          <p:cNvSpPr/>
          <p:nvPr/>
        </p:nvSpPr>
        <p:spPr>
          <a:xfrm>
            <a:off x="320040" y="1970024"/>
            <a:ext cx="4005072" cy="1778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GeeksForGeeks — Robotics</a:t>
            </a:r>
            <a:endParaRPr lang="en-US" sz="1000" dirty="0"/>
          </a:p>
        </p:txBody>
      </p:sp>
      <p:sp>
        <p:nvSpPr>
          <p:cNvPr id="14" name="Text 12">
            <a:hlinkClick r:id="rId5"/>
          </p:cNvPr>
          <p:cNvSpPr/>
          <p:nvPr/>
        </p:nvSpPr>
        <p:spPr>
          <a:xfrm>
            <a:off x="320040" y="2140204"/>
            <a:ext cx="4005072" cy="189708"/>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https://www.geeksforgeeks.org/software-engineering/robotics-introduction/</a:t>
            </a:r>
            <a:endParaRPr lang="en-US" sz="800" dirty="0"/>
          </a:p>
        </p:txBody>
      </p:sp>
      <p:sp>
        <p:nvSpPr>
          <p:cNvPr id="15" name="Shape 13"/>
          <p:cNvSpPr/>
          <p:nvPr/>
        </p:nvSpPr>
        <p:spPr>
          <a:xfrm>
            <a:off x="228600" y="2374392"/>
            <a:ext cx="4160520" cy="395224"/>
          </a:xfrm>
          <a:prstGeom prst="rect">
            <a:avLst/>
          </a:prstGeom>
          <a:solidFill>
            <a:srgbClr val="142030"/>
          </a:solidFill>
          <a:ln w="12700">
            <a:solidFill>
              <a:srgbClr val="3A5070"/>
            </a:solidFill>
            <a:prstDash val="solid"/>
          </a:ln>
        </p:spPr>
      </p:sp>
      <p:sp>
        <p:nvSpPr>
          <p:cNvPr id="16" name="Text 14"/>
          <p:cNvSpPr/>
          <p:nvPr/>
        </p:nvSpPr>
        <p:spPr>
          <a:xfrm>
            <a:off x="320040" y="2401824"/>
            <a:ext cx="4005072" cy="1778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Goodwin.edu — CNC</a:t>
            </a:r>
            <a:endParaRPr lang="en-US" sz="1000" dirty="0"/>
          </a:p>
        </p:txBody>
      </p:sp>
      <p:sp>
        <p:nvSpPr>
          <p:cNvPr id="17" name="Text 15">
            <a:hlinkClick r:id="rId6"/>
          </p:cNvPr>
          <p:cNvSpPr/>
          <p:nvPr/>
        </p:nvSpPr>
        <p:spPr>
          <a:xfrm>
            <a:off x="320040" y="2572004"/>
            <a:ext cx="4005072" cy="189708"/>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https://www.goodwin.edu/enews/what-is-cnc/</a:t>
            </a:r>
            <a:endParaRPr lang="en-US" sz="800" dirty="0"/>
          </a:p>
        </p:txBody>
      </p:sp>
      <p:sp>
        <p:nvSpPr>
          <p:cNvPr id="18" name="Shape 16"/>
          <p:cNvSpPr/>
          <p:nvPr/>
        </p:nvSpPr>
        <p:spPr>
          <a:xfrm>
            <a:off x="228600" y="2806192"/>
            <a:ext cx="4160520" cy="395224"/>
          </a:xfrm>
          <a:prstGeom prst="rect">
            <a:avLst/>
          </a:prstGeom>
          <a:solidFill>
            <a:srgbClr val="142030"/>
          </a:solidFill>
          <a:ln w="12700">
            <a:solidFill>
              <a:srgbClr val="3A5070"/>
            </a:solidFill>
            <a:prstDash val="solid"/>
          </a:ln>
        </p:spPr>
      </p:sp>
      <p:sp>
        <p:nvSpPr>
          <p:cNvPr id="19" name="Text 17"/>
          <p:cNvSpPr/>
          <p:nvPr/>
        </p:nvSpPr>
        <p:spPr>
          <a:xfrm>
            <a:off x="320040" y="2833624"/>
            <a:ext cx="4005072" cy="1778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GCodeTutor — G-codes</a:t>
            </a:r>
            <a:endParaRPr lang="en-US" sz="1000" dirty="0"/>
          </a:p>
        </p:txBody>
      </p:sp>
      <p:sp>
        <p:nvSpPr>
          <p:cNvPr id="20" name="Text 18">
            <a:hlinkClick r:id="rId7"/>
          </p:cNvPr>
          <p:cNvSpPr/>
          <p:nvPr/>
        </p:nvSpPr>
        <p:spPr>
          <a:xfrm>
            <a:off x="320040" y="3003804"/>
            <a:ext cx="4005072" cy="189708"/>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https://gcodetutor.com/cnc-machine-training/cnc-g-codes.html</a:t>
            </a:r>
            <a:endParaRPr lang="en-US" sz="800" dirty="0"/>
          </a:p>
        </p:txBody>
      </p:sp>
      <p:sp>
        <p:nvSpPr>
          <p:cNvPr id="21" name="Shape 19"/>
          <p:cNvSpPr/>
          <p:nvPr/>
        </p:nvSpPr>
        <p:spPr>
          <a:xfrm>
            <a:off x="228600" y="3237992"/>
            <a:ext cx="4160520" cy="395224"/>
          </a:xfrm>
          <a:prstGeom prst="rect">
            <a:avLst/>
          </a:prstGeom>
          <a:solidFill>
            <a:srgbClr val="142030"/>
          </a:solidFill>
          <a:ln w="12700">
            <a:solidFill>
              <a:srgbClr val="3A5070"/>
            </a:solidFill>
            <a:prstDash val="solid"/>
          </a:ln>
        </p:spPr>
      </p:sp>
      <p:sp>
        <p:nvSpPr>
          <p:cNvPr id="22" name="Text 20"/>
          <p:cNvSpPr/>
          <p:nvPr/>
        </p:nvSpPr>
        <p:spPr>
          <a:xfrm>
            <a:off x="320040" y="3265424"/>
            <a:ext cx="4005072" cy="1778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HowToMechatronics — G-code</a:t>
            </a:r>
            <a:endParaRPr lang="en-US" sz="1000" dirty="0"/>
          </a:p>
        </p:txBody>
      </p:sp>
      <p:sp>
        <p:nvSpPr>
          <p:cNvPr id="23" name="Text 21">
            <a:hlinkClick r:id="rId8"/>
          </p:cNvPr>
          <p:cNvSpPr/>
          <p:nvPr/>
        </p:nvSpPr>
        <p:spPr>
          <a:xfrm>
            <a:off x="320040" y="3435604"/>
            <a:ext cx="4005072" cy="189708"/>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https://howtomechatronics.com/tutorials/g-code-explained-list-of-most-important-g-code-commands/</a:t>
            </a:r>
            <a:endParaRPr lang="en-US" sz="800" dirty="0"/>
          </a:p>
        </p:txBody>
      </p:sp>
      <p:sp>
        <p:nvSpPr>
          <p:cNvPr id="24" name="Shape 22"/>
          <p:cNvSpPr/>
          <p:nvPr/>
        </p:nvSpPr>
        <p:spPr>
          <a:xfrm>
            <a:off x="228600" y="3669792"/>
            <a:ext cx="4160520" cy="395224"/>
          </a:xfrm>
          <a:prstGeom prst="rect">
            <a:avLst/>
          </a:prstGeom>
          <a:solidFill>
            <a:srgbClr val="142030"/>
          </a:solidFill>
          <a:ln w="12700">
            <a:solidFill>
              <a:srgbClr val="3A5070"/>
            </a:solidFill>
            <a:prstDash val="solid"/>
          </a:ln>
        </p:spPr>
      </p:sp>
      <p:sp>
        <p:nvSpPr>
          <p:cNvPr id="25" name="Text 23"/>
          <p:cNvSpPr/>
          <p:nvPr/>
        </p:nvSpPr>
        <p:spPr>
          <a:xfrm>
            <a:off x="320040" y="3697224"/>
            <a:ext cx="4005072" cy="1778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IBM — Microcontroller</a:t>
            </a:r>
            <a:endParaRPr lang="en-US" sz="1000" dirty="0"/>
          </a:p>
        </p:txBody>
      </p:sp>
      <p:sp>
        <p:nvSpPr>
          <p:cNvPr id="26" name="Text 24">
            <a:hlinkClick r:id="rId9"/>
          </p:cNvPr>
          <p:cNvSpPr/>
          <p:nvPr/>
        </p:nvSpPr>
        <p:spPr>
          <a:xfrm>
            <a:off x="320040" y="3867404"/>
            <a:ext cx="4005072" cy="189708"/>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https://www.ibm.com/think/topics/microcontroller</a:t>
            </a:r>
            <a:endParaRPr lang="en-US" sz="800" dirty="0"/>
          </a:p>
        </p:txBody>
      </p:sp>
      <p:sp>
        <p:nvSpPr>
          <p:cNvPr id="27" name="Shape 25"/>
          <p:cNvSpPr/>
          <p:nvPr/>
        </p:nvSpPr>
        <p:spPr>
          <a:xfrm>
            <a:off x="228600" y="4101592"/>
            <a:ext cx="4160520" cy="395224"/>
          </a:xfrm>
          <a:prstGeom prst="rect">
            <a:avLst/>
          </a:prstGeom>
          <a:solidFill>
            <a:srgbClr val="142030"/>
          </a:solidFill>
          <a:ln w="12700">
            <a:solidFill>
              <a:srgbClr val="3A5070"/>
            </a:solidFill>
            <a:prstDash val="solid"/>
          </a:ln>
        </p:spPr>
      </p:sp>
      <p:sp>
        <p:nvSpPr>
          <p:cNvPr id="28" name="Text 26"/>
          <p:cNvSpPr/>
          <p:nvPr/>
        </p:nvSpPr>
        <p:spPr>
          <a:xfrm>
            <a:off x="320040" y="4129024"/>
            <a:ext cx="4005072" cy="1778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GFG — MCU Apps</a:t>
            </a:r>
            <a:endParaRPr lang="en-US" sz="1000" dirty="0"/>
          </a:p>
        </p:txBody>
      </p:sp>
      <p:sp>
        <p:nvSpPr>
          <p:cNvPr id="29" name="Text 27">
            <a:hlinkClick r:id="rId10"/>
          </p:cNvPr>
          <p:cNvSpPr/>
          <p:nvPr/>
        </p:nvSpPr>
        <p:spPr>
          <a:xfrm>
            <a:off x="320040" y="4299204"/>
            <a:ext cx="4005072" cy="189708"/>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10">
                  <a:extLst>
                    <a:ext uri="{A12FA001-AC4F-418D-AE19-62706E023703}">
                      <ahyp:hlinkClr xmlns:ahyp="http://schemas.microsoft.com/office/drawing/2018/hyperlinkcolor" val="tx"/>
                    </a:ext>
                  </a:extLst>
                </a:hlinkClick>
              </a:rPr>
              <a:t>https://www.geeksforgeeks.org/electronics-engineering/applications-of-microcontroller/</a:t>
            </a:r>
            <a:endParaRPr lang="en-US" sz="800" dirty="0"/>
          </a:p>
        </p:txBody>
      </p:sp>
      <p:sp>
        <p:nvSpPr>
          <p:cNvPr id="30" name="Shape 28"/>
          <p:cNvSpPr/>
          <p:nvPr/>
        </p:nvSpPr>
        <p:spPr>
          <a:xfrm>
            <a:off x="228600" y="4533392"/>
            <a:ext cx="4160520" cy="395224"/>
          </a:xfrm>
          <a:prstGeom prst="rect">
            <a:avLst/>
          </a:prstGeom>
          <a:solidFill>
            <a:srgbClr val="142030"/>
          </a:solidFill>
          <a:ln w="12700">
            <a:solidFill>
              <a:srgbClr val="3A5070"/>
            </a:solidFill>
            <a:prstDash val="solid"/>
          </a:ln>
        </p:spPr>
      </p:sp>
      <p:sp>
        <p:nvSpPr>
          <p:cNvPr id="31" name="Text 29"/>
          <p:cNvSpPr/>
          <p:nvPr/>
        </p:nvSpPr>
        <p:spPr>
          <a:xfrm>
            <a:off x="320040" y="4560824"/>
            <a:ext cx="4005072" cy="1778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Monolithic Power — Sensors</a:t>
            </a:r>
            <a:endParaRPr lang="en-US" sz="1000" dirty="0"/>
          </a:p>
        </p:txBody>
      </p:sp>
      <p:sp>
        <p:nvSpPr>
          <p:cNvPr id="32" name="Text 30">
            <a:hlinkClick r:id="rId11"/>
          </p:cNvPr>
          <p:cNvSpPr/>
          <p:nvPr/>
        </p:nvSpPr>
        <p:spPr>
          <a:xfrm>
            <a:off x="320040" y="4731004"/>
            <a:ext cx="4005072" cy="189708"/>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https://www.monolithicpower.com/en/learning/mpscholar/sensors/intro-to-sensors/what-is-a-sensor</a:t>
            </a:r>
            <a:endParaRPr lang="en-US" sz="800" dirty="0"/>
          </a:p>
        </p:txBody>
      </p:sp>
      <p:sp>
        <p:nvSpPr>
          <p:cNvPr id="33" name="Shape 31"/>
          <p:cNvSpPr/>
          <p:nvPr/>
        </p:nvSpPr>
        <p:spPr>
          <a:xfrm>
            <a:off x="4572000" y="1078992"/>
            <a:ext cx="4160520" cy="402336"/>
          </a:xfrm>
          <a:prstGeom prst="rect">
            <a:avLst/>
          </a:prstGeom>
          <a:solidFill>
            <a:srgbClr val="142030"/>
          </a:solidFill>
          <a:ln w="12700">
            <a:solidFill>
              <a:srgbClr val="3A5070"/>
            </a:solidFill>
            <a:prstDash val="solid"/>
          </a:ln>
        </p:spPr>
      </p:sp>
      <p:sp>
        <p:nvSpPr>
          <p:cNvPr id="34" name="Text 32"/>
          <p:cNvSpPr/>
          <p:nvPr/>
        </p:nvSpPr>
        <p:spPr>
          <a:xfrm>
            <a:off x="4663440" y="1106424"/>
            <a:ext cx="4005072" cy="1810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GFG — Actuators IoT</a:t>
            </a:r>
            <a:endParaRPr lang="en-US" sz="1000" dirty="0"/>
          </a:p>
        </p:txBody>
      </p:sp>
      <p:sp>
        <p:nvSpPr>
          <p:cNvPr id="35" name="Text 33">
            <a:hlinkClick r:id="rId12"/>
          </p:cNvPr>
          <p:cNvSpPr/>
          <p:nvPr/>
        </p:nvSpPr>
        <p:spPr>
          <a:xfrm>
            <a:off x="4663440" y="1280160"/>
            <a:ext cx="4005072" cy="193121"/>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12">
                  <a:extLst>
                    <a:ext uri="{A12FA001-AC4F-418D-AE19-62706E023703}">
                      <ahyp:hlinkClr xmlns:ahyp="http://schemas.microsoft.com/office/drawing/2018/hyperlinkcolor" val="tx"/>
                    </a:ext>
                  </a:extLst>
                </a:hlinkClick>
              </a:rPr>
              <a:t>https://www.geeksforgeeks.org/machine-learning/actuators-in-iot/</a:t>
            </a:r>
            <a:endParaRPr lang="en-US" sz="800" dirty="0"/>
          </a:p>
        </p:txBody>
      </p:sp>
      <p:sp>
        <p:nvSpPr>
          <p:cNvPr id="36" name="Shape 34"/>
          <p:cNvSpPr/>
          <p:nvPr/>
        </p:nvSpPr>
        <p:spPr>
          <a:xfrm>
            <a:off x="4572000" y="1564767"/>
            <a:ext cx="4160520" cy="402336"/>
          </a:xfrm>
          <a:prstGeom prst="rect">
            <a:avLst/>
          </a:prstGeom>
          <a:solidFill>
            <a:srgbClr val="142030"/>
          </a:solidFill>
          <a:ln w="12700">
            <a:solidFill>
              <a:srgbClr val="3A5070"/>
            </a:solidFill>
            <a:prstDash val="solid"/>
          </a:ln>
        </p:spPr>
      </p:sp>
      <p:sp>
        <p:nvSpPr>
          <p:cNvPr id="37" name="Text 35"/>
          <p:cNvSpPr/>
          <p:nvPr/>
        </p:nvSpPr>
        <p:spPr>
          <a:xfrm>
            <a:off x="4663440" y="1592199"/>
            <a:ext cx="4005072" cy="1810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Robotics BD</a:t>
            </a:r>
            <a:endParaRPr lang="en-US" sz="1000" dirty="0"/>
          </a:p>
        </p:txBody>
      </p:sp>
      <p:sp>
        <p:nvSpPr>
          <p:cNvPr id="38" name="Text 36">
            <a:hlinkClick r:id="rId13"/>
          </p:cNvPr>
          <p:cNvSpPr/>
          <p:nvPr/>
        </p:nvSpPr>
        <p:spPr>
          <a:xfrm>
            <a:off x="4663440" y="1765935"/>
            <a:ext cx="4005072" cy="193121"/>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13">
                  <a:extLst>
                    <a:ext uri="{A12FA001-AC4F-418D-AE19-62706E023703}">
                      <ahyp:hlinkClr xmlns:ahyp="http://schemas.microsoft.com/office/drawing/2018/hyperlinkcolor" val="tx"/>
                    </a:ext>
                  </a:extLst>
                </a:hlinkClick>
              </a:rPr>
              <a:t>https://store.roboticsbd.com/</a:t>
            </a:r>
            <a:endParaRPr lang="en-US" sz="800" dirty="0"/>
          </a:p>
        </p:txBody>
      </p:sp>
      <p:sp>
        <p:nvSpPr>
          <p:cNvPr id="39" name="Shape 37"/>
          <p:cNvSpPr/>
          <p:nvPr/>
        </p:nvSpPr>
        <p:spPr>
          <a:xfrm>
            <a:off x="4572000" y="2050542"/>
            <a:ext cx="4160520" cy="402336"/>
          </a:xfrm>
          <a:prstGeom prst="rect">
            <a:avLst/>
          </a:prstGeom>
          <a:solidFill>
            <a:srgbClr val="142030"/>
          </a:solidFill>
          <a:ln w="12700">
            <a:solidFill>
              <a:srgbClr val="3A5070"/>
            </a:solidFill>
            <a:prstDash val="solid"/>
          </a:ln>
        </p:spPr>
      </p:sp>
      <p:sp>
        <p:nvSpPr>
          <p:cNvPr id="40" name="Text 38"/>
          <p:cNvSpPr/>
          <p:nvPr/>
        </p:nvSpPr>
        <p:spPr>
          <a:xfrm>
            <a:off x="4663440" y="2077974"/>
            <a:ext cx="4005072" cy="1810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TechShop BD</a:t>
            </a:r>
            <a:endParaRPr lang="en-US" sz="1000" dirty="0"/>
          </a:p>
        </p:txBody>
      </p:sp>
      <p:sp>
        <p:nvSpPr>
          <p:cNvPr id="41" name="Text 39">
            <a:hlinkClick r:id="rId14"/>
          </p:cNvPr>
          <p:cNvSpPr/>
          <p:nvPr/>
        </p:nvSpPr>
        <p:spPr>
          <a:xfrm>
            <a:off x="4663440" y="2251710"/>
            <a:ext cx="4005072" cy="193121"/>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14">
                  <a:extLst>
                    <a:ext uri="{A12FA001-AC4F-418D-AE19-62706E023703}">
                      <ahyp:hlinkClr xmlns:ahyp="http://schemas.microsoft.com/office/drawing/2018/hyperlinkcolor" val="tx"/>
                    </a:ext>
                  </a:extLst>
                </a:hlinkClick>
              </a:rPr>
              <a:t>https://techshopbd.com/</a:t>
            </a:r>
            <a:endParaRPr lang="en-US" sz="800" dirty="0"/>
          </a:p>
        </p:txBody>
      </p:sp>
      <p:sp>
        <p:nvSpPr>
          <p:cNvPr id="42" name="Shape 40"/>
          <p:cNvSpPr/>
          <p:nvPr/>
        </p:nvSpPr>
        <p:spPr>
          <a:xfrm>
            <a:off x="4572000" y="2536317"/>
            <a:ext cx="4160520" cy="402336"/>
          </a:xfrm>
          <a:prstGeom prst="rect">
            <a:avLst/>
          </a:prstGeom>
          <a:solidFill>
            <a:srgbClr val="142030"/>
          </a:solidFill>
          <a:ln w="12700">
            <a:solidFill>
              <a:srgbClr val="3A5070"/>
            </a:solidFill>
            <a:prstDash val="solid"/>
          </a:ln>
        </p:spPr>
      </p:sp>
      <p:sp>
        <p:nvSpPr>
          <p:cNvPr id="43" name="Text 41"/>
          <p:cNvSpPr/>
          <p:nvPr/>
        </p:nvSpPr>
        <p:spPr>
          <a:xfrm>
            <a:off x="4663440" y="2563749"/>
            <a:ext cx="4005072" cy="1810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BDTronics</a:t>
            </a:r>
            <a:endParaRPr lang="en-US" sz="1000" dirty="0"/>
          </a:p>
        </p:txBody>
      </p:sp>
      <p:sp>
        <p:nvSpPr>
          <p:cNvPr id="44" name="Text 42">
            <a:hlinkClick r:id="rId15"/>
          </p:cNvPr>
          <p:cNvSpPr/>
          <p:nvPr/>
        </p:nvSpPr>
        <p:spPr>
          <a:xfrm>
            <a:off x="4663440" y="2737485"/>
            <a:ext cx="4005072" cy="193121"/>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15">
                  <a:extLst>
                    <a:ext uri="{A12FA001-AC4F-418D-AE19-62706E023703}">
                      <ahyp:hlinkClr xmlns:ahyp="http://schemas.microsoft.com/office/drawing/2018/hyperlinkcolor" val="tx"/>
                    </a:ext>
                  </a:extLst>
                </a:hlinkClick>
              </a:rPr>
              <a:t>https://www.bdtronics.com/</a:t>
            </a:r>
            <a:endParaRPr lang="en-US" sz="800" dirty="0"/>
          </a:p>
        </p:txBody>
      </p:sp>
      <p:sp>
        <p:nvSpPr>
          <p:cNvPr id="45" name="Shape 43"/>
          <p:cNvSpPr/>
          <p:nvPr/>
        </p:nvSpPr>
        <p:spPr>
          <a:xfrm>
            <a:off x="4572000" y="3022092"/>
            <a:ext cx="4160520" cy="402336"/>
          </a:xfrm>
          <a:prstGeom prst="rect">
            <a:avLst/>
          </a:prstGeom>
          <a:solidFill>
            <a:srgbClr val="142030"/>
          </a:solidFill>
          <a:ln w="12700">
            <a:solidFill>
              <a:srgbClr val="3A5070"/>
            </a:solidFill>
            <a:prstDash val="solid"/>
          </a:ln>
        </p:spPr>
      </p:sp>
      <p:sp>
        <p:nvSpPr>
          <p:cNvPr id="46" name="Text 44"/>
          <p:cNvSpPr/>
          <p:nvPr/>
        </p:nvSpPr>
        <p:spPr>
          <a:xfrm>
            <a:off x="4663440" y="3049524"/>
            <a:ext cx="4005072" cy="1810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Robotech BD</a:t>
            </a:r>
            <a:endParaRPr lang="en-US" sz="1000" dirty="0"/>
          </a:p>
        </p:txBody>
      </p:sp>
      <p:sp>
        <p:nvSpPr>
          <p:cNvPr id="47" name="Text 45">
            <a:hlinkClick r:id="rId16"/>
          </p:cNvPr>
          <p:cNvSpPr/>
          <p:nvPr/>
        </p:nvSpPr>
        <p:spPr>
          <a:xfrm>
            <a:off x="4663440" y="3223260"/>
            <a:ext cx="4005072" cy="193121"/>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16">
                  <a:extLst>
                    <a:ext uri="{A12FA001-AC4F-418D-AE19-62706E023703}">
                      <ahyp:hlinkClr xmlns:ahyp="http://schemas.microsoft.com/office/drawing/2018/hyperlinkcolor" val="tx"/>
                    </a:ext>
                  </a:extLst>
                </a:hlinkClick>
              </a:rPr>
              <a:t>https://www.robotechbd.com/</a:t>
            </a:r>
            <a:endParaRPr lang="en-US" sz="800" dirty="0"/>
          </a:p>
        </p:txBody>
      </p:sp>
      <p:sp>
        <p:nvSpPr>
          <p:cNvPr id="48" name="Shape 46"/>
          <p:cNvSpPr/>
          <p:nvPr/>
        </p:nvSpPr>
        <p:spPr>
          <a:xfrm>
            <a:off x="4572000" y="3507867"/>
            <a:ext cx="4160520" cy="402336"/>
          </a:xfrm>
          <a:prstGeom prst="rect">
            <a:avLst/>
          </a:prstGeom>
          <a:solidFill>
            <a:srgbClr val="142030"/>
          </a:solidFill>
          <a:ln w="12700">
            <a:solidFill>
              <a:srgbClr val="3A5070"/>
            </a:solidFill>
            <a:prstDash val="solid"/>
          </a:ln>
        </p:spPr>
      </p:sp>
      <p:sp>
        <p:nvSpPr>
          <p:cNvPr id="49" name="Text 47"/>
          <p:cNvSpPr/>
          <p:nvPr/>
        </p:nvSpPr>
        <p:spPr>
          <a:xfrm>
            <a:off x="4663440" y="3535299"/>
            <a:ext cx="4005072" cy="1810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GitHub — All Projects</a:t>
            </a:r>
            <a:endParaRPr lang="en-US" sz="1000" dirty="0"/>
          </a:p>
        </p:txBody>
      </p:sp>
      <p:sp>
        <p:nvSpPr>
          <p:cNvPr id="50" name="Text 48">
            <a:hlinkClick r:id="rId17"/>
          </p:cNvPr>
          <p:cNvSpPr/>
          <p:nvPr/>
        </p:nvSpPr>
        <p:spPr>
          <a:xfrm>
            <a:off x="4663440" y="3709035"/>
            <a:ext cx="4005072" cy="193121"/>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17">
                  <a:extLst>
                    <a:ext uri="{A12FA001-AC4F-418D-AE19-62706E023703}">
                      <ahyp:hlinkClr xmlns:ahyp="http://schemas.microsoft.com/office/drawing/2018/hyperlinkcolor" val="tx"/>
                    </a:ext>
                  </a:extLst>
                </a:hlinkClick>
              </a:rPr>
              <a:t>https://github.com/Preetam21022/TinkerCAD-Projects/tree/main</a:t>
            </a:r>
            <a:endParaRPr lang="en-US" sz="800" dirty="0"/>
          </a:p>
        </p:txBody>
      </p:sp>
      <p:sp>
        <p:nvSpPr>
          <p:cNvPr id="51" name="Shape 49"/>
          <p:cNvSpPr/>
          <p:nvPr/>
        </p:nvSpPr>
        <p:spPr>
          <a:xfrm>
            <a:off x="4572000" y="3993642"/>
            <a:ext cx="4160520" cy="402336"/>
          </a:xfrm>
          <a:prstGeom prst="rect">
            <a:avLst/>
          </a:prstGeom>
          <a:solidFill>
            <a:srgbClr val="142030"/>
          </a:solidFill>
          <a:ln w="12700">
            <a:solidFill>
              <a:srgbClr val="3A5070"/>
            </a:solidFill>
            <a:prstDash val="solid"/>
          </a:ln>
        </p:spPr>
      </p:sp>
      <p:sp>
        <p:nvSpPr>
          <p:cNvPr id="52" name="Text 50"/>
          <p:cNvSpPr/>
          <p:nvPr/>
        </p:nvSpPr>
        <p:spPr>
          <a:xfrm>
            <a:off x="4663440" y="4021074"/>
            <a:ext cx="4005072" cy="1810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GitHub — Traffic Light</a:t>
            </a:r>
            <a:endParaRPr lang="en-US" sz="1000" dirty="0"/>
          </a:p>
        </p:txBody>
      </p:sp>
      <p:sp>
        <p:nvSpPr>
          <p:cNvPr id="53" name="Text 51">
            <a:hlinkClick r:id="rId18"/>
          </p:cNvPr>
          <p:cNvSpPr/>
          <p:nvPr/>
        </p:nvSpPr>
        <p:spPr>
          <a:xfrm>
            <a:off x="4663440" y="4194810"/>
            <a:ext cx="4005072" cy="193121"/>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18">
                  <a:extLst>
                    <a:ext uri="{A12FA001-AC4F-418D-AE19-62706E023703}">
                      <ahyp:hlinkClr xmlns:ahyp="http://schemas.microsoft.com/office/drawing/2018/hyperlinkcolor" val="tx"/>
                    </a:ext>
                  </a:extLst>
                </a:hlinkClick>
              </a:rPr>
              <a:t>https://github.com/preetam21022/tinkercad-projects/tree/main/Advance%20Traffic%20Light%20System</a:t>
            </a:r>
            <a:endParaRPr lang="en-US" sz="800" dirty="0"/>
          </a:p>
        </p:txBody>
      </p:sp>
      <p:sp>
        <p:nvSpPr>
          <p:cNvPr id="54" name="Shape 52"/>
          <p:cNvSpPr/>
          <p:nvPr/>
        </p:nvSpPr>
        <p:spPr>
          <a:xfrm>
            <a:off x="4572000" y="4479417"/>
            <a:ext cx="4160520" cy="402336"/>
          </a:xfrm>
          <a:prstGeom prst="rect">
            <a:avLst/>
          </a:prstGeom>
          <a:solidFill>
            <a:srgbClr val="142030"/>
          </a:solidFill>
          <a:ln w="12700">
            <a:solidFill>
              <a:srgbClr val="3A5070"/>
            </a:solidFill>
            <a:prstDash val="solid"/>
          </a:ln>
        </p:spPr>
      </p:sp>
      <p:sp>
        <p:nvSpPr>
          <p:cNvPr id="55" name="Text 53"/>
          <p:cNvSpPr/>
          <p:nvPr/>
        </p:nvSpPr>
        <p:spPr>
          <a:xfrm>
            <a:off x="4663440" y="4506849"/>
            <a:ext cx="4005072" cy="181051"/>
          </a:xfrm>
          <a:prstGeom prst="rect">
            <a:avLst/>
          </a:prstGeom>
          <a:noFill/>
          <a:ln/>
        </p:spPr>
        <p:txBody>
          <a:bodyPr wrap="square" lIns="0" tIns="0" rIns="0" bIns="0" rtlCol="0" anchor="ctr"/>
          <a:lstStyle/>
          <a:p>
            <a:pPr marL="0" indent="0">
              <a:buNone/>
            </a:pPr>
            <a:r>
              <a:rPr lang="en-US" sz="1000" b="1" dirty="0">
                <a:solidFill>
                  <a:srgbClr val="E2E8F0"/>
                </a:solidFill>
                <a:latin typeface="Calibri" pitchFamily="34" charset="0"/>
                <a:ea typeface="Calibri" pitchFamily="34" charset="-122"/>
                <a:cs typeface="Calibri" pitchFamily="34" charset="-120"/>
              </a:rPr>
              <a:t>GitHub — Smart Farm</a:t>
            </a:r>
            <a:endParaRPr lang="en-US" sz="1000" dirty="0"/>
          </a:p>
        </p:txBody>
      </p:sp>
      <p:sp>
        <p:nvSpPr>
          <p:cNvPr id="56" name="Text 54">
            <a:hlinkClick r:id="rId19"/>
          </p:cNvPr>
          <p:cNvSpPr/>
          <p:nvPr/>
        </p:nvSpPr>
        <p:spPr>
          <a:xfrm>
            <a:off x="4663440" y="4680585"/>
            <a:ext cx="4005072" cy="193121"/>
          </a:xfrm>
          <a:prstGeom prst="rect">
            <a:avLst/>
          </a:prstGeom>
          <a:noFill/>
          <a:ln/>
        </p:spPr>
        <p:txBody>
          <a:bodyPr wrap="square" lIns="0" tIns="0" rIns="0" bIns="0" rtlCol="0" anchor="ctr"/>
          <a:lstStyle/>
          <a:p>
            <a:pPr marL="0" indent="0">
              <a:buNone/>
            </a:pPr>
            <a:r>
              <a:rPr lang="en-US" sz="800" u="sng" dirty="0">
                <a:solidFill>
                  <a:srgbClr val="00B4D8"/>
                </a:solidFill>
                <a:latin typeface="Calibri" pitchFamily="34" charset="0"/>
                <a:ea typeface="Calibri" pitchFamily="34" charset="-122"/>
                <a:cs typeface="Calibri" pitchFamily="34" charset="-120"/>
                <a:hlinkClick r:id="rId19">
                  <a:extLst>
                    <a:ext uri="{A12FA001-AC4F-418D-AE19-62706E023703}">
                      <ahyp:hlinkClr xmlns:ahyp="http://schemas.microsoft.com/office/drawing/2018/hyperlinkcolor" val="tx"/>
                    </a:ext>
                  </a:extLst>
                </a:hlinkClick>
              </a:rPr>
              <a:t>https://github.com/Preetam21022/TinkerCAD-Projects/tree/main/Smart%20Farm%20Automation</a:t>
            </a:r>
            <a:endParaRPr lang="en-US" sz="800" dirty="0"/>
          </a:p>
        </p:txBody>
      </p:sp>
      <p:sp>
        <p:nvSpPr>
          <p:cNvPr id="57" name="Shape 55"/>
          <p:cNvSpPr/>
          <p:nvPr/>
        </p:nvSpPr>
        <p:spPr>
          <a:xfrm>
            <a:off x="0" y="4983480"/>
            <a:ext cx="9144000" cy="160020"/>
          </a:xfrm>
          <a:prstGeom prst="rect">
            <a:avLst/>
          </a:prstGeom>
          <a:solidFill>
            <a:srgbClr val="050C18"/>
          </a:solidFill>
          <a:ln w="12700">
            <a:solidFill>
              <a:srgbClr val="050C18"/>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628"/>
          </a:solidFill>
          <a:ln w="12700">
            <a:solidFill>
              <a:srgbClr val="0B1628"/>
            </a:solidFill>
            <a:prstDash val="solid"/>
          </a:ln>
        </p:spPr>
      </p:sp>
      <p:sp>
        <p:nvSpPr>
          <p:cNvPr id="3" name="Shape 1"/>
          <p:cNvSpPr/>
          <p:nvPr/>
        </p:nvSpPr>
        <p:spPr>
          <a:xfrm>
            <a:off x="0" y="0"/>
            <a:ext cx="9144000" cy="91440"/>
          </a:xfrm>
          <a:prstGeom prst="rect">
            <a:avLst/>
          </a:prstGeom>
          <a:solidFill>
            <a:srgbClr val="00B4D8"/>
          </a:solidFill>
          <a:ln w="12700">
            <a:solidFill>
              <a:srgbClr val="00B4D8"/>
            </a:solidFill>
            <a:prstDash val="solid"/>
          </a:ln>
        </p:spPr>
      </p:sp>
      <p:sp>
        <p:nvSpPr>
          <p:cNvPr id="4" name="Shape 2"/>
          <p:cNvSpPr/>
          <p:nvPr/>
        </p:nvSpPr>
        <p:spPr>
          <a:xfrm>
            <a:off x="0" y="5047488"/>
            <a:ext cx="9144000" cy="91440"/>
          </a:xfrm>
          <a:prstGeom prst="rect">
            <a:avLst/>
          </a:prstGeom>
          <a:solidFill>
            <a:srgbClr val="00B4D8"/>
          </a:solidFill>
          <a:ln w="12700">
            <a:solidFill>
              <a:srgbClr val="00B4D8"/>
            </a:solidFill>
            <a:prstDash val="solid"/>
          </a:ln>
        </p:spPr>
      </p:sp>
      <p:sp>
        <p:nvSpPr>
          <p:cNvPr id="5" name="Shape 3"/>
          <p:cNvSpPr/>
          <p:nvPr/>
        </p:nvSpPr>
        <p:spPr>
          <a:xfrm>
            <a:off x="0" y="0"/>
            <a:ext cx="2926080" cy="5143500"/>
          </a:xfrm>
          <a:prstGeom prst="rect">
            <a:avLst/>
          </a:prstGeom>
          <a:solidFill>
            <a:srgbClr val="050C18"/>
          </a:solidFill>
          <a:ln w="12700">
            <a:solidFill>
              <a:srgbClr val="050C18"/>
            </a:solidFill>
            <a:prstDash val="solid"/>
          </a:ln>
        </p:spPr>
      </p:sp>
      <p:sp>
        <p:nvSpPr>
          <p:cNvPr id="6" name="Text 4"/>
          <p:cNvSpPr/>
          <p:nvPr/>
        </p:nvSpPr>
        <p:spPr>
          <a:xfrm>
            <a:off x="182880" y="1371600"/>
            <a:ext cx="2560320" cy="2286000"/>
          </a:xfrm>
          <a:prstGeom prst="rect">
            <a:avLst/>
          </a:prstGeom>
          <a:noFill/>
          <a:ln/>
        </p:spPr>
        <p:txBody>
          <a:bodyPr wrap="square" rtlCol="0" anchor="ctr"/>
          <a:lstStyle/>
          <a:p>
            <a:pPr marL="0" indent="0" algn="ctr">
              <a:buNone/>
            </a:pPr>
            <a:r>
              <a:rPr lang="en-US" sz="5200" b="1" dirty="0">
                <a:solidFill>
                  <a:srgbClr val="3A5070"/>
                </a:solidFill>
                <a:latin typeface="Calibri" pitchFamily="34" charset="0"/>
                <a:ea typeface="Calibri" pitchFamily="34" charset="-122"/>
                <a:cs typeface="Calibri" pitchFamily="34" charset="-120"/>
              </a:rPr>
              <a:t>WEEK</a:t>
            </a:r>
            <a:endParaRPr lang="en-US" sz="5200" dirty="0"/>
          </a:p>
          <a:p>
            <a:pPr marL="0" indent="0" algn="ctr">
              <a:buNone/>
            </a:pPr>
            <a:r>
              <a:rPr lang="en-US" sz="5200" b="1" dirty="0">
                <a:solidFill>
                  <a:srgbClr val="3A5070"/>
                </a:solidFill>
                <a:latin typeface="Calibri" pitchFamily="34" charset="0"/>
                <a:ea typeface="Calibri" pitchFamily="34" charset="-122"/>
                <a:cs typeface="Calibri" pitchFamily="34" charset="-120"/>
              </a:rPr>
              <a:t>01</a:t>
            </a:r>
            <a:endParaRPr lang="en-US" sz="5200" dirty="0"/>
          </a:p>
        </p:txBody>
      </p:sp>
      <p:sp>
        <p:nvSpPr>
          <p:cNvPr id="7" name="Shape 5"/>
          <p:cNvSpPr/>
          <p:nvPr/>
        </p:nvSpPr>
        <p:spPr>
          <a:xfrm>
            <a:off x="2926080" y="2194560"/>
            <a:ext cx="91440" cy="1371600"/>
          </a:xfrm>
          <a:prstGeom prst="rect">
            <a:avLst/>
          </a:prstGeom>
          <a:solidFill>
            <a:srgbClr val="F77F00"/>
          </a:solidFill>
          <a:ln w="12700">
            <a:solidFill>
              <a:srgbClr val="F77F00"/>
            </a:solidFill>
            <a:prstDash val="solid"/>
          </a:ln>
        </p:spPr>
      </p:sp>
      <p:sp>
        <p:nvSpPr>
          <p:cNvPr id="8" name="Text 6"/>
          <p:cNvSpPr/>
          <p:nvPr/>
        </p:nvSpPr>
        <p:spPr>
          <a:xfrm>
            <a:off x="3200400" y="1188720"/>
            <a:ext cx="5669280" cy="1097280"/>
          </a:xfrm>
          <a:prstGeom prst="rect">
            <a:avLst/>
          </a:prstGeom>
          <a:noFill/>
          <a:ln/>
        </p:spPr>
        <p:txBody>
          <a:bodyPr wrap="square"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9" name="Text 7"/>
          <p:cNvSpPr/>
          <p:nvPr/>
        </p:nvSpPr>
        <p:spPr>
          <a:xfrm>
            <a:off x="3200400" y="2331720"/>
            <a:ext cx="5669280" cy="685800"/>
          </a:xfrm>
          <a:prstGeom prst="rect">
            <a:avLst/>
          </a:prstGeom>
          <a:noFill/>
          <a:ln/>
        </p:spPr>
        <p:txBody>
          <a:bodyPr wrap="square" rtlCol="0" anchor="ctr"/>
          <a:lstStyle/>
          <a:p>
            <a:pPr marL="0" indent="0">
              <a:buNone/>
            </a:pPr>
            <a:r>
              <a:rPr lang="en-US" sz="1400" dirty="0">
                <a:solidFill>
                  <a:srgbClr val="48CAE4"/>
                </a:solidFill>
                <a:latin typeface="Calibri" pitchFamily="34" charset="0"/>
                <a:ea typeface="Calibri" pitchFamily="34" charset="-122"/>
                <a:cs typeface="Calibri" pitchFamily="34" charset="-120"/>
              </a:rPr>
              <a:t>IoT · Embedded Systems · Robotics</a:t>
            </a:r>
            <a:endParaRPr lang="en-US" sz="1400" dirty="0"/>
          </a:p>
          <a:p>
            <a:pPr marL="0" indent="0">
              <a:buNone/>
            </a:pPr>
            <a:r>
              <a:rPr lang="en-US" sz="1400" dirty="0">
                <a:solidFill>
                  <a:srgbClr val="48CAE4"/>
                </a:solidFill>
                <a:latin typeface="Calibri" pitchFamily="34" charset="0"/>
                <a:ea typeface="Calibri" pitchFamily="34" charset="-122"/>
                <a:cs typeface="Calibri" pitchFamily="34" charset="-120"/>
              </a:rPr>
              <a:t>CNC · Microcontrollers · Sensors &amp; Actuators</a:t>
            </a:r>
            <a:endParaRPr lang="en-US" sz="1400" dirty="0"/>
          </a:p>
        </p:txBody>
      </p:sp>
      <p:sp>
        <p:nvSpPr>
          <p:cNvPr id="10" name="Shape 8"/>
          <p:cNvSpPr/>
          <p:nvPr/>
        </p:nvSpPr>
        <p:spPr>
          <a:xfrm>
            <a:off x="3200400" y="3154680"/>
            <a:ext cx="2743200" cy="45720"/>
          </a:xfrm>
          <a:prstGeom prst="rect">
            <a:avLst/>
          </a:prstGeom>
          <a:solidFill>
            <a:srgbClr val="00B4D8"/>
          </a:solidFill>
          <a:ln w="12700">
            <a:solidFill>
              <a:srgbClr val="00B4D8"/>
            </a:solidFill>
            <a:prstDash val="solid"/>
          </a:ln>
        </p:spPr>
      </p:sp>
      <p:sp>
        <p:nvSpPr>
          <p:cNvPr id="12" name="Text 10"/>
          <p:cNvSpPr/>
          <p:nvPr/>
        </p:nvSpPr>
        <p:spPr>
          <a:xfrm>
            <a:off x="3200400" y="3749040"/>
            <a:ext cx="5669280" cy="292608"/>
          </a:xfrm>
          <a:prstGeom prst="rect">
            <a:avLst/>
          </a:prstGeom>
          <a:noFill/>
          <a:ln/>
        </p:spPr>
        <p:txBody>
          <a:bodyPr wrap="square" rtlCol="0" anchor="ctr"/>
          <a:lstStyle/>
          <a:p>
            <a:pPr marL="0" indent="0">
              <a:buNone/>
            </a:pPr>
            <a:r>
              <a:rPr lang="en-US" sz="1150" dirty="0">
                <a:solidFill>
                  <a:srgbClr val="7A90A8"/>
                </a:solidFill>
                <a:latin typeface="Calibri" pitchFamily="34" charset="0"/>
                <a:ea typeface="Calibri" pitchFamily="34" charset="-122"/>
                <a:cs typeface="Calibri" pitchFamily="34" charset="-120"/>
              </a:rPr>
              <a:t>Presented by: Preetam | Submission: 26 May 2026</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3045</Words>
  <Application>Microsoft Office PowerPoint</Application>
  <PresentationFormat>On-screen Show (16:9)</PresentationFormat>
  <Paragraphs>519</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Embedded Systems &amp; Robotics</dc:title>
  <dc:subject>PptxGenJS Presentation</dc:subject>
  <dc:creator>Week-01</dc:creator>
  <cp:lastModifiedBy>Preetam Ghosh</cp:lastModifiedBy>
  <cp:revision>3</cp:revision>
  <cp:lastPrinted>2026-05-25T22:30:44Z</cp:lastPrinted>
  <dcterms:created xsi:type="dcterms:W3CDTF">2026-05-25T21:40:37Z</dcterms:created>
  <dcterms:modified xsi:type="dcterms:W3CDTF">2026-05-25T23:15:36Z</dcterms:modified>
</cp:coreProperties>
</file>